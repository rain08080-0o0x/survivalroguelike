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  <Override PartName="/ppt/slides/slide18.xml" ContentType="application/vnd.openxmlformats-officedocument.presentationml.slide+xml"/>
  <Override PartName="/ppt/notesSlides/notesSlide18.xml" ContentType="application/vnd.openxmlformats-officedocument.presentationml.notesSlide+xml"/>
  <Override PartName="/ppt/slides/slide19.xml" ContentType="application/vnd.openxmlformats-officedocument.presentationml.slide+xml"/>
  <Override PartName="/ppt/notesSlides/notesSlide19.xml" ContentType="application/vnd.openxmlformats-officedocument.presentationml.notesSlide+xml"/>
  <Override PartName="/ppt/slides/slide20.xml" ContentType="application/vnd.openxmlformats-officedocument.presentationml.slide+xml"/>
  <Override PartName="/ppt/notesSlides/notesSlide20.xml" ContentType="application/vnd.openxmlformats-officedocument.presentationml.notesSlide+xml"/>
  <Override PartName="/ppt/slides/slide21.xml" ContentType="application/vnd.openxmlformats-officedocument.presentationml.slide+xml"/>
  <Override PartName="/ppt/notesSlides/notesSlide21.xml" ContentType="application/vnd.openxmlformats-officedocument.presentationml.notesSlide+xml"/>
  <Override PartName="/ppt/slides/slide22.xml" ContentType="application/vnd.openxmlformats-officedocument.presentationml.slide+xml"/>
  <Override PartName="/ppt/notesSlides/notesSlide22.xml" ContentType="application/vnd.openxmlformats-officedocument.presentationml.notesSlide+xml"/>
  <Override PartName="/ppt/slides/slide23.xml" ContentType="application/vnd.openxmlformats-officedocument.presentationml.slide+xml"/>
  <Override PartName="/ppt/notesSlides/notesSlide23.xml" ContentType="application/vnd.openxmlformats-officedocument.presentationml.notesSlide+xml"/>
  <Override PartName="/ppt/slides/slide24.xml" ContentType="application/vnd.openxmlformats-officedocument.presentationml.slide+xml"/>
  <Override PartName="/ppt/notesSlides/notesSlide24.xml" ContentType="application/vnd.openxmlformats-officedocument.presentationml.notesSlide+xml"/>
  <Override PartName="/ppt/slides/slide25.xml" ContentType="application/vnd.openxmlformats-officedocument.presentationml.slide+xml"/>
  <Override PartName="/ppt/notesSlides/notesSlide2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01f98c0faa2b4455" /><Relationship Type="http://schemas.openxmlformats.org/officeDocument/2006/relationships/extended-properties" Target="/docProps/app.xml" Id="R80e87ae7943b4f69" /><Relationship Type="http://schemas.openxmlformats.org/officeDocument/2006/relationships/officeDocument" Target="/ppt/presentation.xml" Id="R3969a70061994ea4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9f80cf453e034e7d"/>
  </p:sldMasterIdLst>
  <p:notesMasterIdLst>
    <p:notesMasterId xmlns:r="http://schemas.openxmlformats.org/officeDocument/2006/relationships" r:id="R0e5407c02432466b"/>
  </p:notesMasterIdLst>
  <p:sldIdLst>
    <p:sldId xmlns:r="http://schemas.openxmlformats.org/officeDocument/2006/relationships" id="256" r:id="Rbf5f440ed5224e8b"/>
    <p:sldId xmlns:r="http://schemas.openxmlformats.org/officeDocument/2006/relationships" id="257" r:id="Rb2cde53aa6464860"/>
    <p:sldId xmlns:r="http://schemas.openxmlformats.org/officeDocument/2006/relationships" id="258" r:id="Ra50891d33764400f"/>
    <p:sldId xmlns:r="http://schemas.openxmlformats.org/officeDocument/2006/relationships" id="259" r:id="R6f19d8a847894cc8"/>
    <p:sldId xmlns:r="http://schemas.openxmlformats.org/officeDocument/2006/relationships" id="260" r:id="R22ca24fab86a4254"/>
    <p:sldId xmlns:r="http://schemas.openxmlformats.org/officeDocument/2006/relationships" id="261" r:id="R5032513b7e484af2"/>
    <p:sldId xmlns:r="http://schemas.openxmlformats.org/officeDocument/2006/relationships" id="262" r:id="Rde00255689284500"/>
    <p:sldId xmlns:r="http://schemas.openxmlformats.org/officeDocument/2006/relationships" id="263" r:id="R65be53d5510147db"/>
    <p:sldId xmlns:r="http://schemas.openxmlformats.org/officeDocument/2006/relationships" id="264" r:id="Re6cb1f0ef41d446f"/>
    <p:sldId xmlns:r="http://schemas.openxmlformats.org/officeDocument/2006/relationships" id="265" r:id="R74b1445303bd4ef2"/>
    <p:sldId xmlns:r="http://schemas.openxmlformats.org/officeDocument/2006/relationships" id="266" r:id="R9e3affcf17ff4926"/>
    <p:sldId xmlns:r="http://schemas.openxmlformats.org/officeDocument/2006/relationships" id="267" r:id="Rb34e0b5ebef8406b"/>
    <p:sldId xmlns:r="http://schemas.openxmlformats.org/officeDocument/2006/relationships" id="268" r:id="R352088f4751040a8"/>
    <p:sldId xmlns:r="http://schemas.openxmlformats.org/officeDocument/2006/relationships" id="269" r:id="R2c24296b71aa4c9b"/>
    <p:sldId xmlns:r="http://schemas.openxmlformats.org/officeDocument/2006/relationships" id="270" r:id="R10ce6a8308fa45e9"/>
    <p:sldId xmlns:r="http://schemas.openxmlformats.org/officeDocument/2006/relationships" id="271" r:id="Rc1f33a4a62794e0c"/>
    <p:sldId xmlns:r="http://schemas.openxmlformats.org/officeDocument/2006/relationships" id="272" r:id="R41e381d000eb4070"/>
    <p:sldId xmlns:r="http://schemas.openxmlformats.org/officeDocument/2006/relationships" id="273" r:id="R9b717d4039844492"/>
    <p:sldId xmlns:r="http://schemas.openxmlformats.org/officeDocument/2006/relationships" id="274" r:id="R5b00b8f5d7f34b41"/>
    <p:sldId xmlns:r="http://schemas.openxmlformats.org/officeDocument/2006/relationships" id="275" r:id="R60ab99e008b14acf"/>
    <p:sldId xmlns:r="http://schemas.openxmlformats.org/officeDocument/2006/relationships" id="276" r:id="R1462e80378b94eef"/>
    <p:sldId xmlns:r="http://schemas.openxmlformats.org/officeDocument/2006/relationships" id="277" r:id="Re0f167bc79cb45a8"/>
    <p:sldId xmlns:r="http://schemas.openxmlformats.org/officeDocument/2006/relationships" id="278" r:id="R1501caf79f10446a"/>
    <p:sldId xmlns:r="http://schemas.openxmlformats.org/officeDocument/2006/relationships" id="279" r:id="R627134f130ec4902"/>
    <p:sldId xmlns:r="http://schemas.openxmlformats.org/officeDocument/2006/relationships" id="280" r:id="Rd95702bb68df4628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c61e71a82935492b" /><Relationship Type="http://schemas.openxmlformats.org/officeDocument/2006/relationships/slideMaster" Target="/ppt/slideMasters/slideMaster1.xml" Id="R9f80cf453e034e7d" /><Relationship Type="http://schemas.openxmlformats.org/officeDocument/2006/relationships/notesMaster" Target="/ppt/notesMasters/notesMaster1.xml" Id="R0e5407c02432466b" /><Relationship Type="http://schemas.openxmlformats.org/officeDocument/2006/relationships/presProps" Target="/ppt/presProps.xml" Id="R28c20b6beafc4291" /><Relationship Type="http://schemas.openxmlformats.org/officeDocument/2006/relationships/tableStyles" Target="/ppt/tableStyles.xml" Id="R6a1c9215780f47f4" /><Relationship Type="http://schemas.openxmlformats.org/officeDocument/2006/relationships/slide" Target="/ppt/slides/slide1.xml" Id="Rbf5f440ed5224e8b" /><Relationship Type="http://schemas.openxmlformats.org/officeDocument/2006/relationships/slide" Target="/ppt/slides/slide2.xml" Id="Rb2cde53aa6464860" /><Relationship Type="http://schemas.openxmlformats.org/officeDocument/2006/relationships/slide" Target="/ppt/slides/slide3.xml" Id="Ra50891d33764400f" /><Relationship Type="http://schemas.openxmlformats.org/officeDocument/2006/relationships/slide" Target="/ppt/slides/slide4.xml" Id="R6f19d8a847894cc8" /><Relationship Type="http://schemas.openxmlformats.org/officeDocument/2006/relationships/slide" Target="/ppt/slides/slide5.xml" Id="R22ca24fab86a4254" /><Relationship Type="http://schemas.openxmlformats.org/officeDocument/2006/relationships/slide" Target="/ppt/slides/slide6.xml" Id="R5032513b7e484af2" /><Relationship Type="http://schemas.openxmlformats.org/officeDocument/2006/relationships/slide" Target="/ppt/slides/slide7.xml" Id="Rde00255689284500" /><Relationship Type="http://schemas.openxmlformats.org/officeDocument/2006/relationships/slide" Target="/ppt/slides/slide8.xml" Id="R65be53d5510147db" /><Relationship Type="http://schemas.openxmlformats.org/officeDocument/2006/relationships/slide" Target="/ppt/slides/slide9.xml" Id="Re6cb1f0ef41d446f" /><Relationship Type="http://schemas.openxmlformats.org/officeDocument/2006/relationships/slide" Target="/ppt/slides/slide10.xml" Id="R74b1445303bd4ef2" /><Relationship Type="http://schemas.openxmlformats.org/officeDocument/2006/relationships/slide" Target="/ppt/slides/slide11.xml" Id="R9e3affcf17ff4926" /><Relationship Type="http://schemas.openxmlformats.org/officeDocument/2006/relationships/slide" Target="/ppt/slides/slide12.xml" Id="Rb34e0b5ebef8406b" /><Relationship Type="http://schemas.openxmlformats.org/officeDocument/2006/relationships/slide" Target="/ppt/slides/slide13.xml" Id="R352088f4751040a8" /><Relationship Type="http://schemas.openxmlformats.org/officeDocument/2006/relationships/slide" Target="/ppt/slides/slide14.xml" Id="R2c24296b71aa4c9b" /><Relationship Type="http://schemas.openxmlformats.org/officeDocument/2006/relationships/slide" Target="/ppt/slides/slide15.xml" Id="R10ce6a8308fa45e9" /><Relationship Type="http://schemas.openxmlformats.org/officeDocument/2006/relationships/slide" Target="/ppt/slides/slide16.xml" Id="Rc1f33a4a62794e0c" /><Relationship Type="http://schemas.openxmlformats.org/officeDocument/2006/relationships/slide" Target="/ppt/slides/slide17.xml" Id="R41e381d000eb4070" /><Relationship Type="http://schemas.openxmlformats.org/officeDocument/2006/relationships/slide" Target="/ppt/slides/slide18.xml" Id="R9b717d4039844492" /><Relationship Type="http://schemas.openxmlformats.org/officeDocument/2006/relationships/slide" Target="/ppt/slides/slide19.xml" Id="R5b00b8f5d7f34b41" /><Relationship Type="http://schemas.openxmlformats.org/officeDocument/2006/relationships/slide" Target="/ppt/slides/slide20.xml" Id="R60ab99e008b14acf" /><Relationship Type="http://schemas.openxmlformats.org/officeDocument/2006/relationships/slide" Target="/ppt/slides/slide21.xml" Id="R1462e80378b94eef" /><Relationship Type="http://schemas.openxmlformats.org/officeDocument/2006/relationships/slide" Target="/ppt/slides/slide22.xml" Id="Re0f167bc79cb45a8" /><Relationship Type="http://schemas.openxmlformats.org/officeDocument/2006/relationships/slide" Target="/ppt/slides/slide23.xml" Id="R1501caf79f10446a" /><Relationship Type="http://schemas.openxmlformats.org/officeDocument/2006/relationships/slide" Target="/ppt/slides/slide24.xml" Id="R627134f130ec4902" /><Relationship Type="http://schemas.openxmlformats.org/officeDocument/2006/relationships/slide" Target="/ppt/slides/slide25.xml" Id="Rd95702bb68df4628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e6746810698e42f3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7f015f5dcdac4025" /><Relationship Type="http://schemas.openxmlformats.org/officeDocument/2006/relationships/notesMaster" Target="/ppt/notesMasters/notesMaster1.xml" Id="R3b0fca1af72742b8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5ba5f7fe362f4235" /><Relationship Type="http://schemas.openxmlformats.org/officeDocument/2006/relationships/notesMaster" Target="/ppt/notesMasters/notesMaster1.xml" Id="R6cc90dabec614f4f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1d860969bdd4feb" /><Relationship Type="http://schemas.openxmlformats.org/officeDocument/2006/relationships/notesMaster" Target="/ppt/notesMasters/notesMaster1.xml" Id="R9d5615e2385148b5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0632f0d3528b49af" /><Relationship Type="http://schemas.openxmlformats.org/officeDocument/2006/relationships/notesMaster" Target="/ppt/notesMasters/notesMaster1.xml" Id="Ra2b58e7132cb435e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f03cdd75704428a" /><Relationship Type="http://schemas.openxmlformats.org/officeDocument/2006/relationships/notesMaster" Target="/ppt/notesMasters/notesMaster1.xml" Id="R37001271f2c44eef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2e4e8967cfb04a27" /><Relationship Type="http://schemas.openxmlformats.org/officeDocument/2006/relationships/notesMaster" Target="/ppt/notesMasters/notesMaster1.xml" Id="R414ae533c2394148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b826c01b4a7450a" /><Relationship Type="http://schemas.openxmlformats.org/officeDocument/2006/relationships/notesMaster" Target="/ppt/notesMasters/notesMaster1.xml" Id="Rec2914f9bdfb4f80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7c80d5faede4537" /><Relationship Type="http://schemas.openxmlformats.org/officeDocument/2006/relationships/notesMaster" Target="/ppt/notesMasters/notesMaster1.xml" Id="Rf56298bbe5164bff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0854e4ef08794057" /><Relationship Type="http://schemas.openxmlformats.org/officeDocument/2006/relationships/notesMaster" Target="/ppt/notesMasters/notesMaster1.xml" Id="R979e7454f2604f21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5626ae4b700248eb" /><Relationship Type="http://schemas.openxmlformats.org/officeDocument/2006/relationships/notesMaster" Target="/ppt/notesMasters/notesMaster1.xml" Id="R20069c4f25504773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d2d91f79f02b408b" /><Relationship Type="http://schemas.openxmlformats.org/officeDocument/2006/relationships/notesMaster" Target="/ppt/notesMasters/notesMaster1.xml" Id="R0119d3f7cb134ece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7a41ccb4c8ea487b" /><Relationship Type="http://schemas.openxmlformats.org/officeDocument/2006/relationships/notesMaster" Target="/ppt/notesMasters/notesMaster1.xml" Id="R05f0fe5ed1bb40bb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4961160d9bc24439" /><Relationship Type="http://schemas.openxmlformats.org/officeDocument/2006/relationships/notesMaster" Target="/ppt/notesMasters/notesMaster1.xml" Id="R2f461ce03ea54108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10dae5d1601d47af" /><Relationship Type="http://schemas.openxmlformats.org/officeDocument/2006/relationships/notesMaster" Target="/ppt/notesMasters/notesMaster1.xml" Id="R05d132d665f3463a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e68947034b7d448a" /><Relationship Type="http://schemas.openxmlformats.org/officeDocument/2006/relationships/notesMaster" Target="/ppt/notesMasters/notesMaster1.xml" Id="R5bb470312a274dad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1f4c850da157412f" /><Relationship Type="http://schemas.openxmlformats.org/officeDocument/2006/relationships/notesMaster" Target="/ppt/notesMasters/notesMaster1.xml" Id="Re78c340f34ea4a49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ffe087ea86244e46" /><Relationship Type="http://schemas.openxmlformats.org/officeDocument/2006/relationships/notesMaster" Target="/ppt/notesMasters/notesMaster1.xml" Id="R331bb8b9a92e4f35" /></Relationships>
</file>

<file path=ppt/notesSlides/_rels/notesSlide18.xml.rels>&#65279;<?xml version="1.0" encoding="utf-8"?><Relationships xmlns="http://schemas.openxmlformats.org/package/2006/relationships"><Relationship Type="http://schemas.openxmlformats.org/officeDocument/2006/relationships/slide" Target="/ppt/slides/slide18.xml" Id="R5c2d94bc29554383" /><Relationship Type="http://schemas.openxmlformats.org/officeDocument/2006/relationships/notesMaster" Target="/ppt/notesMasters/notesMaster1.xml" Id="R16c24869c19e43df" /></Relationships>
</file>

<file path=ppt/notesSlides/_rels/notesSlide19.xml.rels>&#65279;<?xml version="1.0" encoding="utf-8"?><Relationships xmlns="http://schemas.openxmlformats.org/package/2006/relationships"><Relationship Type="http://schemas.openxmlformats.org/officeDocument/2006/relationships/slide" Target="/ppt/slides/slide19.xml" Id="Rd96ba5d5164b4a3a" /><Relationship Type="http://schemas.openxmlformats.org/officeDocument/2006/relationships/notesMaster" Target="/ppt/notesMasters/notesMaster1.xml" Id="R52ed69ec80df4816" /></Relationships>
</file>

<file path=ppt/notesSlides/_rels/notesSlide20.xml.rels>&#65279;<?xml version="1.0" encoding="utf-8"?><Relationships xmlns="http://schemas.openxmlformats.org/package/2006/relationships"><Relationship Type="http://schemas.openxmlformats.org/officeDocument/2006/relationships/slide" Target="/ppt/slides/slide20.xml" Id="R3e6a14ffc0f74e81" /><Relationship Type="http://schemas.openxmlformats.org/officeDocument/2006/relationships/notesMaster" Target="/ppt/notesMasters/notesMaster1.xml" Id="R9ade682f43974781" /></Relationships>
</file>

<file path=ppt/notesSlides/_rels/notesSlide21.xml.rels>&#65279;<?xml version="1.0" encoding="utf-8"?><Relationships xmlns="http://schemas.openxmlformats.org/package/2006/relationships"><Relationship Type="http://schemas.openxmlformats.org/officeDocument/2006/relationships/slide" Target="/ppt/slides/slide21.xml" Id="R02553fb011424be1" /><Relationship Type="http://schemas.openxmlformats.org/officeDocument/2006/relationships/notesMaster" Target="/ppt/notesMasters/notesMaster1.xml" Id="R2b46b89df1764591" /></Relationships>
</file>

<file path=ppt/notesSlides/_rels/notesSlide22.xml.rels>&#65279;<?xml version="1.0" encoding="utf-8"?><Relationships xmlns="http://schemas.openxmlformats.org/package/2006/relationships"><Relationship Type="http://schemas.openxmlformats.org/officeDocument/2006/relationships/slide" Target="/ppt/slides/slide22.xml" Id="Rd1d86cc355cb4a37" /><Relationship Type="http://schemas.openxmlformats.org/officeDocument/2006/relationships/notesMaster" Target="/ppt/notesMasters/notesMaster1.xml" Id="R43a189121eca4d8c" /></Relationships>
</file>

<file path=ppt/notesSlides/_rels/notesSlide23.xml.rels>&#65279;<?xml version="1.0" encoding="utf-8"?><Relationships xmlns="http://schemas.openxmlformats.org/package/2006/relationships"><Relationship Type="http://schemas.openxmlformats.org/officeDocument/2006/relationships/slide" Target="/ppt/slides/slide23.xml" Id="Rd2d273087da54e4a" /><Relationship Type="http://schemas.openxmlformats.org/officeDocument/2006/relationships/notesMaster" Target="/ppt/notesMasters/notesMaster1.xml" Id="R82410a6a1cbe4959" /></Relationships>
</file>

<file path=ppt/notesSlides/_rels/notesSlide24.xml.rels>&#65279;<?xml version="1.0" encoding="utf-8"?><Relationships xmlns="http://schemas.openxmlformats.org/package/2006/relationships"><Relationship Type="http://schemas.openxmlformats.org/officeDocument/2006/relationships/slide" Target="/ppt/slides/slide24.xml" Id="R7d99177efbae41ea" /><Relationship Type="http://schemas.openxmlformats.org/officeDocument/2006/relationships/notesMaster" Target="/ppt/notesMasters/notesMaster1.xml" Id="R8230c02ffdba41fe" /></Relationships>
</file>

<file path=ppt/notesSlides/_rels/notesSlide25.xml.rels>&#65279;<?xml version="1.0" encoding="utf-8"?><Relationships xmlns="http://schemas.openxmlformats.org/package/2006/relationships"><Relationship Type="http://schemas.openxmlformats.org/officeDocument/2006/relationships/slide" Target="/ppt/slides/slide25.xml" Id="R636f66cb41d04800" /><Relationship Type="http://schemas.openxmlformats.org/officeDocument/2006/relationships/notesMaster" Target="/ppt/notesMasters/notesMaster1.xml" Id="Rfb4973e0313c4c9a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奈落塔は、探索で得た利益と帰還リスクの間で判断するゲームです。</a:t>
            </a:r>
          </a:p>
          <a:p xmlns:a="http://schemas.openxmlformats.org/drawingml/2006/main">
            <a:r>
              <a:t>本資料では、企画の狙いだけでなく、実装・検証・残課題まで説明します。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企画だけ、エンジンだけではなく、遊びを検証するために必要な一連の仕組みを実装しました。</a:t>
            </a:r>
          </a:p>
          <a:p xmlns:a="http://schemas.openxmlformats.org/drawingml/2006/main">
            <a:r>
              <a:t>企業向けには、作った機能数より、判断の理由と検証方法を中心に説明します。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- C:\HAL\個人制作\NarakuProto\引き継ぎメモ.md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報酬と危険を別々に置くのではなく、潜るほど両方が増える構造です。</a:t>
            </a:r>
          </a:p>
          <a:p xmlns:a="http://schemas.openxmlformats.org/drawingml/2006/main">
            <a:r>
              <a:t>目標は、プレイヤー自身が撤退時点を判断する体験を作ることです。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帰還して終わりではなく、売却・購入・装備変更・再潜行までを一周として実装しています。</a:t>
            </a:r>
          </a:p>
          <a:p xmlns:a="http://schemas.openxmlformats.org/drawingml/2006/main">
            <a:r>
              <a:t>この循環が成立したことで、個別機能ではなくゲームループとして確認できます。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深さそのものではなく、持ち帰る価値が増えるほど帰還が難しくなるよう設計しました。</a:t>
            </a:r>
          </a:p>
          <a:p xmlns:a="http://schemas.openxmlformats.org/drawingml/2006/main">
            <a:r>
              <a:t>重量は単なる所持上限ではなく、速度・スタミナ・使用可能アクションへ影響します。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上昇負荷は世界観の説明であると同時に、帰還を難しくするゲームルールです。</a:t>
            </a:r>
          </a:p>
          <a:p xmlns:a="http://schemas.openxmlformats.org/drawingml/2006/main">
            <a:r>
              <a:t>設定とシステムを別々にせず、プレイヤーの判断へ接続しています。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企画草案の全要素を一度に作らず、中心判断に必要な仕組みを優先しました。</a:t>
            </a:r>
          </a:p>
          <a:p xmlns:a="http://schemas.openxmlformats.org/drawingml/2006/main">
            <a:r>
              <a:t>個別名称の図鑑、依頼、市場変動などは中心判断の検証後へ回しています。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未実装項目は不足の一覧ではなく、プロトタイプの境界として説明します。</a:t>
            </a:r>
          </a:p>
          <a:p xmlns:a="http://schemas.openxmlformats.org/drawingml/2006/main">
            <a:r>
              <a:t>完成版の構想と、今回検証する範囲を混同しないことが重要です。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エディタ専用データと本編専用データを手作業で二重管理しない構成です。</a:t>
            </a:r>
          </a:p>
          <a:p xmlns:a="http://schemas.openxmlformats.org/drawingml/2006/main">
            <a:r>
              <a:t>制作した小ステージが生成され、同じ地形情報が描画と当たり判定に使われます。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C:\HAL\個人制作\NarakuProto\DX22_Project\NarakuPieceData.cpp</a:t>
            </a:r>
          </a:p>
          <a:p xmlns:a="http://schemas.openxmlformats.org/drawingml/2006/main">
            <a:r>
              <a:t>- C:\HAL\個人制作\NarakuProto\DX22_Project\NarakuMapData.cpp</a:t>
            </a:r>
          </a:p>
          <a:p xmlns:a="http://schemas.openxmlformats.org/drawingml/2006/main">
            <a:r>
              <a:t>- C:\HAL\個人制作\NarakuProto\DX22_Project\NarakuStageGenerator.cpp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完全ランダムではなく、人が設計した小ステージを制約で組み合わせます。</a:t>
            </a:r>
          </a:p>
          <a:p xmlns:a="http://schemas.openxmlformats.org/drawingml/2006/main">
            <a:r>
              <a:t>配置ができても通れなければ成功とせず、MapData全体を再検証します。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C:\HAL\個人制作\NarakuProto\DX22_Project\NarakuStageGenerator.cpp</a:t>
            </a:r>
          </a:p>
          <a:p xmlns:a="http://schemas.openxmlformats.org/drawingml/2006/main">
            <a:r>
              <a:t>- C:\HAL\個人制作\NarakuProto\DX22_Project\NarakuMapData.cpp</a:t>
            </a:r>
          </a:p>
          <a:p xmlns:a="http://schemas.openxmlformats.org/drawingml/2006/main">
            <a:r>
              <a:t>- C:\HAL\個人制作\NarakuProto\DX22_Project\NarakuPieceData.cpp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現在のCompletedフォルダには19ピースがあり、1エリアでは16ピースを配置します。</a:t>
            </a:r>
          </a:p>
          <a:p xmlns:a="http://schemas.openxmlformats.org/drawingml/2006/main">
            <a:r>
              <a:t>通常配置を最大100回試し、成立しない場合は中央ピースのフォールバックを1回試します。</a:t>
            </a:r>
          </a:p>
          <a:p xmlns:a="http://schemas.openxmlformats.org/drawingml/2006/main">
            <a:r>
              <a:t>課題は、seed指定と大量生成による成功率・多様性の定量評価です。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C:\HAL\個人制作\NarakuProto\DX22_Project\NarakuStageGenerator.cpp</a:t>
            </a:r>
          </a:p>
          <a:p xmlns:a="http://schemas.openxmlformats.org/drawingml/2006/main">
            <a:r>
              <a:t>- Repository inspection on 2026-07-29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データを作る機能だけでなく、生成に使える状態かを確認する機能まで実装しています。</a:t>
            </a:r>
          </a:p>
          <a:p xmlns:a="http://schemas.openxmlformats.org/drawingml/2006/main">
            <a:r>
              <a:t>プレイテスト起動で、本編側へ同じデータを渡して確認できます。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- C:\HAL\個人制作\NarakuProto\DX22_Project\NarakuPieceData.cpp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データ形式にはversionがありますが、Map読込はversionを評価していません。</a:t>
            </a:r>
          </a:p>
          <a:p xmlns:a="http://schemas.openxmlformats.org/drawingml/2006/main">
            <a:r>
              <a:t>継続開発では、互換性・移行・拒否条件を明示する必要があります。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C:\HAL\個人制作\NarakuProto\DX22_Project\NarakuPieceData.cpp</a:t>
            </a:r>
          </a:p>
          <a:p xmlns:a="http://schemas.openxmlformats.org/drawingml/2006/main">
            <a:r>
              <a:t>- C:\HAL\個人制作\NarakuProto\DX22_Project\NarakuMapData.cpp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個別システムの実装ではなく、潜行前後を含むゲームループとして成立しています。</a:t>
            </a:r>
          </a:p>
          <a:p xmlns:a="http://schemas.openxmlformats.org/drawingml/2006/main">
            <a:r>
              <a:t>今後の重点は、機能追加より操作感と判断の質を検証することです。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ボトルネック候補を、セルごとのDraw呼出しと毎フレーム線生成に分解しました。</a:t>
            </a:r>
          </a:p>
          <a:p xmlns:a="http://schemas.openxmlformats.org/drawingml/2006/main">
            <a:r>
              <a:t>床は1バッチ、敵も生存数に関係なく1バッチへ変更しています。</a:t>
            </a:r>
          </a:p>
          <a:p xmlns:a="http://schemas.openxmlformats.org/drawingml/2006/main">
            <a:r>
              <a:t>数値はコードから求めた理論値です。FPSとGPU時間はまだ実測していません。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C:\HAL\個人制作\NarakuProto\最適化.md</a:t>
            </a:r>
          </a:p>
          <a:p xmlns:a="http://schemas.openxmlformats.org/drawingml/2006/main">
            <a:r>
              <a:t>- C:\HAL\個人制作\NarakuProto\修正箇所.md</a:t>
            </a:r>
          </a:p>
          <a:p xmlns:a="http://schemas.openxmlformats.org/drawingml/2006/main">
            <a:r>
              <a:t>- C:\HAL\個人制作\NarakuProto\操作概要.md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プロトタイプでは、将来の完全な拡張性より、遊びを一周できることを優先しました。</a:t>
            </a:r>
          </a:p>
          <a:p xmlns:a="http://schemas.openxmlformats.org/drawingml/2006/main">
            <a:r>
              <a:t>一方で、負債を隠さず、継続時にどこを分離・検証するか説明できます。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- Repository inspection on 2026-07-29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自分が設計・実装した範囲と、基盤として流用した範囲を最初から分けて話します。</a:t>
            </a:r>
          </a:p>
          <a:p xmlns:a="http://schemas.openxmlformats.org/drawingml/2006/main">
            <a:r>
              <a:t>評価してほしい点は、基盤の上で企画を検証可能な制作パイプラインへしたことです。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- C:\HAL\個人制作\NarakuProto\引き継ぎメモ.md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- C:\HAL\個人制作\NarakuProto\DX22_Project\NarakuStageGenerator.cpp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ゲームとして未完成であることと、プロトタイプの目的を達成していることを分けて説明します。</a:t>
            </a:r>
          </a:p>
          <a:p xmlns:a="http://schemas.openxmlformats.org/drawingml/2006/main">
            <a:r>
              <a:t>企業へ見せる前には、機能追加より再現性・出典・説明資料を優先します。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- Repository inspection on 2026-07-29</a:t>
            </a:r>
          </a:p>
          <a:p xmlns:a="http://schemas.openxmlformats.org/drawingml/2006/main">
            <a:r>
              <a:t>- C:\HAL\個人制作\NarakuProto\DX22_Project\DX22_Project.vcxproj</a:t>
            </a:r>
          </a:p>
          <a:p xmlns:a="http://schemas.openxmlformats.org/drawingml/2006/main">
            <a:r>
              <a:t>- C:\HAL\個人制作\NarakuProto\DX22_Project\Defines.h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いきなり大規模な設計変更をせず、第三者評価と検証を先に成立させます。</a:t>
            </a:r>
          </a:p>
          <a:p xmlns:a="http://schemas.openxmlformats.org/drawingml/2006/main">
            <a:r>
              <a:t>リファクタは、確認可能なテストや計測を作ってから行う方針です。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inspection on 2026-07-29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- C:\HAL\個人制作\NarakuProto\DX22_Project\SceneNarakuProto.h</a:t>
            </a:r>
          </a:p>
          <a:p xmlns:a="http://schemas.openxmlformats.org/drawingml/2006/main">
            <a:r>
              <a:t>- C:\HAL\個人制作\NarakuProto\DX22_Project\SceneNarakuPieceEditor.h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回答軸: 題材は『進むほど帰りが難しくなる』判断を自然に作れるため。</a:t>
            </a:r>
          </a:p>
          <a:p xmlns:a="http://schemas.openxmlformats.org/drawingml/2006/main">
            <a:r>
              <a:t>対象: 探索と資源管理、撤退判断を楽しむプレイヤー。</a:t>
            </a:r>
          </a:p>
          <a:p xmlns:a="http://schemas.openxmlformats.org/drawingml/2006/main">
            <a:r>
              <a:t>差別化: 深さ・重量・上昇負荷・持帰り損失を同じ帰還判断へ集約。</a:t>
            </a:r>
          </a:p>
          <a:p xmlns:a="http://schemas.openxmlformats.org/drawingml/2006/main">
            <a:r>
              <a:t>死亡損失: プロトでは軽め。所持金罰は未実装で、損失量はテスト対象。</a:t>
            </a:r>
          </a:p>
          <a:p xmlns:a="http://schemas.openxmlformats.org/drawingml/2006/main">
            <a:r>
              <a:t>検証指標: 帰還を迷った回数、持帰り率、死亡原因、重量帯、再潜行意欲。</a:t>
            </a:r>
          </a:p>
          <a:p xmlns:a="http://schemas.openxmlformats.org/drawingml/2006/main">
            <a:r>
              <a:t>現状: 機能確認はあるが、外部プレイヤーの定量記録は不足している。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- C:\HAL\個人制作\NarakuProto\タスクリスト.md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完全ランダムを避けた理由: 人が意図した地形の読みやすさと生成の組合せを両立するため。</a:t>
            </a:r>
          </a:p>
          <a:p xmlns:a="http://schemas.openxmlformats.org/drawingml/2006/main">
            <a:r>
              <a:t>16×16: 制作速度と一場面の意味を持たせられる大きさとして固定。</a:t>
            </a:r>
          </a:p>
          <a:p xmlns:a="http://schemas.openxmlformats.org/drawingml/2006/main">
            <a:r>
              <a:t>成立保証: 辺カテゴリ照合に加え、生成後の開始・帰還・採掘点到達性を検証。</a:t>
            </a:r>
          </a:p>
          <a:p xmlns:a="http://schemas.openxmlformats.org/drawingml/2006/main">
            <a:r>
              <a:t>失敗: 通常100回後に中央フォールバック。それでも失敗すればエラー。</a:t>
            </a:r>
          </a:p>
          <a:p xmlns:a="http://schemas.openxmlformats.org/drawingml/2006/main">
            <a:r>
              <a:t>再現性: 現在は時刻seedで、外部指定・ログ記録がなく未対応。</a:t>
            </a:r>
          </a:p>
          <a:p xmlns:a="http://schemas.openxmlformats.org/drawingml/2006/main">
            <a:r>
              <a:t>多様性: 19はプロト成立用。重複率と体感差の定量評価が次の課題。</a:t>
            </a:r>
          </a:p>
          <a:p xmlns:a="http://schemas.openxmlformats.org/drawingml/2006/main">
            <a:r>
              <a:t>互換性: versionは保存するが、明示的な移行・拒否方針は未整備。</a:t>
            </a:r>
          </a:p>
          <a:p xmlns:a="http://schemas.openxmlformats.org/drawingml/2006/main">
            <a:r>
              <a:t>不正JSON: 読込失敗は返せるが、境界値の自動テストが必要。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C:\HAL\個人制作\NarakuProto\DX22_Project\NarakuStageGenerator.cpp</a:t>
            </a:r>
          </a:p>
          <a:p xmlns:a="http://schemas.openxmlformats.org/drawingml/2006/main">
            <a:r>
              <a:t>- C:\HAL\個人制作\NarakuProto\DX22_Project\NarakuMapData.cpp</a:t>
            </a:r>
          </a:p>
          <a:p xmlns:a="http://schemas.openxmlformats.org/drawingml/2006/main">
            <a:r>
              <a:t>- C:\HAL\個人制作\NarakuProto\DX22_Project\NarakuPieceData.cpp</a:t>
            </a:r>
          </a:p>
          <a:p xmlns:a="http://schemas.openxmlformats.org/drawingml/2006/main">
            <a:r>
              <a:t>- Repository inspection on 2026-07-29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DirectX 11: 学校基盤を活用し、描画・入力・リソース管理を理解しながら実装する目的。</a:t>
            </a:r>
          </a:p>
          <a:p xmlns:a="http://schemas.openxmlformats.org/drawingml/2006/main">
            <a:r>
              <a:t>Unityとの差: 開発速度は劣るが、ドローコールやバッファ更新を自分で分析できた。</a:t>
            </a:r>
          </a:p>
          <a:p xmlns:a="http://schemas.openxmlformats.org/drawingml/2006/main">
            <a:r>
              <a:t>Scene肥大: プロト速度のため受け入れた負債。Runtime state、UI、render、area sessionへ分離予定。</a:t>
            </a:r>
          </a:p>
          <a:p xmlns:a="http://schemas.openxmlformats.org/drawingml/2006/main">
            <a:r>
              <a:t>共有方法: PieceDataをGeneratorがMapDataへ変換し、RuntimeがMapDataを読む。</a:t>
            </a:r>
          </a:p>
          <a:p xmlns:a="http://schemas.openxmlformats.org/drawingml/2006/main">
            <a:r>
              <a:t>独自parser: 新規依存を増やさないため。ただし重複と検証負担は認識している。</a:t>
            </a:r>
          </a:p>
          <a:p xmlns:a="http://schemas.openxmlformats.org/drawingml/2006/main">
            <a:r>
              <a:t>ボトルネック: セル単位Drawと線バッファ転送。</a:t>
            </a:r>
          </a:p>
          <a:p xmlns:a="http://schemas.openxmlformats.org/drawingml/2006/main">
            <a:r>
              <a:t>改善: 理論上の呼出し削減は確認。FPS・GPU時間は未計測。</a:t>
            </a:r>
          </a:p>
          <a:p xmlns:a="http://schemas.openxmlformats.org/drawingml/2006/main">
            <a:r>
              <a:t>次の計測: 同一map・camera・resolutionでRelease比較し、Scene DrawとPresentを分離。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- C:\HAL\個人制作\NarakuProto\DX22_Project\NarakuMapData.cpp</a:t>
            </a:r>
          </a:p>
          <a:p xmlns:a="http://schemas.openxmlformats.org/drawingml/2006/main">
            <a:r>
              <a:t>- C:\HAL\個人制作\NarakuProto\DX22_Project\NarakuPieceData.cpp</a:t>
            </a:r>
          </a:p>
          <a:p xmlns:a="http://schemas.openxmlformats.org/drawingml/2006/main">
            <a:r>
              <a:t>- C:\HAL\個人制作\NarakuProto\最適化.md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テスト: 現状はEditor validationと手動プレイ確認が中心。専用テストとCIはない。</a:t>
            </a:r>
          </a:p>
          <a:p xmlns:a="http://schemas.openxmlformats.org/drawingml/2006/main">
            <a:r>
              <a:t>追加優先: JSON round-trip、validation、複数seed生成、主要ゲームループ。</a:t>
            </a:r>
          </a:p>
          <a:p xmlns:a="http://schemas.openxmlformats.org/drawingml/2006/main">
            <a:r>
              <a:t>ビルド: Debug/Release x64は成功。Release cleanでは既存警告が残る。</a:t>
            </a:r>
          </a:p>
          <a:p xmlns:a="http://schemas.openxmlformats.org/drawingml/2006/main">
            <a:r>
              <a:t>別PC: C:\HALの絶対パスがMap/Piece/Hierarchyに残り、修正が必要。</a:t>
            </a:r>
          </a:p>
          <a:p xmlns:a="http://schemas.openxmlformats.org/drawingml/2006/main">
            <a:r>
              <a:t>配布: Release出力へAssetsと依存DLLをまとめる工程が未整備。</a:t>
            </a:r>
          </a:p>
          <a:p xmlns:a="http://schemas.openxmlformats.org/drawingml/2006/main">
            <a:r>
              <a:t>権利: フォント・BGM・画像・モデル・第三者ライブラリの一覧化が必要。</a:t>
            </a:r>
          </a:p>
          <a:p xmlns:a="http://schemas.openxmlformats.org/drawingml/2006/main">
            <a:r>
              <a:t>回答姿勢: 未整備点を隠さず、優先順位と検証方法まで説明する。</a:t>
            </a:r>
          </a:p>
          <a:p xmlns:a="http://schemas.openxmlformats.org/drawingml/2006/main">
            <a:r>
              <a:t>ポートフォリオ前: 最新状態をcommitし、cloneからの手順を確認する。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Repository inspection on 2026-07-29</a:t>
            </a:r>
          </a:p>
          <a:p xmlns:a="http://schemas.openxmlformats.org/drawingml/2006/main">
            <a:r>
              <a:t>- C:\HAL\個人制作\NarakuProto\DX22_Project\DX22_Project.vcxproj</a:t>
            </a:r>
          </a:p>
          <a:p xmlns:a="http://schemas.openxmlformats.org/drawingml/2006/main">
            <a:r>
              <a:t>- C:\HAL\個人制作\NarakuProto\DX22_Project\Defines.h</a:t>
            </a:r>
          </a:p>
          <a:p xmlns:a="http://schemas.openxmlformats.org/drawingml/2006/main">
            <a:r>
              <a:t>- C:\HAL\個人制作\NarakuProto\操作概要.md</a:t>
            </a:r>
          </a:p>
          <a:p xmlns:a="http://schemas.openxmlformats.org/drawingml/2006/main">
            <a:r>
              <a:t>- C:\HAL\個人制作\NarakuProto\DX22_Project\NarakuMapData.cpp</a:t>
            </a:r>
          </a:p>
          <a:p xmlns:a="http://schemas.openxmlformats.org/drawingml/2006/main">
            <a:r>
              <a:t>- C:\HAL\個人制作\NarakuProto\DX22_Project\NarakuPieceData.cpp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自作: 奈落塔企画、Piece/Map、Editor、Generator、Runtime、最適化。</a:t>
            </a:r>
          </a:p>
          <a:p xmlns:a="http://schemas.openxmlformats.org/drawingml/2006/main">
            <a:r>
              <a:t>流用: DirectX初期化、Input、Texture、Model、ImGui、Assimp、DirectXTex。</a:t>
            </a:r>
          </a:p>
          <a:p xmlns:a="http://schemas.openxmlformats.org/drawingml/2006/main">
            <a:r>
              <a:t>難所候補: 生成後の到達性、EditorとRuntimeのデータ一致、描画バッチ化。</a:t>
            </a:r>
          </a:p>
          <a:p xmlns:a="http://schemas.openxmlformats.org/drawingml/2006/main">
            <a:r>
              <a:t>優先: 中心ループを一周させるため、見た目と将来機能を後回し。</a:t>
            </a:r>
          </a:p>
          <a:p xmlns:a="http://schemas.openxmlformats.org/drawingml/2006/main">
            <a:r>
              <a:t>失敗: Scene肥大、絶対パス、test/CI後回し、文書と実装のずれ。</a:t>
            </a:r>
          </a:p>
          <a:p xmlns:a="http://schemas.openxmlformats.org/drawingml/2006/main">
            <a:r>
              <a:t>今なら: 早期にseed・round-trip test・portable pathを作る。</a:t>
            </a:r>
          </a:p>
          <a:p xmlns:a="http://schemas.openxmlformats.org/drawingml/2006/main">
            <a:r>
              <a:t>チーム: データ契約と完了条件を共有し、Editor/Runtime/QAを分担。</a:t>
            </a:r>
          </a:p>
          <a:p xmlns:a="http://schemas.openxmlformats.org/drawingml/2006/main">
            <a:r>
              <a:t>AI利用: 提案をそのまま採用せず、差分・ビルド・実機結果で確認する。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C:\HAL\個人制作\NarakuProto\NARAKU_PROTO_DESIGN.md</a:t>
            </a:r>
          </a:p>
          <a:p xmlns:a="http://schemas.openxmlformats.org/drawingml/2006/main">
            <a:r>
              <a:t>- C:\HAL\個人制作\NarakuProto\引き継ぎメモ.md</a:t>
            </a:r>
          </a:p>
          <a:p xmlns:a="http://schemas.openxmlformats.org/drawingml/2006/main">
            <a:r>
              <a:t>- Repository inspection on 2026-07-29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- C:\HAL\個人制作\NarakuProto\DX22_Project\NarakuStageGenerator.cpp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奈落塔で示したいのは、企画を実装へ落とし、制作と検証を回す力です。</a:t>
            </a:r>
          </a:p>
          <a:p xmlns:a="http://schemas.openxmlformats.org/drawingml/2006/main">
            <a:r>
              <a:t>未完成点も含め、次に何を確かめ、どう改善するかまで説明できます。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C:\HAL\個人制作\NarakuProto\企画草案.md</a:t>
            </a:r>
          </a:p>
          <a:p xmlns:a="http://schemas.openxmlformats.org/drawingml/2006/main">
            <a:r>
              <a:t>- C:\HAL\個人制作\NarakuProto\DX22_Project\NarakuStageGenerator.cpp</a:t>
            </a:r>
          </a:p>
          <a:p xmlns:a="http://schemas.openxmlformats.org/drawingml/2006/main">
            <a:r>
              <a:t>- C:\HAL\個人制作\NarakuProto\DX22_Project\SceneNarakuPieceEditor.cpp</a:t>
            </a:r>
          </a:p>
          <a:p xmlns:a="http://schemas.openxmlformats.org/drawingml/2006/main">
            <a:r>
              <a:t>- C:\HAL\個人制作\NarakuProto\DX22_Project\SceneNarakuProto.cpp</a:t>
            </a:r>
          </a:p>
          <a:p xmlns:a="http://schemas.openxmlformats.org/drawingml/2006/main">
            <a:r>
              <a:t>- C:\HAL\個人制作\NarakuProto\最適化.md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f24ab2dda844334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d2eb68a62f44eac" /><Relationship Type="http://schemas.openxmlformats.org/officeDocument/2006/relationships/slideLayout" Target="/ppt/slideLayouts/slideLayout1.xml" Id="R470e63c61aa5486e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470e63c61aa5486e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d200b5ebdac4b02" /><Relationship Type="http://schemas.openxmlformats.org/officeDocument/2006/relationships/notesSlide" Target="/ppt/notesSlides/notesSlide1.xml" Id="R6cca938e9e074712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00ea0bd1c3548d4" /><Relationship Type="http://schemas.openxmlformats.org/officeDocument/2006/relationships/notesSlide" Target="/ppt/notesSlides/notesSlide2.xml" Id="R144d5636f53a4ca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af47bdcb2cb4bbf" /><Relationship Type="http://schemas.openxmlformats.org/officeDocument/2006/relationships/notesSlide" Target="/ppt/notesSlides/notesSlide3.xml" Id="Rb43be1edf4f647a1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9411b1024747cf" /><Relationship Type="http://schemas.openxmlformats.org/officeDocument/2006/relationships/notesSlide" Target="/ppt/notesSlides/notesSlide4.xml" Id="R31dcfa78a0bc456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9a8090b078249a5" /><Relationship Type="http://schemas.openxmlformats.org/officeDocument/2006/relationships/notesSlide" Target="/ppt/notesSlides/notesSlide5.xml" Id="R8edfb328f875479f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f6ac0fa3f554b22" /><Relationship Type="http://schemas.openxmlformats.org/officeDocument/2006/relationships/notesSlide" Target="/ppt/notesSlides/notesSlide6.xml" Id="R4946c3820d56485b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c2cd8c393a45a9" /><Relationship Type="http://schemas.openxmlformats.org/officeDocument/2006/relationships/notesSlide" Target="/ppt/notesSlides/notesSlide7.xml" Id="R0d16ef5de7d3480f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c0d219c00094841" /><Relationship Type="http://schemas.openxmlformats.org/officeDocument/2006/relationships/notesSlide" Target="/ppt/notesSlides/notesSlide8.xml" Id="Rf4d87bfa46704088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f130bf7473d46d1" /><Relationship Type="http://schemas.openxmlformats.org/officeDocument/2006/relationships/notesSlide" Target="/ppt/notesSlides/notesSlide9.xml" Id="Radd7443685e14135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22414e73aca445f" /><Relationship Type="http://schemas.openxmlformats.org/officeDocument/2006/relationships/notesSlide" Target="/ppt/notesSlides/notesSlide10.xml" Id="R35bc6d41e48f4f49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f36238edd434d85" /><Relationship Type="http://schemas.openxmlformats.org/officeDocument/2006/relationships/notesSlide" Target="/ppt/notesSlides/notesSlide11.xml" Id="Ra40cbd55090047b9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3503c3da0843d8" /><Relationship Type="http://schemas.openxmlformats.org/officeDocument/2006/relationships/notesSlide" Target="/ppt/notesSlides/notesSlide12.xml" Id="R3f39c8c1f39f4926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ee0690dfdc4fcb" /><Relationship Type="http://schemas.openxmlformats.org/officeDocument/2006/relationships/notesSlide" Target="/ppt/notesSlides/notesSlide13.xml" Id="R2c1978b10c3346b6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a8c605eed7b46fc" /><Relationship Type="http://schemas.openxmlformats.org/officeDocument/2006/relationships/notesSlide" Target="/ppt/notesSlides/notesSlide14.xml" Id="R7cd445d7f0124574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ba4bd496c0f4326" /><Relationship Type="http://schemas.openxmlformats.org/officeDocument/2006/relationships/notesSlide" Target="/ppt/notesSlides/notesSlide15.xml" Id="R0f5461d320124bef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12078ea745449da" /><Relationship Type="http://schemas.openxmlformats.org/officeDocument/2006/relationships/notesSlide" Target="/ppt/notesSlides/notesSlide16.xml" Id="R2f8640bac7664e8b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907ec9ab3a48a0" /><Relationship Type="http://schemas.openxmlformats.org/officeDocument/2006/relationships/notesSlide" Target="/ppt/notesSlides/notesSlide17.xml" Id="R27a08cc91a1d4751" /></Relationships>
</file>

<file path=ppt/slides/_rels/slide1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5fe0d3349c3471b" /><Relationship Type="http://schemas.openxmlformats.org/officeDocument/2006/relationships/notesSlide" Target="/ppt/notesSlides/notesSlide18.xml" Id="R3b0dff4d956a4e78" /></Relationships>
</file>

<file path=ppt/slides/_rels/slide1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8b43f38afcf452e" /><Relationship Type="http://schemas.openxmlformats.org/officeDocument/2006/relationships/notesSlide" Target="/ppt/notesSlides/notesSlide19.xml" Id="Ra441477ca44e42ca" /></Relationships>
</file>

<file path=ppt/slides/_rels/slide2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5b0bb9f7164b21" /><Relationship Type="http://schemas.openxmlformats.org/officeDocument/2006/relationships/notesSlide" Target="/ppt/notesSlides/notesSlide20.xml" Id="R8503335529534c29" /></Relationships>
</file>

<file path=ppt/slides/_rels/slide2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30e1f70cbc148ab" /><Relationship Type="http://schemas.openxmlformats.org/officeDocument/2006/relationships/notesSlide" Target="/ppt/notesSlides/notesSlide21.xml" Id="R16b7724b6e23494a" /></Relationships>
</file>

<file path=ppt/slides/_rels/slide2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075d4f5d455470d" /><Relationship Type="http://schemas.openxmlformats.org/officeDocument/2006/relationships/notesSlide" Target="/ppt/notesSlides/notesSlide22.xml" Id="R67b16dd7b29842cc" /></Relationships>
</file>

<file path=ppt/slides/_rels/slide2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9ad08f3d14547e2" /><Relationship Type="http://schemas.openxmlformats.org/officeDocument/2006/relationships/notesSlide" Target="/ppt/notesSlides/notesSlide23.xml" Id="R360b7c2dfedf4a31" /></Relationships>
</file>

<file path=ppt/slides/_rels/slide2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11b1712e20145e8" /><Relationship Type="http://schemas.openxmlformats.org/officeDocument/2006/relationships/notesSlide" Target="/ppt/notesSlides/notesSlide24.xml" Id="Rd41142825b31470d" /></Relationships>
</file>

<file path=ppt/slides/_rels/slide2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745ae5d060d46d5" /><Relationship Type="http://schemas.openxmlformats.org/officeDocument/2006/relationships/notesSlide" Target="/ppt/notesSlides/notesSlide25.xml" Id="R0aca6b8d00204cb1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F1B6C6A-527B-442D-BB6A-C9DD3D261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奈落塔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17B1D46A-CF4A-4BC5-AD2F-6FF2EF768E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742212"/>
            <a:ext cx="57023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2.5D探索サバイバルローグライト
まだ潜るか、もう帰るか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E5342412-62DF-4216-B380-45A67EDB76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5702332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PROJECT PORTFOLIO</a:t>
            </a:r>
          </a:p>
        </p:txBody>
      </p:sp>
    </p:spTree>
    <p:extLst>
      <p:ext uri="{BB962C8B-B14F-4D97-AF65-F5344CB8AC3E}">
        <p14:creationId xmlns:p14="http://schemas.microsoft.com/office/powerpoint/2010/main" val="177827539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10FB430-651A-421B-94E3-66B5EAB9B3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91CC4FD4-9A6B-4F02-BB9C-C40B936185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企画と技術を、一つの検証可能なプロトタイプにした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6316E7C3-0CA6-44B4-B7CE-98DF780A0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C9EBA422-85A4-45F9-B59C-33C9096151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GAME DESIGN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F9AB5693-F318-4966-8640-116137C0E6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探索と帰還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重量と上昇負荷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採掘・売却・再潜行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32E9CBA5-D311-4265-B22F-79E07AD3A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E81C2A9-77FB-4F43-B186-842655E83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ENGINEERING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E9DF52CC-FA82-4B10-996F-0E8BC901E7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DirectX 11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小ステージEditor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制約付き生成・検証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4E92B7D9-F4B7-4E2C-BB73-5E0542FA30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プロジェクトの狙い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遊びの中心判断を早く確かめるため、ゲーム本編と制作ツールを同時に構築。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完成品の量ではなく、設計→制作→検証の流れを成立させることを優先。</a:t>
            </a:r>
          </a:p>
        </p:txBody>
      </p:sp>
    </p:spTree>
    <p:extLst>
      <p:ext uri="{BB962C8B-B14F-4D97-AF65-F5344CB8AC3E}">
        <p14:creationId xmlns:p14="http://schemas.microsoft.com/office/powerpoint/2010/main" val="660609400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996CCE1E-7354-4EE6-82D6-85D517822F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9C53758-96C8-4EB4-9928-98438B6246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企画の中心は「もう一つ掘るか、今帰るか」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CEF59854-C1B9-4989-8471-8B8B12714D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潜る理由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深い場所ほど価値の高い旧器が手に入る。
未探索地点と未知の報酬が、前進を促す。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C810DEA1-2821-498D-AF8F-E1D1ABC623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帰る理由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重量・体力・スタミナ・上昇負荷が帰還を難しくする。
死亡すれば持ち物と探索記録を失う。</a:t>
            </a:r>
          </a:p>
        </p:txBody>
      </p:sp>
    </p:spTree>
    <p:extLst>
      <p:ext uri="{BB962C8B-B14F-4D97-AF65-F5344CB8AC3E}">
        <p14:creationId xmlns:p14="http://schemas.microsoft.com/office/powerpoint/2010/main" val="2002259314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9D96D1E1-89FB-439C-AD3F-8CA90A14E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04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5A87AEAD-C753-45B4-8D11-7D650823B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コアループは、潜行・判断・持ち帰りの3段階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FEF4B3A3-96D7-4716-A59C-64FA9C8F7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3D240FD4-D8BC-4947-899D-392281676E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46B441FC-477A-4763-9C4B-F9D96E4D3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F99194A6-E00B-43BD-B143-9749756BE7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A0028BC-7ACD-4118-AD59-B652F0F846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潜行する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装備と持込品を選び、生成されたエリアへ入る。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C1429223-1416-4A25-A1D5-79A021D70B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36AD8440-9270-4B21-B975-6963801B02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判断する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探索・採掘・戦闘を続けるか、帰還へ切り替える。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C4F9D008-AD42-4ED0-8034-E1CE034E5C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97A046BA-6349-4DA5-A087-0F89FB3F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持ち帰る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旧器を鑑定・売却し、装備と次の潜行を更新する。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189033D9-D730-4372-9DAE-C6D35CA94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DECIDE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AA2B00F-D0EA-4C2E-9B60-F52A5BD70F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DIVE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8D517AD5-2946-4EB1-8EA0-790615CE8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RETURN</a:t>
            </a:r>
          </a:p>
        </p:txBody>
      </p:sp>
    </p:spTree>
    <p:extLst>
      <p:ext uri="{BB962C8B-B14F-4D97-AF65-F5344CB8AC3E}">
        <p14:creationId xmlns:p14="http://schemas.microsoft.com/office/powerpoint/2010/main" val="1196752686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4AE6546-E95C-42BF-9234-75C983C39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05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273D351-EE3E-4C22-9B55-FCAD571A1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深さが、利益と危険を同時に増やす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68F0BBD2-D861-45D8-84C6-54BF21532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旧器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重量2〜10、用途と売却額が異なる7種類。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A496AF2-427B-42FF-B735-DAF1EA0783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重量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70 / 90 / 100%で移動と行動を段階制限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6D0A1B86-4073-4EB8-8D5A-10254962C4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上昇負荷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上るほどゲージが蓄積し、精神力を失う。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325EED3-6DBB-4A36-8C3C-26BB599F14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死亡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持込品・探索中ピンを失い、帰還判断を重くする。</a:t>
            </a:r>
          </a:p>
        </p:txBody>
      </p:sp>
    </p:spTree>
    <p:extLst>
      <p:ext uri="{BB962C8B-B14F-4D97-AF65-F5344CB8AC3E}">
        <p14:creationId xmlns:p14="http://schemas.microsoft.com/office/powerpoint/2010/main" val="781280060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AEF70C39-882F-47FE-B7BE-C5815773C9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FE99B20-44DB-44BA-8C9B-9E346FB24A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世界観とゲームルールを同じ方向へ向けた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BCB1D877-22F0-4F9A-9DF6-A36C7CC473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奈落塔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下へ潜る者は拒まないが、戻ろうとする者へ負荷を与える巨大構造体。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348944F1-1292-46E5-86EA-16663DD95A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新人潜行者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旧器・資源・地図情報を持ち帰り、装備と知識を積み上げて再び潜る。</a:t>
            </a:r>
          </a:p>
        </p:txBody>
      </p:sp>
    </p:spTree>
    <p:extLst>
      <p:ext uri="{BB962C8B-B14F-4D97-AF65-F5344CB8AC3E}">
        <p14:creationId xmlns:p14="http://schemas.microsoft.com/office/powerpoint/2010/main" val="1547481195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259D2950-3724-4439-B2F6-18DC6B81F1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4A23F1C-3202-4651-B86D-7E17E8E5E5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企画草案を、検証できる4つの仕組みに絞った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2326A240-F8E2-48E7-9F39-6CF58A61D3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12FEBE7-12B5-46FA-8FC2-A54DC6840A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採掘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装備ごとの速度差と遺物抽選を確認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91061672-EF58-49BF-9B5E-7CF9C8C23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EA88E379-713F-4A85-8313-3FD78BEEE2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9473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探索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地図・ピン・未発見採掘点で導線を作る。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DA09FFCC-869D-464E-B70F-BC1176DE8C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1454A39E-60C1-46EA-84D2-75006D917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成長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売却・商店・武具屋・自宅から再潜行へ接続。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F3A322C0-7400-4342-AEA8-9DBB7479A0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9AE0E43-7378-4506-A67E-480572DEAE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帰還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重量・上昇負荷・死亡損失を一つの判断へ集約。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FB195BE7-F62D-4523-9FC8-2847569C89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プロトタイプの役割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第一層で中心判断が成立するかを先に確認する。</a:t>
            </a:r>
          </a:p>
        </p:txBody>
      </p:sp>
    </p:spTree>
    <p:extLst>
      <p:ext uri="{BB962C8B-B14F-4D97-AF65-F5344CB8AC3E}">
        <p14:creationId xmlns:p14="http://schemas.microsoft.com/office/powerpoint/2010/main" val="1790748719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6078A43B-30B3-4694-AE6B-3D4CBE9688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37FBEE1-D8EC-4527-AA78-6EF89D4109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入れない機能も、検証目的から逆算して決めた</a:t>
            </a:r>
          </a:p>
        </p:txBody>
      </p:sp>
      <p:sp>
        <p:nvSpPr>
          <p:cNvPr id="3" name="Content-Placeholder-10-4">
            <a:extLst xmlns:a="http://schemas.openxmlformats.org/drawingml/2006/main">
              <a:ext uri="{FF2B5EF4-FFF2-40B4-BE49-F238E27FC236}">
                <a16:creationId xmlns:a16="http://schemas.microsoft.com/office/drawing/2014/main" id="{1572F6B2-E16C-4B41-99BD-C5FEA3612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23748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第二層以降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DF756EC-8482-45B7-B278-49FE0C367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23748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CONTENT</a:t>
            </a:r>
          </a:p>
        </p:txBody>
      </p:sp>
      <p:sp>
        <p:nvSpPr>
          <p:cNvPr id="5" name="Content-Placeholder-10-6">
            <a:extLst xmlns:a="http://schemas.openxmlformats.org/drawingml/2006/main">
              <a:ext uri="{FF2B5EF4-FFF2-40B4-BE49-F238E27FC236}">
                <a16:creationId xmlns:a16="http://schemas.microsoft.com/office/drawing/2014/main" id="{24BF3A3E-582D-4FCB-A408-C3F6AE5F81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33654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依頼・ランク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4117512C-F3F3-47A6-90C1-3853B20B0F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33654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META</a:t>
            </a:r>
          </a:p>
        </p:txBody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1843C9E9-51C4-49C8-BC23-F4809E330D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4356068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加工・強化</a:t>
            </a:r>
          </a:p>
        </p:txBody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C4B521DE-3283-4067-8F0C-95872BB444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4356068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CRAFT</a:t>
            </a:r>
          </a:p>
        </p:txBody>
      </p:sp>
      <p:sp>
        <p:nvSpPr>
          <p:cNvPr id="9" name="Content-Placeholder-10-10">
            <a:extLst xmlns:a="http://schemas.openxmlformats.org/drawingml/2006/main">
              <a:ext uri="{FF2B5EF4-FFF2-40B4-BE49-F238E27FC236}">
                <a16:creationId xmlns:a16="http://schemas.microsoft.com/office/drawing/2014/main" id="{3F8DD71C-CAD3-48EC-A0A4-F566356F01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72300" y="5359432"/>
            <a:ext cx="4826032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複数ピン・市場</a:t>
            </a:r>
          </a:p>
        </p:txBody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D4B992EA-D0CF-4C81-8F90-D1FCF67D31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1368" y="5359432"/>
            <a:ext cx="186690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VARIETY</a:t>
            </a:r>
          </a:p>
        </p:txBody>
      </p:sp>
      <p:sp>
        <p:nvSpPr>
          <p:cNvPr id="11" name="Google-Shape-534-p58-12">
            <a:extLst xmlns:a="http://schemas.openxmlformats.org/drawingml/2006/main">
              <a:ext uri="{FF2B5EF4-FFF2-40B4-BE49-F238E27FC236}">
                <a16:creationId xmlns:a16="http://schemas.microsoft.com/office/drawing/2014/main" id="{C1E7FDDA-83FF-46F0-BEEA-7EF55057D2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374868"/>
            <a:ext cx="3568732" cy="3619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判断基準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中心判断と第一層の一周に必要か。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将来性より今の検証価値を優先。</a:t>
            </a:r>
          </a:p>
        </p:txBody>
      </p:sp>
    </p:spTree>
    <p:extLst>
      <p:ext uri="{BB962C8B-B14F-4D97-AF65-F5344CB8AC3E}">
        <p14:creationId xmlns:p14="http://schemas.microsoft.com/office/powerpoint/2010/main" val="1103514862"/>
      </p:ext>
    </p:extLst>
  </p:cSld>
</p:sld>
</file>

<file path=ppt/slides/slide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C9BA04FB-62A6-42CD-A331-904C314232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09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D64ED48-B1B3-440A-98CE-7538D1B157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制作ツールから本編まで、同じデータを通す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3E3107B0-BCA7-468B-A5CA-128DBED5E8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AUTHORING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16×16小ステージをEditorで作成。
地形・属性・採掘点・ロープ・層間口をJSON保存。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9CF7EC21-1383-4CB4-B9A0-DD082D4560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RUNTIME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Completed群を4×4へ連結。
検証済みMapDataを本編が読み、移動・描画・判定へ反映。</a:t>
            </a:r>
          </a:p>
        </p:txBody>
      </p:sp>
    </p:spTree>
    <p:extLst>
      <p:ext uri="{BB962C8B-B14F-4D97-AF65-F5344CB8AC3E}">
        <p14:creationId xmlns:p14="http://schemas.microsoft.com/office/powerpoint/2010/main" val="1289095630"/>
      </p:ext>
    </p:extLst>
  </p:cSld>
</p:sld>
</file>

<file path=ppt/slides/slide1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671FCF8E-4A79-48A6-83B3-E90AECED5C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1E802776-F14D-4300-A863-6AA122DA7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自動生成は、選択・接続・検証の3段階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5B1F1ED1-C90C-4EF3-94CC-0A3DACC73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1AEDE43C-3020-47ED-AFB7-DAAA849BD8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CF0F88E1-D820-406F-B7F2-48E4341DE6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B6176CC1-B755-4F21-8D4F-98D04E1087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34FFE272-540E-4F75-8BA6-704D185174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候補収集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Completedから読込。役割と外周カテゴリで候補を分類。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F4F6A12D-9CFF-4BA5-92C7-516276CEE0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58EEA6F-2D18-4F55-B592-5A4AAD1F8C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制約配置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隣接辺・開始役割・層間口を照合し、4×4へ配置。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8FEE8AFA-E6B9-4745-A687-339AB62D44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3343A3ED-DB72-4BE2-9428-4B843088AE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生成後検証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開始・帰還・採掘点への到達性と不正参照を確認。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97D87E74-E008-4DC0-938F-8572F4FF82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CONNECT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F26BB762-24B0-46CF-8470-886F59E5DC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COLLECT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0FB5EF33-8975-45DF-ABF9-90AC6A1499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VALIDATE</a:t>
            </a:r>
          </a:p>
        </p:txBody>
      </p:sp>
    </p:spTree>
    <p:extLst>
      <p:ext uri="{BB962C8B-B14F-4D97-AF65-F5344CB8AC3E}">
        <p14:creationId xmlns:p14="http://schemas.microsoft.com/office/powerpoint/2010/main" val="1025858399"/>
      </p:ext>
    </p:extLst>
  </p:cSld>
</p:sld>
</file>

<file path=ppt/slides/slide1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5EB887CE-7F00-4998-90A0-5A3B90CEBF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2627FED0-ED07-4CCC-86DF-08C58AE218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CD307F7A-FB97-415A-ADA4-EF66492838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14793BCF-9B98-4037-A4CC-17D666FD40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11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4402C042-101F-45BD-866B-FAA7CAD01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生成条件は、曖昧さを数値へ落とした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DDBE0770-1C39-42C6-A744-B324EF8C37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完成ピース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7C0371C-E234-4398-B316-CC48D5BF1F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通常試行上限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52B58B53-54D5-4CA8-B52D-144F6EC0F9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4×4配置数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C8FE8DA0-37C7-4D8F-A77C-9D42FA9B46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9BE47E79-3E41-4373-A528-BBA71B09B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1D806AA4-4700-46FE-BF5C-1834B3B2B1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100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DEA8DC5-B2E1-4EC0-BC2B-BE8717D1F2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現在の生成構成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少数の手作りピースから、接続可能な第一層エリアを構築。</a:t>
            </a:r>
          </a:p>
        </p:txBody>
      </p:sp>
    </p:spTree>
    <p:extLst>
      <p:ext uri="{BB962C8B-B14F-4D97-AF65-F5344CB8AC3E}">
        <p14:creationId xmlns:p14="http://schemas.microsoft.com/office/powerpoint/2010/main" val="1641002783"/>
      </p:ext>
    </p:extLst>
  </p:cSld>
</p:sld>
</file>

<file path=ppt/slides/slide1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25C5105C-22F8-49B8-B5D4-7855728808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909A76F3-275A-44B2-BD78-4F1026A3AA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Editorで、制作・検証・本編確認をつなぐ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72CCA40-D18A-4D33-82F9-29EF4E22AA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地形編集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頂点・面・高さ・セル属性・削除と復元。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97338A8B-DD96-4BE5-846A-E4E3713E1A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配置編集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採掘点・ロープ・開始帰還・環境モデル。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97E3518-4803-462F-A98C-843943227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制作管理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Drafts / Completed、Hierarchy、保存と読込。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8FBAFAD9-2E2F-4C79-9B33-0BCAAD99B5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検証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不正参照・重複・範囲・到達性を表示。</a:t>
            </a:r>
          </a:p>
        </p:txBody>
      </p:sp>
    </p:spTree>
    <p:extLst>
      <p:ext uri="{BB962C8B-B14F-4D97-AF65-F5344CB8AC3E}">
        <p14:creationId xmlns:p14="http://schemas.microsoft.com/office/powerpoint/2010/main" val="1238202921"/>
      </p:ext>
    </p:extLst>
  </p:cSld>
</p:sld>
</file>

<file path=ppt/slides/slide1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1AE0BBC2-5014-4981-859C-41E3BAB300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13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C4765E49-455C-4994-996D-C5F46073ED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データ駆動化で、制作とゲーム処理を分離した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2C8F21BF-544C-4DC3-B34C-1A3079A718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AD011411-823B-4F99-864E-E2E00DE29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MapData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連結地形・参照・開始帰還 / v2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FA697E75-16DC-4D22-AB54-94053C7780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DB64D61-5482-4992-8C5C-0CD7196B5A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PieceData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16×16地形・局所配置 / v1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66CEBDB2-4466-4313-8DE4-C0B2FB93D4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5004CB81-A00C-41DC-B3F7-E7AB90BC0C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残課題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version移行と不正JSONの自動テスト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5CF2327E-D92A-441B-B07D-EBB1C80ED0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063875A1-B768-4126-9EAD-3ECE4C099C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Validation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範囲・重複・属性・到達性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1A6C61C6-3399-4A5B-8B9C-3753163C3E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JSONを境界にする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Editor・Generator・Runtimeが同じデータ形式を共有する。</a:t>
            </a:r>
          </a:p>
        </p:txBody>
      </p:sp>
    </p:spTree>
    <p:extLst>
      <p:ext uri="{BB962C8B-B14F-4D97-AF65-F5344CB8AC3E}">
        <p14:creationId xmlns:p14="http://schemas.microsoft.com/office/powerpoint/2010/main" val="476951912"/>
      </p:ext>
    </p:extLst>
  </p:cSld>
</p:sld>
</file>

<file path=ppt/slides/slide1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BC9406FB-4BC5-4D46-8ADF-4EA0EED435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FCD6D7C0-B41E-4940-A582-52CADEF29F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本編では、探索から再潜行まで一周できる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C394A53C-DD58-41A0-9471-5CC07BD0F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移動・地形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歩行、走り、ジャンプ、斜面、落下、ロープ。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0806E20D-9D51-46B8-844A-B11316A2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探索・採掘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地図、ピン、発見、採掘、重量、鑑定。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5EC081D2-307B-402D-846C-3D6FCD7126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戦闘・生存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敵接近、予備動作、体当たり、食料、死亡。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5A25291D-A34D-454F-8BE8-85A0756DAE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帰還後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売却、商店、武具屋、自宅、再潜行。</a:t>
            </a:r>
          </a:p>
        </p:txBody>
      </p:sp>
    </p:spTree>
    <p:extLst>
      <p:ext uri="{BB962C8B-B14F-4D97-AF65-F5344CB8AC3E}">
        <p14:creationId xmlns:p14="http://schemas.microsoft.com/office/powerpoint/2010/main" val="1301021231"/>
      </p:ext>
    </p:extLst>
  </p:cSld>
</p:sld>
</file>

<file path=ppt/slides/slide1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3" name="Rounded-Rectangle-5-1">
            <a:extLst xmlns:a="http://schemas.openxmlformats.org/drawingml/2006/main">
              <a:ext uri="{FF2B5EF4-FFF2-40B4-BE49-F238E27FC236}">
                <a16:creationId xmlns:a16="http://schemas.microsoft.com/office/drawing/2014/main" id="{B014F905-D305-44D8-87AC-B17F351A40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2" name="Rounded-Rectangle-6-2">
            <a:extLst xmlns:a="http://schemas.openxmlformats.org/drawingml/2006/main">
              <a:ext uri="{FF2B5EF4-FFF2-40B4-BE49-F238E27FC236}">
                <a16:creationId xmlns:a16="http://schemas.microsoft.com/office/drawing/2014/main" id="{11A36648-96DD-44C5-ABC2-741B9799DB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11682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3" name="Rounded-Rectangle-7-3">
            <a:extLst xmlns:a="http://schemas.openxmlformats.org/drawingml/2006/main">
              <a:ext uri="{FF2B5EF4-FFF2-40B4-BE49-F238E27FC236}">
                <a16:creationId xmlns:a16="http://schemas.microsoft.com/office/drawing/2014/main" id="{4B854909-050D-4DB4-A4FB-7BCEAA6779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2267" y="3022568"/>
            <a:ext cx="3568732" cy="2971800"/>
          </a:xfrm>
          <a:prstGeom xmlns:a="http://schemas.openxmlformats.org/drawingml/2006/main" prst="roundRect">
            <a:avLst>
              <a:gd name="adj" fmla="val 2564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Slide-Number-Placeholder-1-4">
            <a:extLst xmlns:a="http://schemas.openxmlformats.org/drawingml/2006/main">
              <a:ext uri="{FF2B5EF4-FFF2-40B4-BE49-F238E27FC236}">
                <a16:creationId xmlns:a16="http://schemas.microsoft.com/office/drawing/2014/main" id="{EF703F7E-6BCA-4B31-A171-9FED245F1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15</a:t>
            </a:r>
          </a:p>
        </p:txBody>
      </p:sp>
      <p:sp>
        <p:nvSpPr>
          <p:cNvPr id="5" name="Title-2-5">
            <a:extLst xmlns:a="http://schemas.openxmlformats.org/drawingml/2006/main">
              <a:ext uri="{FF2B5EF4-FFF2-40B4-BE49-F238E27FC236}">
                <a16:creationId xmlns:a16="http://schemas.microsoft.com/office/drawing/2014/main" id="{AAC4C418-F232-427E-87A8-5245418D26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描画最適化は、呼び出し構造から見直した</a:t>
            </a:r>
          </a:p>
        </p:txBody>
      </p:sp>
      <p:sp>
        <p:nvSpPr>
          <p:cNvPr id="6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0E36422-2467-4F70-B498-92D7076CCE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床ドロー</a:t>
            </a:r>
          </a:p>
        </p:txBody>
      </p:sp>
      <p:sp>
        <p:nvSpPr>
          <p:cNvPr id="7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F7D158C-94EE-4C38-8571-A5E6C5B1D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1830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線転送 / frame</a:t>
            </a:r>
          </a:p>
        </p:txBody>
      </p:sp>
      <p:sp>
        <p:nvSpPr>
          <p:cNvPr id="8" name="Content-Placeholder-11-8">
            <a:extLst xmlns:a="http://schemas.openxmlformats.org/drawingml/2006/main">
              <a:ext uri="{FF2B5EF4-FFF2-40B4-BE49-F238E27FC236}">
                <a16:creationId xmlns:a16="http://schemas.microsoft.com/office/drawing/2014/main" id="{E6242599-2AEF-47AC-8FCF-B692686A4B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21244" y="4900613"/>
            <a:ext cx="2949607" cy="8191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定数更新</a:t>
            </a:r>
          </a:p>
        </p:txBody>
      </p:sp>
      <p:sp>
        <p:nvSpPr>
          <p:cNvPr id="9" name="Content-Placeholder-9-9">
            <a:extLst xmlns:a="http://schemas.openxmlformats.org/drawingml/2006/main">
              <a:ext uri="{FF2B5EF4-FFF2-40B4-BE49-F238E27FC236}">
                <a16:creationId xmlns:a16="http://schemas.microsoft.com/office/drawing/2014/main" id="{61EDCA16-CC21-4197-BBC0-D0B4ED803F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237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3600 → 1</a:t>
            </a:r>
          </a:p>
        </p:txBody>
      </p:sp>
      <p:sp>
        <p:nvSpPr>
          <p:cNvPr id="10" name="Content-Placeholder-9-10">
            <a:extLst xmlns:a="http://schemas.openxmlformats.org/drawingml/2006/main">
              <a:ext uri="{FF2B5EF4-FFF2-40B4-BE49-F238E27FC236}">
                <a16:creationId xmlns:a16="http://schemas.microsoft.com/office/drawing/2014/main" id="{AC926309-722A-4163-876D-72C1C2BC2E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2958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7200 → 1</a:t>
            </a:r>
          </a:p>
        </p:txBody>
      </p:sp>
      <p:sp>
        <p:nvSpPr>
          <p:cNvPr id="11" name="Content-Placeholder-9-11">
            <a:extLst xmlns:a="http://schemas.openxmlformats.org/drawingml/2006/main">
              <a:ext uri="{FF2B5EF4-FFF2-40B4-BE49-F238E27FC236}">
                <a16:creationId xmlns:a16="http://schemas.microsoft.com/office/drawing/2014/main" id="{C9F6B992-AE0B-4A52-A428-193A2254CB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62404" y="3429000"/>
            <a:ext cx="2940082" cy="135931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2.8MB → 0</a:t>
            </a:r>
          </a:p>
        </p:txBody>
      </p:sp>
      <p:sp>
        <p:nvSpPr>
          <p:cNvPr id="12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3E63454A-A1A5-45C4-B11C-BE6CD8784B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138333"/>
            <a:ext cx="11404568" cy="15994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4×4生成マップの理論上限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床セルを個別描画せず、動的頂点バッファへ集約。</a:t>
            </a:r>
          </a:p>
        </p:txBody>
      </p:sp>
    </p:spTree>
    <p:extLst>
      <p:ext uri="{BB962C8B-B14F-4D97-AF65-F5344CB8AC3E}">
        <p14:creationId xmlns:p14="http://schemas.microsoft.com/office/powerpoint/2010/main" val="539212515"/>
      </p:ext>
    </p:extLst>
  </p:cSld>
</p:sld>
</file>

<file path=ppt/slides/slide1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80BE6F6-774F-418C-975D-B6F782A8B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16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5E4153BB-FA85-4D24-A373-66A47479BF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設計思想は、検証速度と説明可能性を両立すること</a:t>
            </a:r>
          </a:p>
        </p:txBody>
      </p:sp>
      <p:sp>
        <p:nvSpPr>
          <p:cNvPr id="3" name="Google-Shape-534-p58-4">
            <a:extLst xmlns:a="http://schemas.openxmlformats.org/drawingml/2006/main">
              <a:ext uri="{FF2B5EF4-FFF2-40B4-BE49-F238E27FC236}">
                <a16:creationId xmlns:a16="http://schemas.microsoft.com/office/drawing/2014/main" id="{7A1C5A9B-A437-45E2-BCBA-A18AF7A5ED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意図した選択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既存DirectX基盤を流用。
奈落機能を独立画面へ集約。
数値調整と地形制作をデータ化。</a:t>
            </a:r>
          </a:p>
        </p:txBody>
      </p:sp>
      <p:sp>
        <p:nvSpPr>
          <p:cNvPr id="4" name="Content-Placeholder-3-5">
            <a:extLst xmlns:a="http://schemas.openxmlformats.org/drawingml/2006/main">
              <a:ext uri="{FF2B5EF4-FFF2-40B4-BE49-F238E27FC236}">
                <a16:creationId xmlns:a16="http://schemas.microsoft.com/office/drawing/2014/main" id="{0E86627A-3FAC-40C1-B814-F4A5C6EF3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353482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受け入れた負債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本編Sceneに責務が集中。
自動テスト・配布・保存互換性・実測性能は未整備。</a:t>
            </a:r>
          </a:p>
        </p:txBody>
      </p:sp>
    </p:spTree>
    <p:extLst>
      <p:ext uri="{BB962C8B-B14F-4D97-AF65-F5344CB8AC3E}">
        <p14:creationId xmlns:p14="http://schemas.microsoft.com/office/powerpoint/2010/main" val="1541044105"/>
      </p:ext>
    </p:extLst>
  </p:cSld>
</p:sld>
</file>

<file path=ppt/slides/slide1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DBDF0D25-D3ED-47B2-ABFB-0E1A14C95B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17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ED4B0796-4952-4A4F-B36B-2067EF037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519"/>
            <a:ext cx="11404568" cy="64427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流用基盤と自作領域を、明確に区別する</a:t>
            </a:r>
          </a:p>
        </p:txBody>
      </p:sp>
      <p:sp>
        <p:nvSpPr>
          <p:cNvPr id="3" name="Rounded-Rectangle-1-4">
            <a:extLst xmlns:a="http://schemas.openxmlformats.org/drawingml/2006/main">
              <a:ext uri="{FF2B5EF4-FFF2-40B4-BE49-F238E27FC236}">
                <a16:creationId xmlns:a16="http://schemas.microsoft.com/office/drawing/2014/main" id="{3640CFB5-37BE-4921-BAC2-6E52F6C40B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7002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4F700FF7-E03E-4659-83FD-A46BEFEB55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AUTHORED</a:t>
            </a:r>
          </a:p>
        </p:txBody>
      </p:sp>
      <p:sp>
        <p:nvSpPr>
          <p:cNvPr id="5" name="Content-Placeholder-15-6">
            <a:extLst xmlns:a="http://schemas.openxmlformats.org/drawingml/2006/main">
              <a:ext uri="{FF2B5EF4-FFF2-40B4-BE49-F238E27FC236}">
                <a16:creationId xmlns:a16="http://schemas.microsoft.com/office/drawing/2014/main" id="{28821004-0063-4E85-8705-3F5DA0A3DB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4277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奈落塔の企画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Piece / Map / Generator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Editor・Runtime・最適化</a:t>
            </a:r>
          </a:p>
        </p:txBody>
      </p:sp>
      <p:sp>
        <p:nvSpPr>
          <p:cNvPr id="6" name="Rounded-Rectangle-7-7">
            <a:extLst xmlns:a="http://schemas.openxmlformats.org/drawingml/2006/main">
              <a:ext uri="{FF2B5EF4-FFF2-40B4-BE49-F238E27FC236}">
                <a16:creationId xmlns:a16="http://schemas.microsoft.com/office/drawing/2014/main" id="{CA04CEC4-41BE-44B4-B1F1-023FEEDC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0783" y="3339084"/>
            <a:ext cx="5533930" cy="1320832"/>
          </a:xfrm>
          <a:prstGeom xmlns:a="http://schemas.openxmlformats.org/drawingml/2006/main" prst="roundRect">
            <a:avLst>
              <a:gd name="adj" fmla="val 5769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7" name="Content-Placeholder-10-8">
            <a:extLst xmlns:a="http://schemas.openxmlformats.org/drawingml/2006/main">
              <a:ext uri="{FF2B5EF4-FFF2-40B4-BE49-F238E27FC236}">
                <a16:creationId xmlns:a16="http://schemas.microsoft.com/office/drawing/2014/main" id="{CF337D07-33AA-4BCE-A999-884CD371D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3587972"/>
            <a:ext cx="4986909" cy="87782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REUSED</a:t>
            </a:r>
          </a:p>
        </p:txBody>
      </p:sp>
      <p:sp>
        <p:nvSpPr>
          <p:cNvPr id="8" name="Content-Placeholder-15-9">
            <a:extLst xmlns:a="http://schemas.openxmlformats.org/drawingml/2006/main">
              <a:ext uri="{FF2B5EF4-FFF2-40B4-BE49-F238E27FC236}">
                <a16:creationId xmlns:a16="http://schemas.microsoft.com/office/drawing/2014/main" id="{FC8F69C8-87C4-4CC7-8472-826593095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8058" y="4828604"/>
            <a:ext cx="5236655" cy="97793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DirectX初期化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Input・Texture・Model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ImGui・Assimp・DirectXTex</a:t>
            </a:r>
          </a:p>
        </p:txBody>
      </p:sp>
      <p:sp>
        <p:nvSpPr>
          <p:cNvPr id="9" name="Content-Placeholder-15-10">
            <a:extLst xmlns:a="http://schemas.openxmlformats.org/drawingml/2006/main">
              <a:ext uri="{FF2B5EF4-FFF2-40B4-BE49-F238E27FC236}">
                <a16:creationId xmlns:a16="http://schemas.microsoft.com/office/drawing/2014/main" id="{E84CC860-AA88-4F69-80EF-FE6DE5EC6D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157478"/>
            <a:ext cx="11404568" cy="1629251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担当範囲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既存の学校プロジェクトを土台にし、奈落塔固有の企画・データ・Editor・生成・本編を追加。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流用を隠さず、どこで設計判断を行ったかを説明する。</a:t>
            </a:r>
          </a:p>
        </p:txBody>
      </p:sp>
    </p:spTree>
    <p:extLst>
      <p:ext uri="{BB962C8B-B14F-4D97-AF65-F5344CB8AC3E}">
        <p14:creationId xmlns:p14="http://schemas.microsoft.com/office/powerpoint/2010/main" val="385478550"/>
      </p:ext>
    </p:extLst>
  </p:cSld>
</p:sld>
</file>

<file path=ppt/slides/slide1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Google-Shape-532-p58-2">
            <a:extLst xmlns:a="http://schemas.openxmlformats.org/drawingml/2006/main">
              <a:ext uri="{FF2B5EF4-FFF2-40B4-BE49-F238E27FC236}">
                <a16:creationId xmlns:a16="http://schemas.microsoft.com/office/drawing/2014/main" id="{7BFB5B16-10B8-4E2B-8F30-6A2FACF5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18</a:t>
            </a:r>
          </a:p>
        </p:txBody>
      </p:sp>
      <p:sp>
        <p:nvSpPr>
          <p:cNvPr id="2" name="Google-Shape-533-p58-3">
            <a:extLst xmlns:a="http://schemas.openxmlformats.org/drawingml/2006/main">
              <a:ext uri="{FF2B5EF4-FFF2-40B4-BE49-F238E27FC236}">
                <a16:creationId xmlns:a16="http://schemas.microsoft.com/office/drawing/2014/main" id="{808036E6-3FF6-4036-ADBA-6A7E9FE308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wrap="square" lIns="0" tIns="0" rIns="0" bIns="0" anchor="t">
            <a:noAutofit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現在の完成度は、プロト成立・品質整備前</a:t>
            </a:r>
          </a:p>
        </p:txBody>
      </p:sp>
      <p:sp>
        <p:nvSpPr>
          <p:cNvPr id="3" name="Rounded-Rectangle-6-4">
            <a:extLst xmlns:a="http://schemas.openxmlformats.org/drawingml/2006/main">
              <a:ext uri="{FF2B5EF4-FFF2-40B4-BE49-F238E27FC236}">
                <a16:creationId xmlns:a16="http://schemas.microsoft.com/office/drawing/2014/main" id="{2AF070A3-163C-45EC-802F-5243EB713D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6F577E6E-2D68-47E6-90DD-398FA9A378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継続性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進行状況の永続保存は未実装</a:t>
            </a:r>
          </a:p>
        </p:txBody>
      </p:sp>
      <p:sp>
        <p:nvSpPr>
          <p:cNvPr id="5" name="Rounded-Rectangle-8-6">
            <a:extLst xmlns:a="http://schemas.openxmlformats.org/drawingml/2006/main">
              <a:ext uri="{FF2B5EF4-FFF2-40B4-BE49-F238E27FC236}">
                <a16:creationId xmlns:a16="http://schemas.microsoft.com/office/drawing/2014/main" id="{AAB3EA8B-0B69-415F-AEE5-E7C23D4785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236982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F8F0E50C-BBED-4234-90E8-3E22960327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266480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操作感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ロープ、落下、着地、斜面の調整が残る。</a:t>
            </a:r>
          </a:p>
        </p:txBody>
      </p:sp>
      <p:sp>
        <p:nvSpPr>
          <p:cNvPr id="7" name="Rounded-Rectangle-1-8">
            <a:extLst xmlns:a="http://schemas.openxmlformats.org/drawingml/2006/main">
              <a:ext uri="{FF2B5EF4-FFF2-40B4-BE49-F238E27FC236}">
                <a16:creationId xmlns:a16="http://schemas.microsoft.com/office/drawing/2014/main" id="{C1F5CA70-D457-4728-AD79-3044A2B88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64402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10-9">
            <a:extLst xmlns:a="http://schemas.openxmlformats.org/drawingml/2006/main">
              <a:ext uri="{FF2B5EF4-FFF2-40B4-BE49-F238E27FC236}">
                <a16:creationId xmlns:a16="http://schemas.microsoft.com/office/drawing/2014/main" id="{F9697C84-FEA1-4A6A-8BEA-93305FE356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61677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提示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README、素材出典、配布パッケージ、最新commitが必要。</a:t>
            </a:r>
          </a:p>
        </p:txBody>
      </p:sp>
      <p:sp>
        <p:nvSpPr>
          <p:cNvPr id="9" name="Rounded-Rectangle-3-10">
            <a:extLst xmlns:a="http://schemas.openxmlformats.org/drawingml/2006/main">
              <a:ext uri="{FF2B5EF4-FFF2-40B4-BE49-F238E27FC236}">
                <a16:creationId xmlns:a16="http://schemas.microsoft.com/office/drawing/2014/main" id="{C5FBDC43-9FAA-41EA-A33F-475F1542D3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004" y="4370070"/>
            <a:ext cx="5533930" cy="1638300"/>
          </a:xfrm>
          <a:prstGeom xmlns:a="http://schemas.openxmlformats.org/drawingml/2006/main" prst="roundRect">
            <a:avLst>
              <a:gd name="adj" fmla="val 4651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10-11">
            <a:extLst xmlns:a="http://schemas.openxmlformats.org/drawingml/2006/main">
              <a:ext uri="{FF2B5EF4-FFF2-40B4-BE49-F238E27FC236}">
                <a16:creationId xmlns:a16="http://schemas.microsoft.com/office/drawing/2014/main" id="{61307811-656E-4C8E-BC8B-4A12C5C16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6279" y="4665059"/>
            <a:ext cx="4986909" cy="104841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95547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品質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自動テスト、CI、seed再現、Release警告が未整備。</a:t>
            </a:r>
          </a:p>
        </p:txBody>
      </p:sp>
      <p:sp>
        <p:nvSpPr>
          <p:cNvPr id="11" name="Content-Placeholder-15-12">
            <a:extLst xmlns:a="http://schemas.openxmlformats.org/drawingml/2006/main">
              <a:ext uri="{FF2B5EF4-FFF2-40B4-BE49-F238E27FC236}">
                <a16:creationId xmlns:a16="http://schemas.microsoft.com/office/drawing/2014/main" id="{87F1CB4A-4340-4B90-B96A-268F3C4F72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907" y="1057466"/>
            <a:ext cx="11404568" cy="1012222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到達点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第一層の探索・採掘・帰還・売却・再潜行を確認できる。</a:t>
            </a:r>
          </a:p>
        </p:txBody>
      </p:sp>
    </p:spTree>
    <p:extLst>
      <p:ext uri="{BB962C8B-B14F-4D97-AF65-F5344CB8AC3E}">
        <p14:creationId xmlns:p14="http://schemas.microsoft.com/office/powerpoint/2010/main" val="2011112309"/>
      </p:ext>
    </p:extLst>
  </p:cSld>
</p:sld>
</file>

<file path=ppt/slides/slide19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6" name="Slide-Number-Placeholder-3-2">
            <a:extLst xmlns:a="http://schemas.openxmlformats.org/drawingml/2006/main">
              <a:ext uri="{FF2B5EF4-FFF2-40B4-BE49-F238E27FC236}">
                <a16:creationId xmlns:a16="http://schemas.microsoft.com/office/drawing/2014/main" id="{502688A0-3AF2-4EE9-AAC2-9DC37A9031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315" y="6279261"/>
            <a:ext cx="518922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19</a:t>
            </a:r>
          </a:p>
        </p:txBody>
      </p:sp>
      <p:sp>
        <p:nvSpPr>
          <p:cNvPr id="2" name="Title-10-3">
            <a:extLst xmlns:a="http://schemas.openxmlformats.org/drawingml/2006/main">
              <a:ext uri="{FF2B5EF4-FFF2-40B4-BE49-F238E27FC236}">
                <a16:creationId xmlns:a16="http://schemas.microsoft.com/office/drawing/2014/main" id="{35230D80-CB5B-4B21-8207-50B36B000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次の改善は、見せられる・確かめられる・直せるの順</a:t>
            </a:r>
          </a:p>
        </p:txBody>
      </p:sp>
      <p:cxnSp>
        <p:nvCxnSpPr>
          <p:cNvPr id="18" name="Google-Shape-2259-p159-4"/>
          <p:cNvCxnSpPr/>
          <p:nvPr/>
        </p:nvCxnSpPr>
        <p:spPr>
          <a:xfrm xmlns:a="http://schemas.openxmlformats.org/drawingml/2006/main">
            <a:off x="337757" y="5341620"/>
            <a:ext cx="12245435" cy="286"/>
          </a:xfrm>
          <a:prstGeom xmlns:a="http://schemas.openxmlformats.org/drawingml/2006/main" prst="straightConnector1">
            <a:avLst/>
          </a:prstGeom>
          <a:ln xmlns:a="http://schemas.openxmlformats.org/drawingml/2006/main" w="9525">
            <a:solidFill>
              <a:srgbClr val="000000"/>
            </a:solidFill>
            <a:prstDash val="solid"/>
          </a:ln>
        </p:spPr>
      </p:cxnSp>
      <p:sp>
        <p:nvSpPr>
          <p:cNvPr id="4" name="Google-Shape-2260-p159-5">
            <a:extLst xmlns:a="http://schemas.openxmlformats.org/drawingml/2006/main">
              <a:ext uri="{FF2B5EF4-FFF2-40B4-BE49-F238E27FC236}">
                <a16:creationId xmlns:a16="http://schemas.microsoft.com/office/drawing/2014/main" id="{955F36AA-B57A-42B7-805F-DC25B8F0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7757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5" name="Google-Shape-2261-p159-6">
            <a:extLst xmlns:a="http://schemas.openxmlformats.org/drawingml/2006/main">
              <a:ext uri="{FF2B5EF4-FFF2-40B4-BE49-F238E27FC236}">
                <a16:creationId xmlns:a16="http://schemas.microsoft.com/office/drawing/2014/main" id="{2D96CBF3-580A-48AF-8712-BC550A373C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6" name="Google-Shape-2262-p159-7">
            <a:extLst xmlns:a="http://schemas.openxmlformats.org/drawingml/2006/main">
              <a:ext uri="{FF2B5EF4-FFF2-40B4-BE49-F238E27FC236}">
                <a16:creationId xmlns:a16="http://schemas.microsoft.com/office/drawing/2014/main" id="{5CE05B26-4917-4DA4-8D82-A0FF6ECF47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76070" y="5288089"/>
            <a:ext cx="107061" cy="107061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00000"/>
          </a:solidFill>
        </p:spPr>
      </p:sp>
      <p:sp>
        <p:nvSpPr>
          <p:cNvPr id="7" name="Rounded-Rectangle-19-8">
            <a:extLst xmlns:a="http://schemas.openxmlformats.org/drawingml/2006/main">
              <a:ext uri="{FF2B5EF4-FFF2-40B4-BE49-F238E27FC236}">
                <a16:creationId xmlns:a16="http://schemas.microsoft.com/office/drawing/2014/main" id="{C8FF9BFE-36B5-4B0E-AEC1-B6D6B9D5E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8" name="Content-Placeholder-8-9">
            <a:extLst xmlns:a="http://schemas.openxmlformats.org/drawingml/2006/main">
              <a:ext uri="{FF2B5EF4-FFF2-40B4-BE49-F238E27FC236}">
                <a16:creationId xmlns:a16="http://schemas.microsoft.com/office/drawing/2014/main" id="{A50B2E8E-DC63-4F49-BF20-32D2076177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3421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見せられる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README、自作範囲、素材出典、再現可能なcommitを整える。</a:t>
            </a:r>
          </a:p>
        </p:txBody>
      </p:sp>
      <p:sp>
        <p:nvSpPr>
          <p:cNvPr id="9" name="Rounded-Rectangle-21-10">
            <a:extLst xmlns:a="http://schemas.openxmlformats.org/drawingml/2006/main">
              <a:ext uri="{FF2B5EF4-FFF2-40B4-BE49-F238E27FC236}">
                <a16:creationId xmlns:a16="http://schemas.microsoft.com/office/drawing/2014/main" id="{B3EC8233-E8A3-47F5-83E5-97D10090FC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308443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0" name="Content-Placeholder-8-11">
            <a:extLst xmlns:a="http://schemas.openxmlformats.org/drawingml/2006/main">
              <a:ext uri="{FF2B5EF4-FFF2-40B4-BE49-F238E27FC236}">
                <a16:creationId xmlns:a16="http://schemas.microsoft.com/office/drawing/2014/main" id="{661075DF-5AE0-4C28-B835-ADC02AE6DF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8196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確かめられる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seed固定、生成試験、JSON往復、実測性能を追加。</a:t>
            </a:r>
          </a:p>
        </p:txBody>
      </p:sp>
      <p:sp>
        <p:nvSpPr>
          <p:cNvPr id="11" name="Rounded-Rectangle-23-12">
            <a:extLst xmlns:a="http://schemas.openxmlformats.org/drawingml/2006/main">
              <a:ext uri="{FF2B5EF4-FFF2-40B4-BE49-F238E27FC236}">
                <a16:creationId xmlns:a16="http://schemas.microsoft.com/office/drawing/2014/main" id="{A6342F93-0BBD-44CE-9CDC-8A92C7E9B6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37506" y="1401794"/>
            <a:ext cx="3568732" cy="3619500"/>
          </a:xfrm>
          <a:prstGeom xmlns:a="http://schemas.openxmlformats.org/drawingml/2006/main" prst="roundRect">
            <a:avLst>
              <a:gd name="adj" fmla="val 2135"/>
            </a:avLst>
          </a:prstGeom>
          <a:solidFill xmlns:a="http://schemas.openxmlformats.org/drawingml/2006/main">
            <a:srgbClr val="F2F2F2"/>
          </a:solidFill>
        </p:spPr>
      </p:sp>
      <p:sp>
        <p:nvSpPr>
          <p:cNvPr id="12" name="Content-Placeholder-8-13">
            <a:extLst xmlns:a="http://schemas.openxmlformats.org/drawingml/2006/main">
              <a:ext uri="{FF2B5EF4-FFF2-40B4-BE49-F238E27FC236}">
                <a16:creationId xmlns:a16="http://schemas.microsoft.com/office/drawing/2014/main" id="{E99D9695-163D-4155-A11A-32735A21A4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47259" y="1806797"/>
            <a:ext cx="2949321" cy="2566797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直せる</a:t>
            </a:r>
          </a:p>
          <a:p xmlns:a="http://schemas.openxmlformats.org/drawingml/2006/main">
            <a:pPr algn="l">
              <a:defRPr sz="16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Runtime・UI・描画・エリア状態の責務を段階分離。</a:t>
            </a:r>
          </a:p>
        </p:txBody>
      </p:sp>
      <p:sp>
        <p:nvSpPr>
          <p:cNvPr id="13" name="Text-Placeholder-16-14">
            <a:extLst xmlns:a="http://schemas.openxmlformats.org/drawingml/2006/main">
              <a:ext uri="{FF2B5EF4-FFF2-40B4-BE49-F238E27FC236}">
                <a16:creationId xmlns:a16="http://schemas.microsoft.com/office/drawing/2014/main" id="{E60DF266-8027-4907-ABEC-B70512004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51770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02  VERIFY</a:t>
            </a:r>
          </a:p>
        </p:txBody>
      </p:sp>
      <p:sp>
        <p:nvSpPr>
          <p:cNvPr id="14" name="Text-Placeholder-16-15">
            <a:extLst xmlns:a="http://schemas.openxmlformats.org/drawingml/2006/main">
              <a:ext uri="{FF2B5EF4-FFF2-40B4-BE49-F238E27FC236}">
                <a16:creationId xmlns:a16="http://schemas.microsoft.com/office/drawing/2014/main" id="{D35577F1-5E23-4EFF-8BC4-29B3E22B7F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0906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01  REVIEW</a:t>
            </a:r>
          </a:p>
        </p:txBody>
      </p:sp>
      <p:sp>
        <p:nvSpPr>
          <p:cNvPr id="15" name="Text-Placeholder-16-16">
            <a:extLst xmlns:a="http://schemas.openxmlformats.org/drawingml/2006/main">
              <a:ext uri="{FF2B5EF4-FFF2-40B4-BE49-F238E27FC236}">
                <a16:creationId xmlns:a16="http://schemas.microsoft.com/office/drawing/2014/main" id="{8B329612-ECB0-42A8-A56F-72120DE537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25409" y="5602414"/>
            <a:ext cx="2595944" cy="3919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03  REFACTOR</a:t>
            </a:r>
          </a:p>
        </p:txBody>
      </p:sp>
    </p:spTree>
    <p:extLst>
      <p:ext uri="{BB962C8B-B14F-4D97-AF65-F5344CB8AC3E}">
        <p14:creationId xmlns:p14="http://schemas.microsoft.com/office/powerpoint/2010/main" val="415191795"/>
      </p:ext>
    </p:extLst>
  </p:cSld>
</p:sld>
</file>

<file path=ppt/slides/slide20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7AB2C904-99BB-472B-ACF4-7B0E7A08C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20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7DC08928-43E4-46EE-84E2-300C17602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想定質問｜企画・ゲームデザイン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D4786C5D-A1FE-499E-9470-35D4CA4C3E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企画の起点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なぜこの題材？
誰に遊んでほしい？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5FCD2ED0-1F8E-401D-86D3-7CBF72ACD8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中心体験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このゲームの面白さは？
既存作との差は？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78263B72-94BE-485B-8FCF-FC0E949991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ルール設計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なぜ重量と上昇負荷？
死亡損失は重すぎない？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72FFF49B-3C8F-4566-B216-DCEA6B6A1C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検証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面白さを何で判断する？
プレイテスト結果は？</a:t>
            </a:r>
          </a:p>
        </p:txBody>
      </p:sp>
    </p:spTree>
    <p:extLst>
      <p:ext uri="{BB962C8B-B14F-4D97-AF65-F5344CB8AC3E}">
        <p14:creationId xmlns:p14="http://schemas.microsoft.com/office/powerpoint/2010/main" val="1895609150"/>
      </p:ext>
    </p:extLst>
  </p:cSld>
</p:sld>
</file>

<file path=ppt/slides/slide2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9D2FCB8F-74A2-43D6-AA29-8F5159B084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21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202B3DF4-39A6-4ABB-86C8-55F89686E7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想定質問｜自動生成・データ設計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84A2464F-CB62-4997-AF1A-1D60329A96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生成方式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なぜ完全ランダムでない？
なぜ16×16ピース？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E600964-351E-493D-825C-C5DFCFCA94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成立保証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必ず通れるのか？
生成失敗時は？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CBCA820-CAD1-481A-BC2B-F184056612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再現・多様性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同じ生成を再現できる？
19ピースで十分？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012BAC6C-8575-43CF-AF26-145E2EE4C0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保存形式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version互換は？
壊れたJSONへの対応は？</a:t>
            </a:r>
          </a:p>
        </p:txBody>
      </p:sp>
    </p:spTree>
    <p:extLst>
      <p:ext uri="{BB962C8B-B14F-4D97-AF65-F5344CB8AC3E}">
        <p14:creationId xmlns:p14="http://schemas.microsoft.com/office/powerpoint/2010/main" val="1347109999"/>
      </p:ext>
    </p:extLst>
  </p:cSld>
</p:sld>
</file>

<file path=ppt/slides/slide2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1616091C-042E-47AD-B2E7-C165E4A857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22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E9EDB7EE-D0E6-458A-AB51-EE57A597F2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想定質問｜アーキテクチャ・性能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277CAE22-0E48-4158-8E95-D23B94E553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技術選択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なぜDirectX 11？
なぜUnityではない？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DD59D4BC-8EE4-4D94-B405-0D2EEB95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責務分割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Sceneが大きすぎない？
次にどう分ける？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2D0D95DC-DD3E-49C1-9413-19DEC31B2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データ境界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Editorと本編の共有方法は？
なぜ独自JSON parser？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315516AE-DF11-4099-BAAB-E978FB14B2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性能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ボトルネックは？
改善を実測した？</a:t>
            </a:r>
          </a:p>
        </p:txBody>
      </p:sp>
    </p:spTree>
    <p:extLst>
      <p:ext uri="{BB962C8B-B14F-4D97-AF65-F5344CB8AC3E}">
        <p14:creationId xmlns:p14="http://schemas.microsoft.com/office/powerpoint/2010/main" val="972663602"/>
      </p:ext>
    </p:extLst>
  </p:cSld>
</p:sld>
</file>

<file path=ppt/slides/slide2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C328C5B5-9076-45AF-8C27-CD6AE57C1B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23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0BC66950-9906-406C-B1DC-C4D238CFB2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想定質問｜品質・ビルド・配布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0608B4CB-545C-48E9-9FC5-C175937072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品質保証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どんなテストがある？
CIはある？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130B681D-1B0A-4A1F-AB1F-6933335C4A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ビルド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DebugとReleaseは通る？
警告は残っている？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A180B38A-0887-42E3-B0EA-96E10513D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再現性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別PCで動く？
絶対パスはなぜ残る？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1BCCADBA-468C-482C-BE03-96492756B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配布・権利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exeだけで動く？
素材の権利は説明できる？</a:t>
            </a:r>
          </a:p>
        </p:txBody>
      </p:sp>
    </p:spTree>
    <p:extLst>
      <p:ext uri="{BB962C8B-B14F-4D97-AF65-F5344CB8AC3E}">
        <p14:creationId xmlns:p14="http://schemas.microsoft.com/office/powerpoint/2010/main" val="2052773414"/>
      </p:ext>
    </p:extLst>
  </p:cSld>
</p:sld>
</file>

<file path=ppt/slides/slide2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7" name="Slide-Number-Placeholder-1-2">
            <a:extLst xmlns:a="http://schemas.openxmlformats.org/drawingml/2006/main">
              <a:ext uri="{FF2B5EF4-FFF2-40B4-BE49-F238E27FC236}">
                <a16:creationId xmlns:a16="http://schemas.microsoft.com/office/drawing/2014/main" id="{DDE48D69-2F1D-4943-B662-DC9520EB6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79219" y="6278594"/>
            <a:ext cx="519113" cy="24126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/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24</a:t>
            </a:r>
          </a:p>
        </p:txBody>
      </p:sp>
      <p:sp>
        <p:nvSpPr>
          <p:cNvPr id="2" name="Title-2-3">
            <a:extLst xmlns:a="http://schemas.openxmlformats.org/drawingml/2006/main">
              <a:ext uri="{FF2B5EF4-FFF2-40B4-BE49-F238E27FC236}">
                <a16:creationId xmlns:a16="http://schemas.microsoft.com/office/drawing/2014/main" id="{6784F7EC-576D-4B88-85E5-F82710CDB9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44043"/>
            <a:ext cx="11404568" cy="104746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9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想定質問｜担当範囲・開発プロセス</a:t>
            </a:r>
          </a:p>
        </p:txBody>
      </p:sp>
      <p:sp>
        <p:nvSpPr>
          <p:cNvPr id="3" name="Content-Placeholder-9-4">
            <a:extLst xmlns:a="http://schemas.openxmlformats.org/drawingml/2006/main">
              <a:ext uri="{FF2B5EF4-FFF2-40B4-BE49-F238E27FC236}">
                <a16:creationId xmlns:a16="http://schemas.microsoft.com/office/drawing/2014/main" id="{92744B1F-59E3-4C9C-A764-15BC771662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担当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どこまで自作？
流用基盤は何？</a:t>
            </a:r>
          </a:p>
        </p:txBody>
      </p:sp>
      <p:sp>
        <p:nvSpPr>
          <p:cNvPr id="4" name="Content-Placeholder-10-5">
            <a:extLst xmlns:a="http://schemas.openxmlformats.org/drawingml/2006/main">
              <a:ext uri="{FF2B5EF4-FFF2-40B4-BE49-F238E27FC236}">
                <a16:creationId xmlns:a16="http://schemas.microsoft.com/office/drawing/2014/main" id="{35E483B0-0B21-4CE5-AD19-B9D6F4B8BA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2031968"/>
            <a:ext cx="5537168" cy="16430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91440" tIns="45720" rIns="91440" bIns="45720"/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判断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一番難しかった点は？
何を優先した？</a:t>
            </a:r>
          </a:p>
        </p:txBody>
      </p:sp>
      <p:sp>
        <p:nvSpPr>
          <p:cNvPr id="5" name="Content-Placeholder-9-6">
            <a:extLst xmlns:a="http://schemas.openxmlformats.org/drawingml/2006/main">
              <a:ext uri="{FF2B5EF4-FFF2-40B4-BE49-F238E27FC236}">
                <a16:creationId xmlns:a16="http://schemas.microsoft.com/office/drawing/2014/main" id="{B3F0878F-1A40-4603-8F3A-00B65D155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反省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最大の失敗は？
今なら何を変える？</a:t>
            </a:r>
          </a:p>
        </p:txBody>
      </p:sp>
      <p:sp>
        <p:nvSpPr>
          <p:cNvPr id="6" name="Content-Placeholder-10-7">
            <a:extLst xmlns:a="http://schemas.openxmlformats.org/drawingml/2006/main">
              <a:ext uri="{FF2B5EF4-FFF2-40B4-BE49-F238E27FC236}">
                <a16:creationId xmlns:a16="http://schemas.microsoft.com/office/drawing/2014/main" id="{BF611775-AD11-4439-96D7-29809C72B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56592" y="4016978"/>
            <a:ext cx="5537168" cy="164315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成長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チームならどう進める？
AI・支援ツールの使い方は？</a:t>
            </a:r>
          </a:p>
        </p:txBody>
      </p:sp>
    </p:spTree>
    <p:extLst>
      <p:ext uri="{BB962C8B-B14F-4D97-AF65-F5344CB8AC3E}">
        <p14:creationId xmlns:p14="http://schemas.microsoft.com/office/powerpoint/2010/main" val="1113755906"/>
      </p:ext>
    </p:extLst>
  </p:cSld>
</p:sld>
</file>

<file path=ppt/slides/slide2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-3-1">
            <a:extLst xmlns:a="http://schemas.openxmlformats.org/drawingml/2006/main">
              <a:ext uri="{FF2B5EF4-FFF2-40B4-BE49-F238E27FC236}">
                <a16:creationId xmlns:a16="http://schemas.microsoft.com/office/drawing/2014/main" id="{13E51F5F-889E-4435-890A-0F132BFA11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1738789"/>
            <a:ext cx="9448800" cy="2491454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 anchor="b">
            <a:noAutofit/>
          </a:bodyPr>
          <a:lstStyle xmlns:a="http://schemas.openxmlformats.org/drawingml/2006/main"/>
          <a:p xmlns:a="http://schemas.openxmlformats.org/drawingml/2006/main">
            <a:pPr algn="l">
              <a:defRPr sz="60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示せるのは、
作る力だけではない</a:t>
            </a:r>
          </a:p>
        </p:txBody>
      </p:sp>
      <p:sp>
        <p:nvSpPr>
          <p:cNvPr id="2" name="Subtitle-4-2">
            <a:extLst xmlns:a="http://schemas.openxmlformats.org/drawingml/2006/main">
              <a:ext uri="{FF2B5EF4-FFF2-40B4-BE49-F238E27FC236}">
                <a16:creationId xmlns:a16="http://schemas.microsoft.com/office/drawing/2014/main" id="{E1EDA698-32BF-4039-879F-47043C9DF3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4973288"/>
            <a:ext cx="3568732" cy="108023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企画を構造へ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構造をツールへ</a:t>
            </a:r>
          </a:p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ツールを検証へ</a:t>
            </a:r>
          </a:p>
        </p:txBody>
      </p:sp>
      <p:sp>
        <p:nvSpPr>
          <p:cNvPr id="3" name="Subtitle-4-3">
            <a:extLst xmlns:a="http://schemas.openxmlformats.org/drawingml/2006/main">
              <a:ext uri="{FF2B5EF4-FFF2-40B4-BE49-F238E27FC236}">
                <a16:creationId xmlns:a16="http://schemas.microsoft.com/office/drawing/2014/main" id="{84A6B600-CFF0-48D0-A403-A48AD7E56C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668" y="392240"/>
            <a:ext cx="1612868" cy="649129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>
            <a:noAutofit/>
          </a:bodyPr>
          <a:lstStyle xmlns:a="http://schemas.openxmlformats.org/drawingml/2006/main"/>
          <a:p xmlns:a="http://schemas.openxmlformats.org/drawingml/2006/main">
            <a:pPr algn="l">
              <a:defRPr sz="2400">
                <a:solidFill>
                  <a:srgbClr val="000000"/>
                </a:solidFill>
                <a:latin typeface="Helvetica Neue"/>
                <a:ea typeface="Helvetica Neue"/>
                <a:cs typeface="Helvetica Neue"/>
              </a:defRPr>
            </a:pPr>
            <a:r>
              <a:t>NARAKU</a:t>
            </a:r>
          </a:p>
        </p:txBody>
      </p:sp>
    </p:spTree>
    <p:extLst>
      <p:ext uri="{BB962C8B-B14F-4D97-AF65-F5344CB8AC3E}">
        <p14:creationId xmlns:p14="http://schemas.microsoft.com/office/powerpoint/2010/main" val="36030140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2026-07-29T10:18:13.8440000Z</dcterms:created>
  <dcterms:modified xsi:type="dcterms:W3CDTF">2026-07-29T10:18:13.8440000Z</dcterms:modified>
</coreProperties>
</file>