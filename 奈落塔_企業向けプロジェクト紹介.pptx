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946" y="389"/>
      </p:cViewPr>
      <p:guideLst/>
    </p:cSldViewPr>
  </p:slideViewPr>
  <p:notesTextViewPr>
    <p:cViewPr>
      <p:scale>
        <a:sx n="3" d="2"/>
        <a:sy n="3" d="2"/>
      </p:scale>
      <p:origin x="0" y="-5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奈落塔は、探索で得た利益と帰還リスクの間で判断するゲームです。</a:t>
            </a:r>
          </a:p>
          <a:p>
            <a:r>
              <a:t>本資料では、企画の狙いだけでなく、実装・検証・残課題まで説明します。</a:t>
            </a:r>
          </a:p>
          <a:p>
            <a:endParaRPr/>
          </a:p>
          <a:p>
            <a:r>
              <a:t>[Sources]</a:t>
            </a:r>
          </a:p>
          <a:p>
            <a:r>
              <a:t>- C:\HAL\個人制作\NarakuProto\企画草案.md</a:t>
            </a:r>
          </a:p>
          <a:p>
            <a:r>
              <a:t>- C:\HAL\個人制作\NarakuProto\NARAKU_PROTO_DESIGN.md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企画だけ、エンジンだけではなく、遊びを検証するために必要な一連の仕組みを実装しました。</a:t>
            </a:r>
          </a:p>
          <a:p>
            <a:r>
              <a:t>企業向けには、作った機能数より、判断の理由と検証方法を中心に説明します。</a:t>
            </a:r>
          </a:p>
          <a:p>
            <a:endParaRPr/>
          </a:p>
          <a:p>
            <a:r>
              <a:t>[Sources]</a:t>
            </a:r>
          </a:p>
          <a:p>
            <a:r>
              <a:t>- C:\HAL\個人制作\NarakuProto\企画草案.md</a:t>
            </a:r>
          </a:p>
          <a:p>
            <a:r>
              <a:t>- C:\HAL\個人制作\NarakuProto\NARAKU_PROTO_DESIGN.md</a:t>
            </a:r>
          </a:p>
          <a:p>
            <a:r>
              <a:t>- C:\HAL\個人制作\NarakuProto\引き継ぎメモ.md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報酬と危険を別々に置くのではなく、潜るほど両方が増える構造です。</a:t>
            </a:r>
          </a:p>
          <a:p>
            <a:r>
              <a:t>目標は、プレイヤー自身が撤退時点を判断する体験を作ることです。</a:t>
            </a:r>
          </a:p>
          <a:p>
            <a:endParaRPr/>
          </a:p>
          <a:p>
            <a:r>
              <a:t>[Sources]</a:t>
            </a:r>
          </a:p>
          <a:p>
            <a:r>
              <a:t>- C:\HAL\個人制作\NarakuProto\企画草案.md</a:t>
            </a:r>
          </a:p>
          <a:p>
            <a:r>
              <a:t>- C:\HAL\個人制作\NarakuProto\NARAKU_PROTO_DESIGN.md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帰還して終わりではなく、売却・購入・装備変更・再潜行までを一周として実装しています。</a:t>
            </a:r>
          </a:p>
          <a:p>
            <a:r>
              <a:t>この循環が成立したことで、個別機能ではなくゲームループとして確認できます。</a:t>
            </a:r>
          </a:p>
          <a:p>
            <a:endParaRPr/>
          </a:p>
          <a:p>
            <a:r>
              <a:t>[Sources]</a:t>
            </a:r>
          </a:p>
          <a:p>
            <a:r>
              <a:t>- C:\HAL\個人制作\NarakuProto\企画草案.md</a:t>
            </a:r>
          </a:p>
          <a:p>
            <a:r>
              <a:t>- C:\HAL\個人制作\NarakuProto\タスクリスト.md</a:t>
            </a:r>
          </a:p>
          <a:p>
            <a:r>
              <a:t>- C:\HAL\個人制作\NarakuProto\DX22_Project\SceneNarakuProto.cpp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深さそのものではなく、持ち帰る価値が増えるほど帰還が難しくなるよう設計しました。</a:t>
            </a:r>
          </a:p>
          <a:p>
            <a:r>
              <a:t>重量は単なる所持上限ではなく、速度・スタミナ・使用可能アクションへ影響します。</a:t>
            </a:r>
          </a:p>
          <a:p>
            <a:endParaRPr/>
          </a:p>
          <a:p>
            <a:r>
              <a:t>[Sources]</a:t>
            </a:r>
          </a:p>
          <a:p>
            <a:r>
              <a:t>- C:\HAL\個人制作\NarakuProto\企画草案.md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上昇負荷は世界観の説明であると同時に、帰還を難しくするゲームルールです。</a:t>
            </a:r>
          </a:p>
          <a:p>
            <a:r>
              <a:t>設定とシステムを別々にせず、プレイヤーの判断へ接続しています。</a:t>
            </a:r>
          </a:p>
          <a:p>
            <a:endParaRPr/>
          </a:p>
          <a:p>
            <a:r>
              <a:t>[Sources]</a:t>
            </a:r>
          </a:p>
          <a:p>
            <a:r>
              <a:t>- C:\HAL\個人制作\NarakuProto\企画草案.md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企画草案の全要素を一度に作らず、中心判断に必要な仕組みを優先しました。</a:t>
            </a:r>
          </a:p>
          <a:p>
            <a:r>
              <a:t>個別名称の図鑑、依頼、市場変動などは中心判断の検証後へ回しています。</a:t>
            </a:r>
          </a:p>
          <a:p>
            <a:endParaRPr/>
          </a:p>
          <a:p>
            <a:r>
              <a:t>[Sources]</a:t>
            </a:r>
          </a:p>
          <a:p>
            <a:r>
              <a:t>- C:\HAL\個人制作\NarakuProto\企画草案.md</a:t>
            </a:r>
          </a:p>
          <a:p>
            <a:r>
              <a:t>- C:\HAL\個人制作\NarakuProto\タスクリスト.md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未実装項目は不足の一覧ではなく、プロトタイプの境界として説明します。</a:t>
            </a:r>
          </a:p>
          <a:p>
            <a:r>
              <a:t>完成版の構想と、今回検証する範囲を混同しないことが重要です。</a:t>
            </a:r>
          </a:p>
          <a:p>
            <a:endParaRPr/>
          </a:p>
          <a:p>
            <a:r>
              <a:t>[Sources]</a:t>
            </a:r>
          </a:p>
          <a:p>
            <a:r>
              <a:t>- C:\HAL\個人制作\NarakuProto\企画草案.md</a:t>
            </a:r>
          </a:p>
          <a:p>
            <a:r>
              <a:t>- C:\HAL\個人制作\NarakuProto\タスクリスト.md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エディタ専用データと本編専用データを手作業で二重管理しない構成です。</a:t>
            </a:r>
          </a:p>
          <a:p>
            <a:r>
              <a:t>制作した小ステージが生成され、同じ地形情報が描画と当たり判定に使われます。</a:t>
            </a:r>
          </a:p>
          <a:p>
            <a:endParaRPr/>
          </a:p>
          <a:p>
            <a:r>
              <a:t>[Sources]</a:t>
            </a:r>
          </a:p>
          <a:p>
            <a:r>
              <a:t>- C:\HAL\個人制作\NarakuProto\DX22_Project\NarakuPieceData.cpp</a:t>
            </a:r>
          </a:p>
          <a:p>
            <a:r>
              <a:t>- C:\HAL\個人制作\NarakuProto\DX22_Project\NarakuMapData.cpp</a:t>
            </a:r>
          </a:p>
          <a:p>
            <a:r>
              <a:t>- C:\HAL\個人制作\NarakuProto\DX22_Project\NarakuStageGenerator.cpp</a:t>
            </a:r>
          </a:p>
          <a:p>
            <a:r>
              <a:t>- C:\HAL\個人制作\NarakuProto\DX22_Project\SceneNarakuPieceEditor.cpp</a:t>
            </a:r>
          </a:p>
          <a:p>
            <a:r>
              <a:t>- C:\HAL\個人制作\NarakuProto\DX22_Project\SceneNarakuProto.cpp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完全ランダムではなく、人が設計した小ステージを制約で組み合わせます。</a:t>
            </a:r>
          </a:p>
          <a:p>
            <a:r>
              <a:t>配置ができても通れなければ成功とせず、MapData全体を再検証します。</a:t>
            </a:r>
          </a:p>
          <a:p>
            <a:endParaRPr/>
          </a:p>
          <a:p>
            <a:r>
              <a:t>[Sources]</a:t>
            </a:r>
          </a:p>
          <a:p>
            <a:r>
              <a:t>- C:\HAL\個人制作\NarakuProto\DX22_Project\NarakuStageGenerator.cpp</a:t>
            </a:r>
          </a:p>
          <a:p>
            <a:r>
              <a:t>- C:\HAL\個人制作\NarakuProto\DX22_Project\NarakuMapData.cpp</a:t>
            </a:r>
          </a:p>
          <a:p>
            <a:r>
              <a:t>- C:\HAL\個人制作\NarakuProto\DX22_Project\NarakuPieceData.cpp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現在のCompletedフォルダには19ピースがあり、1エリアでは16ピースを配置します。</a:t>
            </a:r>
          </a:p>
          <a:p>
            <a:r>
              <a:t>通常配置を最大100回試し、成立しない場合は中央ピースのフォールバックを1回試します。</a:t>
            </a:r>
          </a:p>
          <a:p>
            <a:r>
              <a:t>課題は、seed指定と大量生成による成功率・多様性の定量評価です。</a:t>
            </a:r>
          </a:p>
          <a:p>
            <a:endParaRPr/>
          </a:p>
          <a:p>
            <a:r>
              <a:t>[Sources]</a:t>
            </a:r>
          </a:p>
          <a:p>
            <a:r>
              <a:t>- C:\HAL\個人制作\NarakuProto\DX22_Project\NarakuStageGenerator.cpp</a:t>
            </a:r>
          </a:p>
          <a:p>
            <a:r>
              <a:t>- Repository inspection on 2026-07-29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データを作る機能だけでなく、生成に使える状態かを確認する機能まで実装しています。</a:t>
            </a:r>
          </a:p>
          <a:p>
            <a:r>
              <a:t>プレイテスト起動で、本編側へ同じデータを渡して確認できます。</a:t>
            </a:r>
          </a:p>
          <a:p>
            <a:endParaRPr/>
          </a:p>
          <a:p>
            <a:r>
              <a:t>[Sources]</a:t>
            </a:r>
          </a:p>
          <a:p>
            <a:r>
              <a:t>- C:\HAL\個人制作\NarakuProto\DX22_Project\SceneNarakuPieceEditor.cpp</a:t>
            </a:r>
          </a:p>
          <a:p>
            <a:r>
              <a:t>- C:\HAL\個人制作\NarakuProto\DX22_Project\NarakuPieceData.cpp</a:t>
            </a:r>
          </a:p>
          <a:p>
            <a:r>
              <a:t>- C:\HAL\個人制作\NarakuProto\タスクリスト.md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データ形式にはversionがありますが、Map読込はversionを評価していません。</a:t>
            </a:r>
          </a:p>
          <a:p>
            <a:r>
              <a:t>継続開発では、互換性・移行・拒否条件を明示する必要があります。</a:t>
            </a:r>
          </a:p>
          <a:p>
            <a:endParaRPr/>
          </a:p>
          <a:p>
            <a:r>
              <a:t>[Sources]</a:t>
            </a:r>
          </a:p>
          <a:p>
            <a:r>
              <a:t>- C:\HAL\個人制作\NarakuProto\DX22_Project\NarakuPieceData.cpp</a:t>
            </a:r>
          </a:p>
          <a:p>
            <a:r>
              <a:t>- C:\HAL\個人制作\NarakuProto\DX22_Project\NarakuMapData.cpp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個別システムの実装ではなく、潜行前後を含むゲームループとして成立しています。</a:t>
            </a:r>
          </a:p>
          <a:p>
            <a:r>
              <a:t>今後の重点は、機能追加より操作感と判断の質を検証することです。</a:t>
            </a:r>
          </a:p>
          <a:p>
            <a:endParaRPr/>
          </a:p>
          <a:p>
            <a:r>
              <a:t>[Sources]</a:t>
            </a:r>
          </a:p>
          <a:p>
            <a:r>
              <a:t>- C:\HAL\個人制作\NarakuProto\タスクリスト.md</a:t>
            </a:r>
          </a:p>
          <a:p>
            <a:r>
              <a:t>- C:\HAL\個人制作\NarakuProto\企画草案.md</a:t>
            </a:r>
          </a:p>
          <a:p>
            <a:r>
              <a:t>- C:\HAL\個人制作\NarakuProto\DX22_Project\SceneNarakuProto.cpp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ボトルネック候補を、セルごとのDraw呼出しと毎フレーム線生成に分解しました。</a:t>
            </a:r>
          </a:p>
          <a:p>
            <a:r>
              <a:t>床は1バッチ、敵も生存数に関係なく1バッチへ変更しています。</a:t>
            </a:r>
          </a:p>
          <a:p>
            <a:r>
              <a:t>数値はコードから求めた理論値です。FPSとGPU時間はまだ実測していません。</a:t>
            </a:r>
          </a:p>
          <a:p>
            <a:endParaRPr/>
          </a:p>
          <a:p>
            <a:r>
              <a:t>[Sources]</a:t>
            </a:r>
          </a:p>
          <a:p>
            <a:r>
              <a:t>- C:\HAL\個人制作\NarakuProto\最適化.md</a:t>
            </a:r>
          </a:p>
          <a:p>
            <a:r>
              <a:t>- C:\HAL\個人制作\NarakuProto\修正箇所.md</a:t>
            </a:r>
          </a:p>
          <a:p>
            <a:r>
              <a:t>- C:\HAL\個人制作\NarakuProto\操作概要.md</a:t>
            </a:r>
          </a:p>
          <a:p>
            <a:r>
              <a:t>- C:\HAL\個人制作\NarakuProto\DX22_Project\SceneNarakuProto.cpp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プロトタイプでは、将来の完全な拡張性より、遊びを一周できることを優先しました。</a:t>
            </a:r>
          </a:p>
          <a:p>
            <a:r>
              <a:t>一方で、負債を隠さず、継続時にどこを分離・検証するか説明できます。</a:t>
            </a:r>
          </a:p>
          <a:p>
            <a:endParaRPr/>
          </a:p>
          <a:p>
            <a:r>
              <a:t>[Sources]</a:t>
            </a:r>
          </a:p>
          <a:p>
            <a:r>
              <a:t>- C:\HAL\個人制作\NarakuProto\NARAKU_PROTO_DESIGN.md</a:t>
            </a:r>
          </a:p>
          <a:p>
            <a:r>
              <a:t>- C:\HAL\個人制作\NarakuProto\DX22_Project\SceneNarakuProto.cpp</a:t>
            </a:r>
          </a:p>
          <a:p>
            <a:r>
              <a:t>- C:\HAL\個人制作\NarakuProto\DX22_Project\SceneNarakuPieceEditor.cpp</a:t>
            </a:r>
          </a:p>
          <a:p>
            <a:r>
              <a:t>- Repository inspection on 2026-07-29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自分が設計・実装した範囲と、基盤として流用した範囲を最初から分けて話します。</a:t>
            </a:r>
          </a:p>
          <a:p>
            <a:r>
              <a:t>評価してほしい点は、基盤の上で企画を検証可能な制作パイプラインへしたことです。</a:t>
            </a:r>
          </a:p>
          <a:p>
            <a:endParaRPr/>
          </a:p>
          <a:p>
            <a:r>
              <a:t>[Sources]</a:t>
            </a:r>
          </a:p>
          <a:p>
            <a:r>
              <a:t>- C:\HAL\個人制作\NarakuProto\NARAKU_PROTO_DESIGN.md</a:t>
            </a:r>
          </a:p>
          <a:p>
            <a:r>
              <a:t>- C:\HAL\個人制作\NarakuProto\引き継ぎメモ.md</a:t>
            </a:r>
          </a:p>
          <a:p>
            <a:r>
              <a:t>- C:\HAL\個人制作\NarakuProto\DX22_Project\SceneNarakuProto.cpp</a:t>
            </a:r>
          </a:p>
          <a:p>
            <a:r>
              <a:t>- C:\HAL\個人制作\NarakuProto\DX22_Project\SceneNarakuPieceEditor.cpp</a:t>
            </a:r>
          </a:p>
          <a:p>
            <a:r>
              <a:t>- C:\HAL\個人制作\NarakuProto\DX22_Project\NarakuStageGenerator.cpp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ゲームとして未完成であることと、プロトタイプの目的を達成していることを分けて説明します。</a:t>
            </a:r>
          </a:p>
          <a:p>
            <a:r>
              <a:t>企業へ見せる前には、機能追加より再現性・出典・説明資料を優先します。</a:t>
            </a:r>
          </a:p>
          <a:p>
            <a:endParaRPr/>
          </a:p>
          <a:p>
            <a:r>
              <a:t>[Sources]</a:t>
            </a:r>
          </a:p>
          <a:p>
            <a:r>
              <a:t>- C:\HAL\個人制作\NarakuProto\タスクリスト.md</a:t>
            </a:r>
          </a:p>
          <a:p>
            <a:r>
              <a:t>- Repository inspection on 2026-07-29</a:t>
            </a:r>
          </a:p>
          <a:p>
            <a:r>
              <a:t>- C:\HAL\個人制作\NarakuProto\DX22_Project\DX22_Project.vcxproj</a:t>
            </a:r>
          </a:p>
          <a:p>
            <a:r>
              <a:t>- C:\HAL\個人制作\NarakuProto\DX22_Project\Defines.h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いきなり大規模な設計変更をせず、第三者評価と検証を先に成立させます。</a:t>
            </a:r>
          </a:p>
          <a:p>
            <a:r>
              <a:t>リファクタは、確認可能なテストや計測を作ってから行う方針です。</a:t>
            </a:r>
          </a:p>
          <a:p>
            <a:endParaRPr/>
          </a:p>
          <a:p>
            <a:r>
              <a:t>[Sources]</a:t>
            </a:r>
          </a:p>
          <a:p>
            <a:r>
              <a:t>- Repository inspection on 2026-07-29</a:t>
            </a:r>
          </a:p>
          <a:p>
            <a:r>
              <a:t>- C:\HAL\個人制作\NarakuProto\タスクリスト.md</a:t>
            </a:r>
          </a:p>
          <a:p>
            <a:r>
              <a:t>- C:\HAL\個人制作\NarakuProto\DX22_Project\SceneNarakuProto.h</a:t>
            </a:r>
          </a:p>
          <a:p>
            <a:r>
              <a:t>- C:\HAL\個人制作\NarakuProto\DX22_Project\SceneNarakuPieceEditor.h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回答軸: 題材は『進むほど帰りが難しくなる』判断を自然に作れるため。</a:t>
            </a:r>
          </a:p>
          <a:p>
            <a:r>
              <a:t>対象: 探索と資源管理、撤退判断を楽しむプレイヤー。</a:t>
            </a:r>
          </a:p>
          <a:p>
            <a:r>
              <a:t>差別化: 深さ・重量・上昇負荷・持帰り損失を同じ帰還判断へ集約。</a:t>
            </a:r>
          </a:p>
          <a:p>
            <a:r>
              <a:t>死亡損失: プロトでは軽め。所持金罰は未実装で、損失量はテスト対象。</a:t>
            </a:r>
          </a:p>
          <a:p>
            <a:r>
              <a:t>検証指標: 帰還を迷った回数、持帰り率、死亡原因、重量帯、再潜行意欲。</a:t>
            </a:r>
          </a:p>
          <a:p>
            <a:r>
              <a:t>現状: 機能確認はあるが、外部プレイヤーの定量記録は不足している。</a:t>
            </a:r>
          </a:p>
          <a:p>
            <a:endParaRPr/>
          </a:p>
          <a:p>
            <a:r>
              <a:t>[Sources]</a:t>
            </a:r>
          </a:p>
          <a:p>
            <a:r>
              <a:t>- C:\HAL\個人制作\NarakuProto\企画草案.md</a:t>
            </a:r>
          </a:p>
          <a:p>
            <a:r>
              <a:t>- C:\HAL\個人制作\NarakuProto\NARAKU_PROTO_DESIGN.md</a:t>
            </a:r>
          </a:p>
          <a:p>
            <a:r>
              <a:t>- C:\HAL\個人制作\NarakuProto\タスクリスト.md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完全ランダムを避けた理由: 人が意図した地形の読みやすさと生成の組合せを両立するため。</a:t>
            </a:r>
          </a:p>
          <a:p>
            <a:r>
              <a:t>16×16: 制作速度と一場面の意味を持たせられる大きさとして固定。</a:t>
            </a:r>
          </a:p>
          <a:p>
            <a:r>
              <a:t>成立保証: 辺カテゴリ照合に加え、生成後の開始・帰還・採掘点到達性を検証。</a:t>
            </a:r>
          </a:p>
          <a:p>
            <a:r>
              <a:t>失敗: 通常100回後に中央フォールバック。それでも失敗すればエラー。</a:t>
            </a:r>
          </a:p>
          <a:p>
            <a:r>
              <a:t>再現性: 現在は時刻seedで、外部指定・ログ記録がなく未対応。</a:t>
            </a:r>
          </a:p>
          <a:p>
            <a:r>
              <a:t>多様性: 19はプロト成立用。重複率と体感差の定量評価が次の課題。</a:t>
            </a:r>
          </a:p>
          <a:p>
            <a:r>
              <a:t>互換性: versionは保存するが、明示的な移行・拒否方針は未整備。</a:t>
            </a:r>
          </a:p>
          <a:p>
            <a:r>
              <a:t>不正JSON: 読込失敗は返せるが、境界値の自動テストが必要。</a:t>
            </a:r>
          </a:p>
          <a:p>
            <a:endParaRPr/>
          </a:p>
          <a:p>
            <a:r>
              <a:t>[Sources]</a:t>
            </a:r>
          </a:p>
          <a:p>
            <a:r>
              <a:t>- C:\HAL\個人制作\NarakuProto\DX22_Project\NarakuStageGenerator.cpp</a:t>
            </a:r>
          </a:p>
          <a:p>
            <a:r>
              <a:t>- C:\HAL\個人制作\NarakuProto\DX22_Project\NarakuMapData.cpp</a:t>
            </a:r>
          </a:p>
          <a:p>
            <a:r>
              <a:t>- C:\HAL\個人制作\NarakuProto\DX22_Project\NarakuPieceData.cpp</a:t>
            </a:r>
          </a:p>
          <a:p>
            <a:r>
              <a:t>- Repository inspection on 2026-07-29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DirectX 11: 学校基盤を活用し、描画・入力・リソース管理を理解しながら実装する目的。</a:t>
            </a:r>
          </a:p>
          <a:p>
            <a:r>
              <a:t>Unityとの差: 開発速度は劣るが、ドローコールやバッファ更新を自分で分析できた。</a:t>
            </a:r>
          </a:p>
          <a:p>
            <a:r>
              <a:t>Scene肥大: プロト速度のため受け入れた負債。Runtime state、UI、render、area sessionへ分離予定。</a:t>
            </a:r>
          </a:p>
          <a:p>
            <a:r>
              <a:t>共有方法: PieceDataをGeneratorがMapDataへ変換し、RuntimeがMapDataを読む。</a:t>
            </a:r>
          </a:p>
          <a:p>
            <a:r>
              <a:t>独自parser: 新規依存を増やさないため。ただし重複と検証負担は認識している。</a:t>
            </a:r>
          </a:p>
          <a:p>
            <a:r>
              <a:t>ボトルネック: セル単位Drawと線バッファ転送。</a:t>
            </a:r>
          </a:p>
          <a:p>
            <a:r>
              <a:t>改善: 理論上の呼出し削減は確認。FPS・GPU時間は未計測。</a:t>
            </a:r>
          </a:p>
          <a:p>
            <a:r>
              <a:t>次の計測: 同一map・camera・resolutionでRelease比較し、Scene DrawとPresentを分離。</a:t>
            </a:r>
          </a:p>
          <a:p>
            <a:endParaRPr/>
          </a:p>
          <a:p>
            <a:r>
              <a:t>[Sources]</a:t>
            </a:r>
          </a:p>
          <a:p>
            <a:r>
              <a:t>- C:\HAL\個人制作\NarakuProto\NARAKU_PROTO_DESIGN.md</a:t>
            </a:r>
          </a:p>
          <a:p>
            <a:r>
              <a:t>- C:\HAL\個人制作\NarakuProto\DX22_Project\SceneNarakuProto.cpp</a:t>
            </a:r>
          </a:p>
          <a:p>
            <a:r>
              <a:t>- C:\HAL\個人制作\NarakuProto\DX22_Project\SceneNarakuPieceEditor.cpp</a:t>
            </a:r>
          </a:p>
          <a:p>
            <a:r>
              <a:t>- C:\HAL\個人制作\NarakuProto\DX22_Project\NarakuMapData.cpp</a:t>
            </a:r>
          </a:p>
          <a:p>
            <a:r>
              <a:t>- C:\HAL\個人制作\NarakuProto\DX22_Project\NarakuPieceData.cpp</a:t>
            </a:r>
          </a:p>
          <a:p>
            <a:r>
              <a:t>- C:\HAL\個人制作\NarakuProto\最適化.md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テスト: 現状はEditor validationと手動プレイ確認が中心。専用テストとCIはない。</a:t>
            </a:r>
          </a:p>
          <a:p>
            <a:r>
              <a:t>追加優先: JSON round-trip、validation、複数seed生成、主要ゲームループ。</a:t>
            </a:r>
          </a:p>
          <a:p>
            <a:r>
              <a:t>ビルド: Debug/Release x64は成功。Release cleanでは既存警告が残る。</a:t>
            </a:r>
          </a:p>
          <a:p>
            <a:r>
              <a:t>別PC: C:\HALの絶対パスがMap/Piece/Hierarchyに残り、修正が必要。</a:t>
            </a:r>
          </a:p>
          <a:p>
            <a:r>
              <a:t>配布: Release出力へAssetsと依存DLLをまとめる工程が未整備。</a:t>
            </a:r>
          </a:p>
          <a:p>
            <a:r>
              <a:t>権利: フォント・BGM・画像・モデル・第三者ライブラリの一覧化が必要。</a:t>
            </a:r>
          </a:p>
          <a:p>
            <a:r>
              <a:t>回答姿勢: 未整備点を隠さず、優先順位と検証方法まで説明する。</a:t>
            </a:r>
          </a:p>
          <a:p>
            <a:r>
              <a:t>ポートフォリオ前: 最新状態をcommitし、cloneからの手順を確認する。</a:t>
            </a:r>
          </a:p>
          <a:p>
            <a:endParaRPr/>
          </a:p>
          <a:p>
            <a:r>
              <a:t>[Sources]</a:t>
            </a:r>
          </a:p>
          <a:p>
            <a:r>
              <a:t>- Repository inspection on 2026-07-29</a:t>
            </a:r>
          </a:p>
          <a:p>
            <a:r>
              <a:t>- C:\HAL\個人制作\NarakuProto\DX22_Project\DX22_Project.vcxproj</a:t>
            </a:r>
          </a:p>
          <a:p>
            <a:r>
              <a:t>- C:\HAL\個人制作\NarakuProto\DX22_Project\Defines.h</a:t>
            </a:r>
          </a:p>
          <a:p>
            <a:r>
              <a:t>- C:\HAL\個人制作\NarakuProto\操作概要.md</a:t>
            </a:r>
          </a:p>
          <a:p>
            <a:r>
              <a:t>- C:\HAL\個人制作\NarakuProto\DX22_Project\NarakuMapData.cpp</a:t>
            </a:r>
          </a:p>
          <a:p>
            <a:r>
              <a:t>- C:\HAL\個人制作\NarakuProto\DX22_Project\NarakuPieceData.cpp</a:t>
            </a:r>
          </a:p>
          <a:p>
            <a:r>
              <a:t>- C:\HAL\個人制作\NarakuProto\DX22_Project\SceneNarakuPieceEditor.cpp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自作: 奈落塔企画、Piece/Map、Editor、Generator、Runtime、最適化。</a:t>
            </a:r>
          </a:p>
          <a:p>
            <a:r>
              <a:t>流用: DirectX初期化、Input、Texture、Model、ImGui、Assimp、DirectXTex。</a:t>
            </a:r>
          </a:p>
          <a:p>
            <a:r>
              <a:t>難所候補: 生成後の到達性、EditorとRuntimeのデータ一致、描画バッチ化。</a:t>
            </a:r>
          </a:p>
          <a:p>
            <a:r>
              <a:t>優先: 中心ループを一周させるため、見た目と将来機能を後回し。</a:t>
            </a:r>
          </a:p>
          <a:p>
            <a:r>
              <a:t>失敗: Scene肥大、絶対パス、test/CI後回し、文書と実装のずれ。</a:t>
            </a:r>
          </a:p>
          <a:p>
            <a:r>
              <a:t>今なら: 早期にseed・round-trip test・portable pathを作る。</a:t>
            </a:r>
          </a:p>
          <a:p>
            <a:r>
              <a:t>チーム: データ契約と完了条件を共有し、Editor/Runtime/QAを分担。</a:t>
            </a:r>
          </a:p>
          <a:p>
            <a:r>
              <a:t>AI利用: 提案をそのまま採用せず、差分・ビルド・実機結果で確認する。</a:t>
            </a:r>
          </a:p>
          <a:p>
            <a:endParaRPr/>
          </a:p>
          <a:p>
            <a:r>
              <a:t>[Sources]</a:t>
            </a:r>
          </a:p>
          <a:p>
            <a:r>
              <a:t>- C:\HAL\個人制作\NarakuProto\NARAKU_PROTO_DESIGN.md</a:t>
            </a:r>
          </a:p>
          <a:p>
            <a:r>
              <a:t>- C:\HAL\個人制作\NarakuProto\引き継ぎメモ.md</a:t>
            </a:r>
          </a:p>
          <a:p>
            <a:r>
              <a:t>- Repository inspection on 2026-07-29</a:t>
            </a:r>
          </a:p>
          <a:p>
            <a:r>
              <a:t>- C:\HAL\個人制作\NarakuProto\DX22_Project\SceneNarakuProto.cpp</a:t>
            </a:r>
          </a:p>
          <a:p>
            <a:r>
              <a:t>- C:\HAL\個人制作\NarakuProto\DX22_Project\SceneNarakuPieceEditor.cpp</a:t>
            </a:r>
          </a:p>
          <a:p>
            <a:r>
              <a:t>- C:\HAL\個人制作\NarakuProto\DX22_Project\NarakuStageGenerator.cpp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奈落塔で示したいのは、企画を実装へ落とし、制作と検証を回す力です。</a:t>
            </a:r>
          </a:p>
          <a:p>
            <a:r>
              <a:t>未完成点も含め、次に何を確かめ、どう改善するかまで説明できます。</a:t>
            </a:r>
          </a:p>
          <a:p>
            <a:endParaRPr/>
          </a:p>
          <a:p>
            <a:r>
              <a:t>[Sources]</a:t>
            </a:r>
          </a:p>
          <a:p>
            <a:r>
              <a:t>- C:\HAL\個人制作\NarakuProto\企画草案.md</a:t>
            </a:r>
          </a:p>
          <a:p>
            <a:r>
              <a:t>- C:\HAL\個人制作\NarakuProto\DX22_Project\NarakuStageGenerator.cpp</a:t>
            </a:r>
          </a:p>
          <a:p>
            <a:r>
              <a:t>- C:\HAL\個人制作\NarakuProto\DX22_Project\SceneNarakuPieceEditor.cpp</a:t>
            </a:r>
          </a:p>
          <a:p>
            <a:r>
              <a:t>- C:\HAL\個人制作\NarakuProto\DX22_Project\SceneNarakuProto.cpp</a:t>
            </a:r>
          </a:p>
          <a:p>
            <a:r>
              <a:t>- C:\HAL\個人制作\NarakuProto\最適化.md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-3-1">
            <a:extLst>
              <a:ext uri="{FF2B5EF4-FFF2-40B4-BE49-F238E27FC236}">
                <a16:creationId xmlns:a16="http://schemas.microsoft.com/office/drawing/2014/main" id="{1F1B6C6A-527B-442D-BB6A-C9DD3D26122A}"/>
              </a:ext>
            </a:extLst>
          </p:cNvPr>
          <p:cNvSpPr>
            <a:spLocks noGrp="1"/>
          </p:cNvSpPr>
          <p:nvPr/>
        </p:nvSpPr>
        <p:spPr>
          <a:xfrm>
            <a:off x="393668" y="1738789"/>
            <a:ext cx="9448800" cy="2491454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/>
          <a:p>
            <a:pPr algn="l"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奈落塔</a:t>
            </a:r>
          </a:p>
        </p:txBody>
      </p:sp>
      <p:sp>
        <p:nvSpPr>
          <p:cNvPr id="2" name="Subtitle-4-2">
            <a:extLst>
              <a:ext uri="{FF2B5EF4-FFF2-40B4-BE49-F238E27FC236}">
                <a16:creationId xmlns:a16="http://schemas.microsoft.com/office/drawing/2014/main" id="{17B1D46A-CF4A-4BC5-AD2F-6FF2EF768E60}"/>
              </a:ext>
            </a:extLst>
          </p:cNvPr>
          <p:cNvSpPr>
            <a:spLocks noGrp="1"/>
          </p:cNvSpPr>
          <p:nvPr/>
        </p:nvSpPr>
        <p:spPr>
          <a:xfrm>
            <a:off x="393668" y="4742212"/>
            <a:ext cx="5702332" cy="108023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2.5D探索サバイバルローグライト
まだ潜るか、もう帰るか</a:t>
            </a:r>
          </a:p>
        </p:txBody>
      </p:sp>
      <p:sp>
        <p:nvSpPr>
          <p:cNvPr id="3" name="Subtitle-4-3">
            <a:extLst>
              <a:ext uri="{FF2B5EF4-FFF2-40B4-BE49-F238E27FC236}">
                <a16:creationId xmlns:a16="http://schemas.microsoft.com/office/drawing/2014/main" id="{E5342412-62DF-4216-B380-45A67EDB76F0}"/>
              </a:ext>
            </a:extLst>
          </p:cNvPr>
          <p:cNvSpPr>
            <a:spLocks noGrp="1"/>
          </p:cNvSpPr>
          <p:nvPr/>
        </p:nvSpPr>
        <p:spPr>
          <a:xfrm>
            <a:off x="393668" y="392240"/>
            <a:ext cx="5702332" cy="649129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PROJECT PORTFOLIO</a:t>
            </a:r>
          </a:p>
        </p:txBody>
      </p:sp>
    </p:spTree>
    <p:extLst>
      <p:ext uri="{BB962C8B-B14F-4D97-AF65-F5344CB8AC3E}">
        <p14:creationId xmlns:p14="http://schemas.microsoft.com/office/powerpoint/2010/main" val="17782753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-Shape-532-p58-2">
            <a:extLst>
              <a:ext uri="{FF2B5EF4-FFF2-40B4-BE49-F238E27FC236}">
                <a16:creationId xmlns:a16="http://schemas.microsoft.com/office/drawing/2014/main" id="{A10FB430-651A-421B-94E3-66B5EAB9B34C}"/>
              </a:ext>
            </a:extLst>
          </p:cNvPr>
          <p:cNvSpPr>
            <a:spLocks noGrp="1"/>
          </p:cNvSpPr>
          <p:nvPr/>
        </p:nvSpPr>
        <p:spPr>
          <a:xfrm>
            <a:off x="11279315" y="6279261"/>
            <a:ext cx="518922" cy="241268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/>
          <a:p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02</a:t>
            </a:r>
          </a:p>
        </p:txBody>
      </p:sp>
      <p:sp>
        <p:nvSpPr>
          <p:cNvPr id="2" name="Google-Shape-533-p58-3">
            <a:extLst>
              <a:ext uri="{FF2B5EF4-FFF2-40B4-BE49-F238E27FC236}">
                <a16:creationId xmlns:a16="http://schemas.microsoft.com/office/drawing/2014/main" id="{91CC4FD4-9A6B-4F02-BB9C-C40B936185A2}"/>
              </a:ext>
            </a:extLst>
          </p:cNvPr>
          <p:cNvSpPr>
            <a:spLocks noGrp="1"/>
          </p:cNvSpPr>
          <p:nvPr/>
        </p:nvSpPr>
        <p:spPr>
          <a:xfrm>
            <a:off x="393668" y="344519"/>
            <a:ext cx="11404568" cy="644271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/>
              <a:t>企画と技術を、一つの検証可能なプロトタイプにした</a:t>
            </a:r>
          </a:p>
        </p:txBody>
      </p:sp>
      <p:sp>
        <p:nvSpPr>
          <p:cNvPr id="3" name="Rounded-Rectangle-1-4">
            <a:extLst>
              <a:ext uri="{FF2B5EF4-FFF2-40B4-BE49-F238E27FC236}">
                <a16:creationId xmlns:a16="http://schemas.microsoft.com/office/drawing/2014/main" id="{6316E7C3-0CA6-44B4-B7CE-98DF780A05DF}"/>
              </a:ext>
            </a:extLst>
          </p:cNvPr>
          <p:cNvSpPr>
            <a:spLocks noGrp="1"/>
          </p:cNvSpPr>
          <p:nvPr/>
        </p:nvSpPr>
        <p:spPr>
          <a:xfrm>
            <a:off x="397002" y="3339084"/>
            <a:ext cx="5533930" cy="1320832"/>
          </a:xfrm>
          <a:prstGeom prst="roundRect">
            <a:avLst>
              <a:gd name="adj" fmla="val 5769"/>
            </a:avLst>
          </a:prstGeom>
          <a:solidFill>
            <a:srgbClr val="F2F2F2"/>
          </a:solidFill>
        </p:spPr>
        <p:txBody>
          <a:bodyPr/>
          <a:lstStyle/>
          <a:p>
            <a:endParaRPr lang="ja-JP" altLang="en-US"/>
          </a:p>
        </p:txBody>
      </p:sp>
      <p:sp>
        <p:nvSpPr>
          <p:cNvPr id="4" name="Content-Placeholder-10-5">
            <a:extLst>
              <a:ext uri="{FF2B5EF4-FFF2-40B4-BE49-F238E27FC236}">
                <a16:creationId xmlns:a16="http://schemas.microsoft.com/office/drawing/2014/main" id="{C9EBA422-85A4-45F9-B59C-33C90961515D}"/>
              </a:ext>
            </a:extLst>
          </p:cNvPr>
          <p:cNvSpPr>
            <a:spLocks noGrp="1"/>
          </p:cNvSpPr>
          <p:nvPr/>
        </p:nvSpPr>
        <p:spPr>
          <a:xfrm>
            <a:off x="694277" y="3587972"/>
            <a:ext cx="4986909" cy="877824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GAME DESIGN</a:t>
            </a:r>
          </a:p>
        </p:txBody>
      </p:sp>
      <p:sp>
        <p:nvSpPr>
          <p:cNvPr id="5" name="Content-Placeholder-15-6">
            <a:extLst>
              <a:ext uri="{FF2B5EF4-FFF2-40B4-BE49-F238E27FC236}">
                <a16:creationId xmlns:a16="http://schemas.microsoft.com/office/drawing/2014/main" id="{F9AB5693-F318-4966-8640-116137C0E663}"/>
              </a:ext>
            </a:extLst>
          </p:cNvPr>
          <p:cNvSpPr>
            <a:spLocks noGrp="1"/>
          </p:cNvSpPr>
          <p:nvPr/>
        </p:nvSpPr>
        <p:spPr>
          <a:xfrm>
            <a:off x="694277" y="4828604"/>
            <a:ext cx="5236655" cy="977932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 dirty="0" err="1"/>
              <a:t>探索と帰還</a:t>
            </a:r>
            <a:endParaRPr sz="2000" dirty="0"/>
          </a:p>
          <a:p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 dirty="0" err="1"/>
              <a:t>重量と上昇負荷</a:t>
            </a:r>
            <a:endParaRPr sz="2000" dirty="0"/>
          </a:p>
          <a:p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 dirty="0" err="1"/>
              <a:t>採掘・売却・再潜行</a:t>
            </a:r>
            <a:endParaRPr sz="2000" dirty="0"/>
          </a:p>
        </p:txBody>
      </p:sp>
      <p:sp>
        <p:nvSpPr>
          <p:cNvPr id="6" name="Rounded-Rectangle-7-7">
            <a:extLst>
              <a:ext uri="{FF2B5EF4-FFF2-40B4-BE49-F238E27FC236}">
                <a16:creationId xmlns:a16="http://schemas.microsoft.com/office/drawing/2014/main" id="{32E9CBA5-D311-4265-B22F-79E07AD3AA75}"/>
              </a:ext>
            </a:extLst>
          </p:cNvPr>
          <p:cNvSpPr>
            <a:spLocks noGrp="1"/>
          </p:cNvSpPr>
          <p:nvPr/>
        </p:nvSpPr>
        <p:spPr>
          <a:xfrm>
            <a:off x="6260783" y="3339084"/>
            <a:ext cx="5533930" cy="1320832"/>
          </a:xfrm>
          <a:prstGeom prst="roundRect">
            <a:avLst>
              <a:gd name="adj" fmla="val 5769"/>
            </a:avLst>
          </a:prstGeom>
          <a:solidFill>
            <a:srgbClr val="F2F2F2"/>
          </a:solidFill>
        </p:spPr>
        <p:txBody>
          <a:bodyPr/>
          <a:lstStyle/>
          <a:p>
            <a:endParaRPr lang="ja-JP" altLang="en-US"/>
          </a:p>
        </p:txBody>
      </p:sp>
      <p:sp>
        <p:nvSpPr>
          <p:cNvPr id="7" name="Content-Placeholder-10-8">
            <a:extLst>
              <a:ext uri="{FF2B5EF4-FFF2-40B4-BE49-F238E27FC236}">
                <a16:creationId xmlns:a16="http://schemas.microsoft.com/office/drawing/2014/main" id="{1E81C2A9-77FB-4F43-B186-842655E83DF5}"/>
              </a:ext>
            </a:extLst>
          </p:cNvPr>
          <p:cNvSpPr>
            <a:spLocks noGrp="1"/>
          </p:cNvSpPr>
          <p:nvPr/>
        </p:nvSpPr>
        <p:spPr>
          <a:xfrm>
            <a:off x="6558058" y="3587972"/>
            <a:ext cx="4986909" cy="877824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ENGINEERING</a:t>
            </a:r>
          </a:p>
        </p:txBody>
      </p:sp>
      <p:sp>
        <p:nvSpPr>
          <p:cNvPr id="8" name="Content-Placeholder-15-9">
            <a:extLst>
              <a:ext uri="{FF2B5EF4-FFF2-40B4-BE49-F238E27FC236}">
                <a16:creationId xmlns:a16="http://schemas.microsoft.com/office/drawing/2014/main" id="{E9DF52CC-FA82-4B10-996F-0E8BC901E7DB}"/>
              </a:ext>
            </a:extLst>
          </p:cNvPr>
          <p:cNvSpPr>
            <a:spLocks noGrp="1"/>
          </p:cNvSpPr>
          <p:nvPr/>
        </p:nvSpPr>
        <p:spPr>
          <a:xfrm>
            <a:off x="6558058" y="4828604"/>
            <a:ext cx="5236655" cy="977932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/>
              <a:t>DirectX 11</a:t>
            </a:r>
          </a:p>
          <a:p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/>
              <a:t>小ステージEditor</a:t>
            </a:r>
          </a:p>
          <a:p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/>
              <a:t>制約付き生成・検証</a:t>
            </a:r>
          </a:p>
        </p:txBody>
      </p:sp>
      <p:sp>
        <p:nvSpPr>
          <p:cNvPr id="9" name="Content-Placeholder-15-10">
            <a:extLst>
              <a:ext uri="{FF2B5EF4-FFF2-40B4-BE49-F238E27FC236}">
                <a16:creationId xmlns:a16="http://schemas.microsoft.com/office/drawing/2014/main" id="{4E92B7D9-F4B7-4E2C-BB73-5E0542FA304B}"/>
              </a:ext>
            </a:extLst>
          </p:cNvPr>
          <p:cNvSpPr>
            <a:spLocks noGrp="1"/>
          </p:cNvSpPr>
          <p:nvPr/>
        </p:nvSpPr>
        <p:spPr>
          <a:xfrm>
            <a:off x="400907" y="1157478"/>
            <a:ext cx="11404568" cy="1629251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00" dirty="0" err="1"/>
              <a:t>プロジェクトの狙い</a:t>
            </a:r>
            <a:endParaRPr sz="2800" dirty="0"/>
          </a:p>
          <a:p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00" dirty="0" err="1"/>
              <a:t>遊びの中心判断を早く確かめるため</a:t>
            </a:r>
            <a:r>
              <a:rPr sz="2800" dirty="0"/>
              <a:t>、</a:t>
            </a:r>
            <a:endParaRPr lang="en-US" sz="2800" dirty="0"/>
          </a:p>
          <a:p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00" dirty="0" err="1"/>
              <a:t>ゲーム本編と制作ツールを同時に構築</a:t>
            </a:r>
            <a:r>
              <a:rPr sz="2800" dirty="0"/>
              <a:t>。</a:t>
            </a:r>
          </a:p>
          <a:p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00" dirty="0" err="1"/>
              <a:t>完成品の量ではなく</a:t>
            </a:r>
            <a:r>
              <a:rPr sz="2800" dirty="0"/>
              <a:t>、</a:t>
            </a:r>
            <a:endParaRPr lang="en-US" sz="2800" dirty="0"/>
          </a:p>
          <a:p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00" dirty="0" err="1"/>
              <a:t>設計→制作→検証の流れを成立させることを優先</a:t>
            </a:r>
            <a:r>
              <a:rPr sz="2800" dirty="0"/>
              <a:t>。</a:t>
            </a:r>
            <a:endParaRPr lang="en-US" sz="2800" dirty="0"/>
          </a:p>
          <a:p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endParaRPr sz="2800" dirty="0"/>
          </a:p>
        </p:txBody>
      </p:sp>
    </p:spTree>
    <p:extLst>
      <p:ext uri="{BB962C8B-B14F-4D97-AF65-F5344CB8AC3E}">
        <p14:creationId xmlns:p14="http://schemas.microsoft.com/office/powerpoint/2010/main" val="6606094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-Shape-532-p58-2">
            <a:extLst>
              <a:ext uri="{FF2B5EF4-FFF2-40B4-BE49-F238E27FC236}">
                <a16:creationId xmlns:a16="http://schemas.microsoft.com/office/drawing/2014/main" id="{996CCE1E-7354-4EE6-82D6-85D517822FBB}"/>
              </a:ext>
            </a:extLst>
          </p:cNvPr>
          <p:cNvSpPr>
            <a:spLocks noGrp="1"/>
          </p:cNvSpPr>
          <p:nvPr/>
        </p:nvSpPr>
        <p:spPr>
          <a:xfrm>
            <a:off x="11279315" y="6279261"/>
            <a:ext cx="518922" cy="241268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/>
          <a:p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03</a:t>
            </a:r>
          </a:p>
        </p:txBody>
      </p:sp>
      <p:sp>
        <p:nvSpPr>
          <p:cNvPr id="2" name="Google-Shape-533-p58-3">
            <a:extLst>
              <a:ext uri="{FF2B5EF4-FFF2-40B4-BE49-F238E27FC236}">
                <a16:creationId xmlns:a16="http://schemas.microsoft.com/office/drawing/2014/main" id="{E9C53758-96C8-4EB4-9928-98438B624646}"/>
              </a:ext>
            </a:extLst>
          </p:cNvPr>
          <p:cNvSpPr>
            <a:spLocks noGrp="1"/>
          </p:cNvSpPr>
          <p:nvPr/>
        </p:nvSpPr>
        <p:spPr>
          <a:xfrm>
            <a:off x="393668" y="344043"/>
            <a:ext cx="11404568" cy="1047464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dirty="0" err="1"/>
              <a:t>企画の中心は「もう一つ掘るか、今帰るか</a:t>
            </a:r>
            <a:r>
              <a:rPr sz="3600" dirty="0"/>
              <a:t>」</a:t>
            </a:r>
          </a:p>
        </p:txBody>
      </p:sp>
      <p:sp>
        <p:nvSpPr>
          <p:cNvPr id="3" name="Google-Shape-534-p58-4">
            <a:extLst>
              <a:ext uri="{FF2B5EF4-FFF2-40B4-BE49-F238E27FC236}">
                <a16:creationId xmlns:a16="http://schemas.microsoft.com/office/drawing/2014/main" id="{CEF59854-C1B9-4989-8471-8B8B12714DCD}"/>
              </a:ext>
            </a:extLst>
          </p:cNvPr>
          <p:cNvSpPr>
            <a:spLocks noGrp="1"/>
          </p:cNvSpPr>
          <p:nvPr/>
        </p:nvSpPr>
        <p:spPr>
          <a:xfrm>
            <a:off x="393668" y="2336769"/>
            <a:ext cx="5537168" cy="3534823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ja-JP" altLang="en-US" sz="3200" dirty="0"/>
              <a:t>チャレンジする</a:t>
            </a:r>
            <a:r>
              <a:rPr sz="3200" dirty="0" err="1"/>
              <a:t>理由</a:t>
            </a:r>
            <a:endParaRPr sz="3200" dirty="0"/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00" dirty="0" err="1"/>
              <a:t>深い場所ほど価値の</a:t>
            </a:r>
            <a:endParaRPr lang="en-US" sz="2800" dirty="0"/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00" dirty="0" err="1"/>
              <a:t>高い旧器が手に入る</a:t>
            </a:r>
            <a:r>
              <a:rPr sz="2800" dirty="0"/>
              <a:t>。
</a:t>
            </a:r>
            <a:r>
              <a:rPr sz="2800" dirty="0" err="1"/>
              <a:t>未探索地点と未知の報酬が</a:t>
            </a:r>
            <a:r>
              <a:rPr sz="2800" dirty="0"/>
              <a:t>、</a:t>
            </a:r>
            <a:endParaRPr lang="en-US" sz="2800" dirty="0"/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00" dirty="0" err="1"/>
              <a:t>前進を促す</a:t>
            </a:r>
            <a:r>
              <a:rPr sz="2800" dirty="0"/>
              <a:t>。</a:t>
            </a:r>
          </a:p>
        </p:txBody>
      </p:sp>
      <p:sp>
        <p:nvSpPr>
          <p:cNvPr id="4" name="Content-Placeholder-3-5">
            <a:extLst>
              <a:ext uri="{FF2B5EF4-FFF2-40B4-BE49-F238E27FC236}">
                <a16:creationId xmlns:a16="http://schemas.microsoft.com/office/drawing/2014/main" id="{C810DEA1-2821-498D-AF8F-E1D1ABC623D9}"/>
              </a:ext>
            </a:extLst>
          </p:cNvPr>
          <p:cNvSpPr>
            <a:spLocks noGrp="1"/>
          </p:cNvSpPr>
          <p:nvPr/>
        </p:nvSpPr>
        <p:spPr>
          <a:xfrm>
            <a:off x="5930836" y="2336769"/>
            <a:ext cx="5862924" cy="3534823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dirty="0" err="1"/>
              <a:t>帰る</a:t>
            </a:r>
            <a:r>
              <a:rPr lang="ja-JP" altLang="en-US" sz="3600" dirty="0"/>
              <a:t>ときは</a:t>
            </a:r>
            <a:r>
              <a:rPr lang="en-US" altLang="ja-JP" sz="3600" dirty="0"/>
              <a:t>…</a:t>
            </a:r>
            <a:endParaRPr sz="2800" dirty="0"/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00" dirty="0" err="1"/>
              <a:t>重量・体力・スタミナ・上昇負荷</a:t>
            </a:r>
            <a:endParaRPr lang="en-US" sz="2800" dirty="0"/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00" dirty="0" err="1"/>
              <a:t>が帰還を難しくする</a:t>
            </a:r>
            <a:r>
              <a:rPr sz="2800" dirty="0"/>
              <a:t>。
</a:t>
            </a:r>
            <a:r>
              <a:rPr sz="2800" dirty="0" err="1"/>
              <a:t>死亡すれば持ち物と</a:t>
            </a:r>
            <a:endParaRPr lang="en-US" sz="2800" dirty="0"/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00" dirty="0" err="1"/>
              <a:t>探索記録を失う</a:t>
            </a:r>
            <a:r>
              <a:rPr sz="2800" dirty="0"/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20022593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lide-Number-Placeholder-3-2">
            <a:extLst>
              <a:ext uri="{FF2B5EF4-FFF2-40B4-BE49-F238E27FC236}">
                <a16:creationId xmlns:a16="http://schemas.microsoft.com/office/drawing/2014/main" id="{9D96D1E1-89FB-439C-AD3F-8CA90A14E32F}"/>
              </a:ext>
            </a:extLst>
          </p:cNvPr>
          <p:cNvSpPr>
            <a:spLocks noGrp="1"/>
          </p:cNvSpPr>
          <p:nvPr/>
        </p:nvSpPr>
        <p:spPr>
          <a:xfrm>
            <a:off x="11279315" y="6279261"/>
            <a:ext cx="518922" cy="241268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04</a:t>
            </a:r>
          </a:p>
        </p:txBody>
      </p:sp>
      <p:sp>
        <p:nvSpPr>
          <p:cNvPr id="2" name="Title-10-3">
            <a:extLst>
              <a:ext uri="{FF2B5EF4-FFF2-40B4-BE49-F238E27FC236}">
                <a16:creationId xmlns:a16="http://schemas.microsoft.com/office/drawing/2014/main" id="{5A87AEAD-C753-45B4-8D11-7D650823B06A}"/>
              </a:ext>
            </a:extLst>
          </p:cNvPr>
          <p:cNvSpPr>
            <a:spLocks noGrp="1"/>
          </p:cNvSpPr>
          <p:nvPr/>
        </p:nvSpPr>
        <p:spPr>
          <a:xfrm>
            <a:off x="393668" y="344043"/>
            <a:ext cx="11404568" cy="104746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dirty="0"/>
              <a:t>コアループは、潜行・判断・持ち帰りの3段階</a:t>
            </a:r>
          </a:p>
        </p:txBody>
      </p:sp>
      <p:cxnSp>
        <p:nvCxnSpPr>
          <p:cNvPr id="18" name="Google-Shape-2259-p159-4"/>
          <p:cNvCxnSpPr/>
          <p:nvPr/>
        </p:nvCxnSpPr>
        <p:spPr>
          <a:xfrm>
            <a:off x="347092" y="4642465"/>
            <a:ext cx="12245435" cy="286"/>
          </a:xfrm>
          <a:prstGeom prst="straightConnector1">
            <a:avLst/>
          </a:prstGeom>
          <a:ln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>
              <a:ext uri="{FF2B5EF4-FFF2-40B4-BE49-F238E27FC236}">
                <a16:creationId xmlns:a16="http://schemas.microsoft.com/office/drawing/2014/main" id="{FEF4B3A3-96D7-4716-A59C-64FA9C8F7282}"/>
              </a:ext>
            </a:extLst>
          </p:cNvPr>
          <p:cNvSpPr>
            <a:spLocks noGrp="1"/>
          </p:cNvSpPr>
          <p:nvPr/>
        </p:nvSpPr>
        <p:spPr>
          <a:xfrm>
            <a:off x="347092" y="4588934"/>
            <a:ext cx="107061" cy="107061"/>
          </a:xfrm>
          <a:prstGeom prst="ellipse">
            <a:avLst/>
          </a:prstGeom>
          <a:solidFill>
            <a:srgbClr val="000000"/>
          </a:solidFill>
        </p:spPr>
        <p:txBody>
          <a:bodyPr/>
          <a:lstStyle/>
          <a:p>
            <a:endParaRPr lang="ja-JP" altLang="en-US"/>
          </a:p>
        </p:txBody>
      </p:sp>
      <p:sp>
        <p:nvSpPr>
          <p:cNvPr id="5" name="Google-Shape-2261-p159-6">
            <a:extLst>
              <a:ext uri="{FF2B5EF4-FFF2-40B4-BE49-F238E27FC236}">
                <a16:creationId xmlns:a16="http://schemas.microsoft.com/office/drawing/2014/main" id="{3D240FD4-D8BC-4947-899D-392281676EAD}"/>
              </a:ext>
            </a:extLst>
          </p:cNvPr>
          <p:cNvSpPr>
            <a:spLocks noGrp="1"/>
          </p:cNvSpPr>
          <p:nvPr/>
        </p:nvSpPr>
        <p:spPr>
          <a:xfrm>
            <a:off x="4261105" y="4588934"/>
            <a:ext cx="107061" cy="107061"/>
          </a:xfrm>
          <a:prstGeom prst="ellipse">
            <a:avLst/>
          </a:prstGeom>
          <a:solidFill>
            <a:srgbClr val="000000"/>
          </a:solidFill>
        </p:spPr>
        <p:txBody>
          <a:bodyPr/>
          <a:lstStyle/>
          <a:p>
            <a:endParaRPr lang="ja-JP" altLang="en-US"/>
          </a:p>
        </p:txBody>
      </p:sp>
      <p:sp>
        <p:nvSpPr>
          <p:cNvPr id="6" name="Google-Shape-2262-p159-7">
            <a:extLst>
              <a:ext uri="{FF2B5EF4-FFF2-40B4-BE49-F238E27FC236}">
                <a16:creationId xmlns:a16="http://schemas.microsoft.com/office/drawing/2014/main" id="{46B441FC-477A-4763-9C4B-F9D96E4D3B1F}"/>
              </a:ext>
            </a:extLst>
          </p:cNvPr>
          <p:cNvSpPr>
            <a:spLocks noGrp="1"/>
          </p:cNvSpPr>
          <p:nvPr/>
        </p:nvSpPr>
        <p:spPr>
          <a:xfrm>
            <a:off x="8185405" y="4588934"/>
            <a:ext cx="107061" cy="107061"/>
          </a:xfrm>
          <a:prstGeom prst="ellipse">
            <a:avLst/>
          </a:prstGeom>
          <a:solidFill>
            <a:srgbClr val="000000"/>
          </a:solidFill>
        </p:spPr>
        <p:txBody>
          <a:bodyPr/>
          <a:lstStyle/>
          <a:p>
            <a:endParaRPr lang="ja-JP" altLang="en-US"/>
          </a:p>
        </p:txBody>
      </p:sp>
      <p:sp>
        <p:nvSpPr>
          <p:cNvPr id="7" name="Rounded-Rectangle-19-8">
            <a:extLst>
              <a:ext uri="{FF2B5EF4-FFF2-40B4-BE49-F238E27FC236}">
                <a16:creationId xmlns:a16="http://schemas.microsoft.com/office/drawing/2014/main" id="{F99194A6-E00B-43BD-B143-9749756BE721}"/>
              </a:ext>
            </a:extLst>
          </p:cNvPr>
          <p:cNvSpPr>
            <a:spLocks noGrp="1"/>
          </p:cNvSpPr>
          <p:nvPr/>
        </p:nvSpPr>
        <p:spPr>
          <a:xfrm>
            <a:off x="390906" y="2295959"/>
            <a:ext cx="3568732" cy="2054489"/>
          </a:xfrm>
          <a:prstGeom prst="roundRect">
            <a:avLst>
              <a:gd name="adj" fmla="val 2135"/>
            </a:avLst>
          </a:prstGeom>
          <a:solidFill>
            <a:srgbClr val="F2F2F2"/>
          </a:solidFill>
        </p:spPr>
        <p:txBody>
          <a:bodyPr/>
          <a:lstStyle/>
          <a:p>
            <a:endParaRPr lang="ja-JP" altLang="en-US"/>
          </a:p>
        </p:txBody>
      </p:sp>
      <p:sp>
        <p:nvSpPr>
          <p:cNvPr id="8" name="Content-Placeholder-8-9">
            <a:extLst>
              <a:ext uri="{FF2B5EF4-FFF2-40B4-BE49-F238E27FC236}">
                <a16:creationId xmlns:a16="http://schemas.microsoft.com/office/drawing/2014/main" id="{AA0028BC-7ACD-4118-AD59-B652F0F84694}"/>
              </a:ext>
            </a:extLst>
          </p:cNvPr>
          <p:cNvSpPr>
            <a:spLocks noGrp="1"/>
          </p:cNvSpPr>
          <p:nvPr/>
        </p:nvSpPr>
        <p:spPr>
          <a:xfrm>
            <a:off x="720355" y="2534445"/>
            <a:ext cx="2949321" cy="1748927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dirty="0" err="1"/>
              <a:t>潜行する</a:t>
            </a:r>
            <a:endParaRPr sz="2400" dirty="0"/>
          </a:p>
          <a:p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 dirty="0" err="1"/>
              <a:t>装備と持込品を選び</a:t>
            </a:r>
            <a:r>
              <a:rPr sz="2000" dirty="0"/>
              <a:t>、</a:t>
            </a:r>
            <a:endParaRPr lang="en-US" sz="2000" dirty="0"/>
          </a:p>
          <a:p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 dirty="0" err="1"/>
              <a:t>生成されたエリアへ入る</a:t>
            </a:r>
            <a:endParaRPr sz="2000" dirty="0"/>
          </a:p>
        </p:txBody>
      </p:sp>
      <p:sp>
        <p:nvSpPr>
          <p:cNvPr id="9" name="Rounded-Rectangle-21-10">
            <a:extLst>
              <a:ext uri="{FF2B5EF4-FFF2-40B4-BE49-F238E27FC236}">
                <a16:creationId xmlns:a16="http://schemas.microsoft.com/office/drawing/2014/main" id="{C1429223-1416-4A25-A1D5-79A021D70BBF}"/>
              </a:ext>
            </a:extLst>
          </p:cNvPr>
          <p:cNvSpPr>
            <a:spLocks noGrp="1"/>
          </p:cNvSpPr>
          <p:nvPr/>
        </p:nvSpPr>
        <p:spPr>
          <a:xfrm>
            <a:off x="4305681" y="2295959"/>
            <a:ext cx="3568732" cy="2054489"/>
          </a:xfrm>
          <a:prstGeom prst="roundRect">
            <a:avLst>
              <a:gd name="adj" fmla="val 2135"/>
            </a:avLst>
          </a:prstGeom>
          <a:solidFill>
            <a:srgbClr val="F2F2F2"/>
          </a:solidFill>
        </p:spPr>
        <p:txBody>
          <a:bodyPr/>
          <a:lstStyle/>
          <a:p>
            <a:endParaRPr lang="ja-JP" altLang="en-US"/>
          </a:p>
        </p:txBody>
      </p:sp>
      <p:sp>
        <p:nvSpPr>
          <p:cNvPr id="10" name="Content-Placeholder-8-11">
            <a:extLst>
              <a:ext uri="{FF2B5EF4-FFF2-40B4-BE49-F238E27FC236}">
                <a16:creationId xmlns:a16="http://schemas.microsoft.com/office/drawing/2014/main" id="{36AD8440-9270-4B21-B975-6963801B029B}"/>
              </a:ext>
            </a:extLst>
          </p:cNvPr>
          <p:cNvSpPr>
            <a:spLocks noGrp="1"/>
          </p:cNvSpPr>
          <p:nvPr/>
        </p:nvSpPr>
        <p:spPr>
          <a:xfrm>
            <a:off x="4436533" y="2534445"/>
            <a:ext cx="3748871" cy="1748927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dirty="0" err="1"/>
              <a:t>判断する</a:t>
            </a:r>
            <a:endParaRPr sz="2400" dirty="0"/>
          </a:p>
          <a:p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 dirty="0" err="1"/>
              <a:t>探索・採掘・戦闘を続けるか、帰還へ切り替える</a:t>
            </a:r>
            <a:r>
              <a:rPr sz="2000" dirty="0"/>
              <a:t>。</a:t>
            </a:r>
          </a:p>
        </p:txBody>
      </p:sp>
      <p:sp>
        <p:nvSpPr>
          <p:cNvPr id="11" name="Rounded-Rectangle-23-12">
            <a:extLst>
              <a:ext uri="{FF2B5EF4-FFF2-40B4-BE49-F238E27FC236}">
                <a16:creationId xmlns:a16="http://schemas.microsoft.com/office/drawing/2014/main" id="{C4F9D008-AD42-4ED0-8034-E1CE034E5C3C}"/>
              </a:ext>
            </a:extLst>
          </p:cNvPr>
          <p:cNvSpPr>
            <a:spLocks noGrp="1"/>
          </p:cNvSpPr>
          <p:nvPr/>
        </p:nvSpPr>
        <p:spPr>
          <a:xfrm>
            <a:off x="8234744" y="2295959"/>
            <a:ext cx="3568732" cy="2054489"/>
          </a:xfrm>
          <a:prstGeom prst="roundRect">
            <a:avLst>
              <a:gd name="adj" fmla="val 2135"/>
            </a:avLst>
          </a:prstGeom>
          <a:solidFill>
            <a:srgbClr val="F2F2F2"/>
          </a:solidFill>
        </p:spPr>
        <p:txBody>
          <a:bodyPr/>
          <a:lstStyle/>
          <a:p>
            <a:endParaRPr lang="ja-JP" altLang="en-US"/>
          </a:p>
        </p:txBody>
      </p:sp>
      <p:sp>
        <p:nvSpPr>
          <p:cNvPr id="12" name="Content-Placeholder-8-13">
            <a:extLst>
              <a:ext uri="{FF2B5EF4-FFF2-40B4-BE49-F238E27FC236}">
                <a16:creationId xmlns:a16="http://schemas.microsoft.com/office/drawing/2014/main" id="{97A046BA-6349-4DA5-A087-0F89FB3FDFCF}"/>
              </a:ext>
            </a:extLst>
          </p:cNvPr>
          <p:cNvSpPr>
            <a:spLocks noGrp="1"/>
          </p:cNvSpPr>
          <p:nvPr/>
        </p:nvSpPr>
        <p:spPr>
          <a:xfrm>
            <a:off x="8427574" y="2534445"/>
            <a:ext cx="3222560" cy="1748927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dirty="0" err="1"/>
              <a:t>持ち帰る</a:t>
            </a:r>
            <a:endParaRPr sz="2400" dirty="0"/>
          </a:p>
          <a:p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 dirty="0" err="1"/>
              <a:t>旧器を鑑定・売却し</a:t>
            </a:r>
            <a:r>
              <a:rPr sz="2000" dirty="0"/>
              <a:t>、</a:t>
            </a:r>
            <a:endParaRPr lang="en-US" sz="2000" dirty="0"/>
          </a:p>
          <a:p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 dirty="0" err="1"/>
              <a:t>装備と次の潜行を更新する</a:t>
            </a:r>
            <a:endParaRPr sz="2000" dirty="0"/>
          </a:p>
        </p:txBody>
      </p:sp>
      <p:sp>
        <p:nvSpPr>
          <p:cNvPr id="13" name="Text-Placeholder-16-14">
            <a:extLst>
              <a:ext uri="{FF2B5EF4-FFF2-40B4-BE49-F238E27FC236}">
                <a16:creationId xmlns:a16="http://schemas.microsoft.com/office/drawing/2014/main" id="{189033D9-D730-4372-9DAE-C6D35CA948D4}"/>
              </a:ext>
            </a:extLst>
          </p:cNvPr>
          <p:cNvSpPr>
            <a:spLocks noGrp="1"/>
          </p:cNvSpPr>
          <p:nvPr/>
        </p:nvSpPr>
        <p:spPr>
          <a:xfrm>
            <a:off x="4261105" y="4903259"/>
            <a:ext cx="2595944" cy="39195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02  DECIDE</a:t>
            </a:r>
          </a:p>
        </p:txBody>
      </p:sp>
      <p:sp>
        <p:nvSpPr>
          <p:cNvPr id="14" name="Text-Placeholder-16-15">
            <a:extLst>
              <a:ext uri="{FF2B5EF4-FFF2-40B4-BE49-F238E27FC236}">
                <a16:creationId xmlns:a16="http://schemas.microsoft.com/office/drawing/2014/main" id="{FAA2B00F-D0EA-4C2E-9B60-F52A5BD70F2C}"/>
              </a:ext>
            </a:extLst>
          </p:cNvPr>
          <p:cNvSpPr>
            <a:spLocks noGrp="1"/>
          </p:cNvSpPr>
          <p:nvPr/>
        </p:nvSpPr>
        <p:spPr>
          <a:xfrm>
            <a:off x="400241" y="4903259"/>
            <a:ext cx="2595944" cy="39195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01  DIVE</a:t>
            </a:r>
          </a:p>
        </p:txBody>
      </p:sp>
      <p:sp>
        <p:nvSpPr>
          <p:cNvPr id="15" name="Text-Placeholder-16-16">
            <a:extLst>
              <a:ext uri="{FF2B5EF4-FFF2-40B4-BE49-F238E27FC236}">
                <a16:creationId xmlns:a16="http://schemas.microsoft.com/office/drawing/2014/main" id="{8D517AD5-2946-4EB1-8EA0-790615CE87ED}"/>
              </a:ext>
            </a:extLst>
          </p:cNvPr>
          <p:cNvSpPr>
            <a:spLocks noGrp="1"/>
          </p:cNvSpPr>
          <p:nvPr/>
        </p:nvSpPr>
        <p:spPr>
          <a:xfrm>
            <a:off x="8234744" y="4903259"/>
            <a:ext cx="2595944" cy="39195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03  RETURN</a:t>
            </a:r>
          </a:p>
        </p:txBody>
      </p:sp>
    </p:spTree>
    <p:extLst>
      <p:ext uri="{BB962C8B-B14F-4D97-AF65-F5344CB8AC3E}">
        <p14:creationId xmlns:p14="http://schemas.microsoft.com/office/powerpoint/2010/main" val="11967526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-Number-Placeholder-1-2">
            <a:extLst>
              <a:ext uri="{FF2B5EF4-FFF2-40B4-BE49-F238E27FC236}">
                <a16:creationId xmlns:a16="http://schemas.microsoft.com/office/drawing/2014/main" id="{14AE6546-E95C-42BF-9234-75C983C39D25}"/>
              </a:ext>
            </a:extLst>
          </p:cNvPr>
          <p:cNvSpPr>
            <a:spLocks noGrp="1"/>
          </p:cNvSpPr>
          <p:nvPr/>
        </p:nvSpPr>
        <p:spPr>
          <a:xfrm>
            <a:off x="11279219" y="6278594"/>
            <a:ext cx="519113" cy="241268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05</a:t>
            </a:r>
          </a:p>
        </p:txBody>
      </p:sp>
      <p:sp>
        <p:nvSpPr>
          <p:cNvPr id="2" name="Title-2-3">
            <a:extLst>
              <a:ext uri="{FF2B5EF4-FFF2-40B4-BE49-F238E27FC236}">
                <a16:creationId xmlns:a16="http://schemas.microsoft.com/office/drawing/2014/main" id="{2273D351-EE3E-4C22-9B55-FCAD571A1D8C}"/>
              </a:ext>
            </a:extLst>
          </p:cNvPr>
          <p:cNvSpPr>
            <a:spLocks noGrp="1"/>
          </p:cNvSpPr>
          <p:nvPr/>
        </p:nvSpPr>
        <p:spPr>
          <a:xfrm>
            <a:off x="393668" y="344043"/>
            <a:ext cx="11404568" cy="104746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dirty="0" err="1"/>
              <a:t>深さが、利益と危険を同時に増やす</a:t>
            </a:r>
            <a:endParaRPr sz="3600" dirty="0"/>
          </a:p>
        </p:txBody>
      </p:sp>
      <p:sp>
        <p:nvSpPr>
          <p:cNvPr id="3" name="Content-Placeholder-9-4">
            <a:extLst>
              <a:ext uri="{FF2B5EF4-FFF2-40B4-BE49-F238E27FC236}">
                <a16:creationId xmlns:a16="http://schemas.microsoft.com/office/drawing/2014/main" id="{68F0BBD2-D861-45D8-84C6-54BF21532DDD}"/>
              </a:ext>
            </a:extLst>
          </p:cNvPr>
          <p:cNvSpPr>
            <a:spLocks noGrp="1"/>
          </p:cNvSpPr>
          <p:nvPr/>
        </p:nvSpPr>
        <p:spPr>
          <a:xfrm>
            <a:off x="393668" y="2031968"/>
            <a:ext cx="5537168" cy="1643063"/>
          </a:xfrm>
          <a:prstGeom prst="rect">
            <a:avLst/>
          </a:prstGeom>
        </p:spPr>
        <p:txBody>
          <a:bodyPr lIns="91440" tIns="45720" rIns="91440" bIns="45720"/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dirty="0" err="1"/>
              <a:t>旧器</a:t>
            </a:r>
            <a:endParaRPr dirty="0"/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dirty="0"/>
              <a:t>重量2〜10、用途と売却額が異なる7種類。</a:t>
            </a:r>
          </a:p>
        </p:txBody>
      </p:sp>
      <p:sp>
        <p:nvSpPr>
          <p:cNvPr id="4" name="Content-Placeholder-10-5">
            <a:extLst>
              <a:ext uri="{FF2B5EF4-FFF2-40B4-BE49-F238E27FC236}">
                <a16:creationId xmlns:a16="http://schemas.microsoft.com/office/drawing/2014/main" id="{6A496AF2-427B-42FF-B735-DAF1EA078374}"/>
              </a:ext>
            </a:extLst>
          </p:cNvPr>
          <p:cNvSpPr>
            <a:spLocks noGrp="1"/>
          </p:cNvSpPr>
          <p:nvPr/>
        </p:nvSpPr>
        <p:spPr>
          <a:xfrm>
            <a:off x="6256592" y="2031968"/>
            <a:ext cx="5537168" cy="1643063"/>
          </a:xfrm>
          <a:prstGeom prst="rect">
            <a:avLst/>
          </a:prstGeom>
        </p:spPr>
        <p:txBody>
          <a:bodyPr lIns="91440" tIns="45720" rIns="91440" bIns="45720"/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dirty="0" err="1"/>
              <a:t>重量</a:t>
            </a:r>
            <a:endParaRPr dirty="0"/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ja-JP" altLang="en-US" dirty="0"/>
              <a:t>上限の</a:t>
            </a:r>
            <a:r>
              <a:rPr dirty="0"/>
              <a:t>70 / 90 / 100%で</a:t>
            </a:r>
            <a:endParaRPr lang="en-US" dirty="0"/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dirty="0" err="1"/>
              <a:t>移動と行動を段階制限</a:t>
            </a:r>
            <a:endParaRPr dirty="0"/>
          </a:p>
        </p:txBody>
      </p:sp>
      <p:sp>
        <p:nvSpPr>
          <p:cNvPr id="5" name="Content-Placeholder-9-6">
            <a:extLst>
              <a:ext uri="{FF2B5EF4-FFF2-40B4-BE49-F238E27FC236}">
                <a16:creationId xmlns:a16="http://schemas.microsoft.com/office/drawing/2014/main" id="{6D0A1B86-4073-4EB8-8D5A-10254962C429}"/>
              </a:ext>
            </a:extLst>
          </p:cNvPr>
          <p:cNvSpPr>
            <a:spLocks noGrp="1"/>
          </p:cNvSpPr>
          <p:nvPr/>
        </p:nvSpPr>
        <p:spPr>
          <a:xfrm>
            <a:off x="393668" y="4016978"/>
            <a:ext cx="5537168" cy="1643158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dirty="0" err="1"/>
              <a:t>上昇負荷</a:t>
            </a:r>
            <a:endParaRPr dirty="0"/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dirty="0" err="1"/>
              <a:t>上るほどゲージが蓄積し</a:t>
            </a:r>
            <a:r>
              <a:rPr dirty="0"/>
              <a:t>、</a:t>
            </a:r>
            <a:endParaRPr lang="en-US" dirty="0"/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ja-JP" altLang="en-US" dirty="0"/>
              <a:t>最大になると</a:t>
            </a:r>
            <a:r>
              <a:rPr dirty="0" err="1"/>
              <a:t>精神力を失う</a:t>
            </a:r>
            <a:r>
              <a:rPr dirty="0"/>
              <a:t>。</a:t>
            </a:r>
            <a:endParaRPr lang="en-US" dirty="0"/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ja-JP" altLang="en-US" dirty="0"/>
              <a:t>深層では</a:t>
            </a:r>
            <a:r>
              <a:rPr lang="en-US" altLang="ja-JP" dirty="0"/>
              <a:t>HP</a:t>
            </a:r>
            <a:r>
              <a:rPr lang="ja-JP" altLang="en-US" dirty="0"/>
              <a:t>も失う。</a:t>
            </a:r>
            <a:endParaRPr dirty="0"/>
          </a:p>
        </p:txBody>
      </p:sp>
      <p:sp>
        <p:nvSpPr>
          <p:cNvPr id="6" name="Content-Placeholder-10-7">
            <a:extLst>
              <a:ext uri="{FF2B5EF4-FFF2-40B4-BE49-F238E27FC236}">
                <a16:creationId xmlns:a16="http://schemas.microsoft.com/office/drawing/2014/main" id="{3325EED3-6DBB-4A36-8C3C-26BB599F145A}"/>
              </a:ext>
            </a:extLst>
          </p:cNvPr>
          <p:cNvSpPr>
            <a:spLocks noGrp="1"/>
          </p:cNvSpPr>
          <p:nvPr/>
        </p:nvSpPr>
        <p:spPr>
          <a:xfrm>
            <a:off x="6256592" y="4016978"/>
            <a:ext cx="5537168" cy="1643158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dirty="0" err="1"/>
              <a:t>死亡</a:t>
            </a:r>
            <a:endParaRPr dirty="0"/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dirty="0" err="1"/>
              <a:t>持込品・探索中ピンを失い</a:t>
            </a:r>
            <a:r>
              <a:rPr dirty="0"/>
              <a:t>、</a:t>
            </a:r>
            <a:endParaRPr lang="en-US" dirty="0"/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dirty="0" err="1"/>
              <a:t>帰還判断を重くする</a:t>
            </a:r>
            <a:r>
              <a:rPr dirty="0"/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7812800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-Shape-532-p58-2">
            <a:extLst>
              <a:ext uri="{FF2B5EF4-FFF2-40B4-BE49-F238E27FC236}">
                <a16:creationId xmlns:a16="http://schemas.microsoft.com/office/drawing/2014/main" id="{AEF70C39-882F-47FE-B7BE-C5815773C9E9}"/>
              </a:ext>
            </a:extLst>
          </p:cNvPr>
          <p:cNvSpPr>
            <a:spLocks noGrp="1"/>
          </p:cNvSpPr>
          <p:nvPr/>
        </p:nvSpPr>
        <p:spPr>
          <a:xfrm>
            <a:off x="11279315" y="6279261"/>
            <a:ext cx="518922" cy="241268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/>
          <a:p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06</a:t>
            </a:r>
          </a:p>
        </p:txBody>
      </p:sp>
      <p:sp>
        <p:nvSpPr>
          <p:cNvPr id="2" name="Google-Shape-533-p58-3">
            <a:extLst>
              <a:ext uri="{FF2B5EF4-FFF2-40B4-BE49-F238E27FC236}">
                <a16:creationId xmlns:a16="http://schemas.microsoft.com/office/drawing/2014/main" id="{8FE99B20-44DB-44BA-8C9B-9E346FB24AB1}"/>
              </a:ext>
            </a:extLst>
          </p:cNvPr>
          <p:cNvSpPr>
            <a:spLocks noGrp="1"/>
          </p:cNvSpPr>
          <p:nvPr/>
        </p:nvSpPr>
        <p:spPr>
          <a:xfrm>
            <a:off x="393668" y="344043"/>
            <a:ext cx="11404568" cy="1047464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dirty="0" err="1"/>
              <a:t>世界観とゲームルールを同じ方向へ向けた</a:t>
            </a:r>
            <a:endParaRPr sz="3600" dirty="0"/>
          </a:p>
        </p:txBody>
      </p:sp>
      <p:sp>
        <p:nvSpPr>
          <p:cNvPr id="3" name="Google-Shape-534-p58-4">
            <a:extLst>
              <a:ext uri="{FF2B5EF4-FFF2-40B4-BE49-F238E27FC236}">
                <a16:creationId xmlns:a16="http://schemas.microsoft.com/office/drawing/2014/main" id="{BCB1D877-22F0-4F9A-9DF6-A36C7CC47325}"/>
              </a:ext>
            </a:extLst>
          </p:cNvPr>
          <p:cNvSpPr>
            <a:spLocks noGrp="1"/>
          </p:cNvSpPr>
          <p:nvPr/>
        </p:nvSpPr>
        <p:spPr>
          <a:xfrm>
            <a:off x="393668" y="2031969"/>
            <a:ext cx="5537168" cy="1244632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dirty="0" err="1"/>
              <a:t>奈落塔</a:t>
            </a:r>
            <a:endParaRPr dirty="0"/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dirty="0" err="1"/>
              <a:t>下へ潜る者は拒まないが、戻ろうとする者へ負荷を与える巨大構造体</a:t>
            </a:r>
            <a:r>
              <a:rPr dirty="0"/>
              <a:t>。</a:t>
            </a:r>
          </a:p>
        </p:txBody>
      </p:sp>
      <p:sp>
        <p:nvSpPr>
          <p:cNvPr id="4" name="Content-Placeholder-3-5">
            <a:extLst>
              <a:ext uri="{FF2B5EF4-FFF2-40B4-BE49-F238E27FC236}">
                <a16:creationId xmlns:a16="http://schemas.microsoft.com/office/drawing/2014/main" id="{348944F1-1292-46E5-86EA-16663DD95AD0}"/>
              </a:ext>
            </a:extLst>
          </p:cNvPr>
          <p:cNvSpPr>
            <a:spLocks noGrp="1"/>
          </p:cNvSpPr>
          <p:nvPr/>
        </p:nvSpPr>
        <p:spPr>
          <a:xfrm>
            <a:off x="6256592" y="2031968"/>
            <a:ext cx="5537168" cy="1244633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dirty="0" err="1"/>
              <a:t>新人潜行者</a:t>
            </a:r>
            <a:endParaRPr dirty="0"/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dirty="0" err="1"/>
              <a:t>旧器・資源・地図情報を持ち帰り、装備と知識を積み上げて再び潜る</a:t>
            </a:r>
            <a:r>
              <a:rPr dirty="0"/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5474811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-Shape-532-p58-2">
            <a:extLst>
              <a:ext uri="{FF2B5EF4-FFF2-40B4-BE49-F238E27FC236}">
                <a16:creationId xmlns:a16="http://schemas.microsoft.com/office/drawing/2014/main" id="{259D2950-3724-4439-B2F6-18DC6B81F113}"/>
              </a:ext>
            </a:extLst>
          </p:cNvPr>
          <p:cNvSpPr>
            <a:spLocks noGrp="1"/>
          </p:cNvSpPr>
          <p:nvPr/>
        </p:nvSpPr>
        <p:spPr>
          <a:xfrm>
            <a:off x="11279315" y="6279261"/>
            <a:ext cx="518922" cy="241268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/>
          <a:p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07</a:t>
            </a:r>
          </a:p>
        </p:txBody>
      </p:sp>
      <p:sp>
        <p:nvSpPr>
          <p:cNvPr id="2" name="Google-Shape-533-p58-3">
            <a:extLst>
              <a:ext uri="{FF2B5EF4-FFF2-40B4-BE49-F238E27FC236}">
                <a16:creationId xmlns:a16="http://schemas.microsoft.com/office/drawing/2014/main" id="{54A23F1C-3202-4651-B86D-7E17E8E5E52C}"/>
              </a:ext>
            </a:extLst>
          </p:cNvPr>
          <p:cNvSpPr>
            <a:spLocks noGrp="1"/>
          </p:cNvSpPr>
          <p:nvPr/>
        </p:nvSpPr>
        <p:spPr>
          <a:xfrm>
            <a:off x="393668" y="344043"/>
            <a:ext cx="11404568" cy="1047464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ja-JP" altLang="en-US" sz="3600" dirty="0"/>
              <a:t>ゲームシステム</a:t>
            </a:r>
            <a:r>
              <a:rPr sz="3600" dirty="0"/>
              <a:t>を、検証できる4つの仕組みに絞った</a:t>
            </a:r>
          </a:p>
        </p:txBody>
      </p:sp>
      <p:sp>
        <p:nvSpPr>
          <p:cNvPr id="3" name="Rounded-Rectangle-6-4">
            <a:extLst>
              <a:ext uri="{FF2B5EF4-FFF2-40B4-BE49-F238E27FC236}">
                <a16:creationId xmlns:a16="http://schemas.microsoft.com/office/drawing/2014/main" id="{2326A240-F8E2-48E7-9F39-6CF58A61D3C4}"/>
              </a:ext>
            </a:extLst>
          </p:cNvPr>
          <p:cNvSpPr>
            <a:spLocks noGrp="1"/>
          </p:cNvSpPr>
          <p:nvPr/>
        </p:nvSpPr>
        <p:spPr>
          <a:xfrm>
            <a:off x="6264402" y="2369820"/>
            <a:ext cx="5533930" cy="1638300"/>
          </a:xfrm>
          <a:prstGeom prst="roundRect">
            <a:avLst>
              <a:gd name="adj" fmla="val 4651"/>
            </a:avLst>
          </a:prstGeom>
          <a:solidFill>
            <a:srgbClr val="F2F2F2"/>
          </a:solidFill>
        </p:spPr>
        <p:txBody>
          <a:bodyPr/>
          <a:lstStyle/>
          <a:p>
            <a:endParaRPr lang="ja-JP" altLang="en-US"/>
          </a:p>
        </p:txBody>
      </p:sp>
      <p:sp>
        <p:nvSpPr>
          <p:cNvPr id="4" name="Content-Placeholder-10-5">
            <a:extLst>
              <a:ext uri="{FF2B5EF4-FFF2-40B4-BE49-F238E27FC236}">
                <a16:creationId xmlns:a16="http://schemas.microsoft.com/office/drawing/2014/main" id="{112FEBE7-12B5-46FA-8FC2-A54DC6840AEB}"/>
              </a:ext>
            </a:extLst>
          </p:cNvPr>
          <p:cNvSpPr>
            <a:spLocks noGrp="1"/>
          </p:cNvSpPr>
          <p:nvPr/>
        </p:nvSpPr>
        <p:spPr>
          <a:xfrm>
            <a:off x="6561677" y="2664809"/>
            <a:ext cx="4986909" cy="1048417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採掘</a:t>
            </a:r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装備ごとの速度差と遺物抽選を確認</a:t>
            </a:r>
          </a:p>
        </p:txBody>
      </p:sp>
      <p:sp>
        <p:nvSpPr>
          <p:cNvPr id="5" name="Rounded-Rectangle-8-6">
            <a:extLst>
              <a:ext uri="{FF2B5EF4-FFF2-40B4-BE49-F238E27FC236}">
                <a16:creationId xmlns:a16="http://schemas.microsoft.com/office/drawing/2014/main" id="{91061672-EF58-49BF-9B5E-7CF9C8C233DC}"/>
              </a:ext>
            </a:extLst>
          </p:cNvPr>
          <p:cNvSpPr>
            <a:spLocks noGrp="1"/>
          </p:cNvSpPr>
          <p:nvPr/>
        </p:nvSpPr>
        <p:spPr>
          <a:xfrm>
            <a:off x="409004" y="2369820"/>
            <a:ext cx="5533930" cy="1638300"/>
          </a:xfrm>
          <a:prstGeom prst="roundRect">
            <a:avLst>
              <a:gd name="adj" fmla="val 4651"/>
            </a:avLst>
          </a:prstGeom>
          <a:solidFill>
            <a:srgbClr val="F2F2F2"/>
          </a:solidFill>
        </p:spPr>
        <p:txBody>
          <a:bodyPr/>
          <a:lstStyle/>
          <a:p>
            <a:endParaRPr lang="ja-JP" altLang="en-US"/>
          </a:p>
        </p:txBody>
      </p:sp>
      <p:sp>
        <p:nvSpPr>
          <p:cNvPr id="6" name="Content-Placeholder-10-7">
            <a:extLst>
              <a:ext uri="{FF2B5EF4-FFF2-40B4-BE49-F238E27FC236}">
                <a16:creationId xmlns:a16="http://schemas.microsoft.com/office/drawing/2014/main" id="{EA88E379-713F-4A85-8313-3FD78BEEE294}"/>
              </a:ext>
            </a:extLst>
          </p:cNvPr>
          <p:cNvSpPr>
            <a:spLocks noGrp="1"/>
          </p:cNvSpPr>
          <p:nvPr/>
        </p:nvSpPr>
        <p:spPr>
          <a:xfrm>
            <a:off x="706279" y="2664809"/>
            <a:ext cx="4986909" cy="1048417"/>
          </a:xfrm>
          <a:prstGeom prst="rect">
            <a:avLst/>
          </a:prstGeom>
        </p:spPr>
        <p:txBody>
          <a:bodyPr lIns="0" tIns="0" rIns="0" bIns="0">
            <a:normAutofit fontScale="99473"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探索</a:t>
            </a:r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地図・ピン・未発見採掘点で導線を作る。</a:t>
            </a:r>
          </a:p>
        </p:txBody>
      </p:sp>
      <p:sp>
        <p:nvSpPr>
          <p:cNvPr id="7" name="Rounded-Rectangle-1-8">
            <a:extLst>
              <a:ext uri="{FF2B5EF4-FFF2-40B4-BE49-F238E27FC236}">
                <a16:creationId xmlns:a16="http://schemas.microsoft.com/office/drawing/2014/main" id="{DA09FFCC-869D-464E-B70F-BC1176DE8C02}"/>
              </a:ext>
            </a:extLst>
          </p:cNvPr>
          <p:cNvSpPr>
            <a:spLocks noGrp="1"/>
          </p:cNvSpPr>
          <p:nvPr/>
        </p:nvSpPr>
        <p:spPr>
          <a:xfrm>
            <a:off x="6264402" y="4370070"/>
            <a:ext cx="5533930" cy="1638300"/>
          </a:xfrm>
          <a:prstGeom prst="roundRect">
            <a:avLst>
              <a:gd name="adj" fmla="val 4651"/>
            </a:avLst>
          </a:prstGeom>
          <a:solidFill>
            <a:srgbClr val="F2F2F2"/>
          </a:solidFill>
        </p:spPr>
        <p:txBody>
          <a:bodyPr/>
          <a:lstStyle/>
          <a:p>
            <a:endParaRPr lang="ja-JP" altLang="en-US"/>
          </a:p>
        </p:txBody>
      </p:sp>
      <p:sp>
        <p:nvSpPr>
          <p:cNvPr id="8" name="Content-Placeholder-10-9">
            <a:extLst>
              <a:ext uri="{FF2B5EF4-FFF2-40B4-BE49-F238E27FC236}">
                <a16:creationId xmlns:a16="http://schemas.microsoft.com/office/drawing/2014/main" id="{1454A39E-60C1-46EA-84D2-75006D91703F}"/>
              </a:ext>
            </a:extLst>
          </p:cNvPr>
          <p:cNvSpPr>
            <a:spLocks noGrp="1"/>
          </p:cNvSpPr>
          <p:nvPr/>
        </p:nvSpPr>
        <p:spPr>
          <a:xfrm>
            <a:off x="6561677" y="4665059"/>
            <a:ext cx="4986909" cy="1048417"/>
          </a:xfrm>
          <a:prstGeom prst="rect">
            <a:avLst/>
          </a:prstGeom>
        </p:spPr>
        <p:txBody>
          <a:bodyPr lIns="0" tIns="0" rIns="0" bIns="0">
            <a:normAutofit fontScale="95547"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成長</a:t>
            </a:r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売却・商店・武具屋・自宅から再潜行へ接続。</a:t>
            </a:r>
          </a:p>
        </p:txBody>
      </p:sp>
      <p:sp>
        <p:nvSpPr>
          <p:cNvPr id="9" name="Rounded-Rectangle-3-10">
            <a:extLst>
              <a:ext uri="{FF2B5EF4-FFF2-40B4-BE49-F238E27FC236}">
                <a16:creationId xmlns:a16="http://schemas.microsoft.com/office/drawing/2014/main" id="{F3A322C0-7400-4342-AEA8-9DBB7479A01C}"/>
              </a:ext>
            </a:extLst>
          </p:cNvPr>
          <p:cNvSpPr>
            <a:spLocks noGrp="1"/>
          </p:cNvSpPr>
          <p:nvPr/>
        </p:nvSpPr>
        <p:spPr>
          <a:xfrm>
            <a:off x="409004" y="4370070"/>
            <a:ext cx="5533930" cy="1638300"/>
          </a:xfrm>
          <a:prstGeom prst="roundRect">
            <a:avLst>
              <a:gd name="adj" fmla="val 4651"/>
            </a:avLst>
          </a:prstGeom>
          <a:solidFill>
            <a:srgbClr val="F2F2F2"/>
          </a:solidFill>
        </p:spPr>
        <p:txBody>
          <a:bodyPr/>
          <a:lstStyle/>
          <a:p>
            <a:endParaRPr lang="ja-JP" altLang="en-US"/>
          </a:p>
        </p:txBody>
      </p:sp>
      <p:sp>
        <p:nvSpPr>
          <p:cNvPr id="10" name="Content-Placeholder-10-11">
            <a:extLst>
              <a:ext uri="{FF2B5EF4-FFF2-40B4-BE49-F238E27FC236}">
                <a16:creationId xmlns:a16="http://schemas.microsoft.com/office/drawing/2014/main" id="{09AE0E43-7378-4506-A67E-480572DEAE65}"/>
              </a:ext>
            </a:extLst>
          </p:cNvPr>
          <p:cNvSpPr>
            <a:spLocks noGrp="1"/>
          </p:cNvSpPr>
          <p:nvPr/>
        </p:nvSpPr>
        <p:spPr>
          <a:xfrm>
            <a:off x="706279" y="4665059"/>
            <a:ext cx="4986909" cy="1048417"/>
          </a:xfrm>
          <a:prstGeom prst="rect">
            <a:avLst/>
          </a:prstGeom>
        </p:spPr>
        <p:txBody>
          <a:bodyPr lIns="0" tIns="0" rIns="0" bIns="0">
            <a:normAutofit fontScale="95547"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帰還</a:t>
            </a:r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重量・上昇負荷・死亡損失を一つの判断へ集約。</a:t>
            </a:r>
          </a:p>
        </p:txBody>
      </p:sp>
      <p:sp>
        <p:nvSpPr>
          <p:cNvPr id="11" name="Content-Placeholder-15-12">
            <a:extLst>
              <a:ext uri="{FF2B5EF4-FFF2-40B4-BE49-F238E27FC236}">
                <a16:creationId xmlns:a16="http://schemas.microsoft.com/office/drawing/2014/main" id="{FB195BE7-F62D-4523-9FC8-2847569C89D4}"/>
              </a:ext>
            </a:extLst>
          </p:cNvPr>
          <p:cNvSpPr>
            <a:spLocks noGrp="1"/>
          </p:cNvSpPr>
          <p:nvPr/>
        </p:nvSpPr>
        <p:spPr>
          <a:xfrm>
            <a:off x="400907" y="1057466"/>
            <a:ext cx="11404568" cy="1012222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 dirty="0" err="1"/>
              <a:t>プロトタイプの役割</a:t>
            </a:r>
            <a:endParaRPr sz="2400" b="1" dirty="0"/>
          </a:p>
          <a:p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 dirty="0" err="1"/>
              <a:t>第一層で中心判断が成立するかを先に確認する</a:t>
            </a:r>
            <a:r>
              <a:rPr sz="2400" b="1" dirty="0"/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7907487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-Shape-532-p58-2">
            <a:extLst>
              <a:ext uri="{FF2B5EF4-FFF2-40B4-BE49-F238E27FC236}">
                <a16:creationId xmlns:a16="http://schemas.microsoft.com/office/drawing/2014/main" id="{6078A43B-30B3-4694-AE6B-3D4CBE968800}"/>
              </a:ext>
            </a:extLst>
          </p:cNvPr>
          <p:cNvSpPr>
            <a:spLocks noGrp="1"/>
          </p:cNvSpPr>
          <p:nvPr/>
        </p:nvSpPr>
        <p:spPr>
          <a:xfrm>
            <a:off x="11279315" y="6279261"/>
            <a:ext cx="518922" cy="241268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/>
          <a:p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08</a:t>
            </a:r>
          </a:p>
        </p:txBody>
      </p:sp>
      <p:sp>
        <p:nvSpPr>
          <p:cNvPr id="2" name="Google-Shape-533-p58-3">
            <a:extLst>
              <a:ext uri="{FF2B5EF4-FFF2-40B4-BE49-F238E27FC236}">
                <a16:creationId xmlns:a16="http://schemas.microsoft.com/office/drawing/2014/main" id="{C37FBEE1-D8EC-4527-AA78-6EF89D410929}"/>
              </a:ext>
            </a:extLst>
          </p:cNvPr>
          <p:cNvSpPr>
            <a:spLocks noGrp="1"/>
          </p:cNvSpPr>
          <p:nvPr/>
        </p:nvSpPr>
        <p:spPr>
          <a:xfrm>
            <a:off x="393668" y="344043"/>
            <a:ext cx="11404568" cy="1047464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/>
              <a:t>入れない機能も、検証目的から逆算して決めた</a:t>
            </a:r>
          </a:p>
        </p:txBody>
      </p:sp>
      <p:sp>
        <p:nvSpPr>
          <p:cNvPr id="3" name="Content-Placeholder-10-4">
            <a:extLst>
              <a:ext uri="{FF2B5EF4-FFF2-40B4-BE49-F238E27FC236}">
                <a16:creationId xmlns:a16="http://schemas.microsoft.com/office/drawing/2014/main" id="{1572F6B2-E16C-4B41-99BD-C5FEA36128EB}"/>
              </a:ext>
            </a:extLst>
          </p:cNvPr>
          <p:cNvSpPr>
            <a:spLocks noGrp="1"/>
          </p:cNvSpPr>
          <p:nvPr/>
        </p:nvSpPr>
        <p:spPr>
          <a:xfrm>
            <a:off x="6972300" y="2374868"/>
            <a:ext cx="4826032" cy="6477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第二層以降</a:t>
            </a:r>
          </a:p>
        </p:txBody>
      </p:sp>
      <p:sp>
        <p:nvSpPr>
          <p:cNvPr id="4" name="Content-Placeholder-10-5">
            <a:extLst>
              <a:ext uri="{FF2B5EF4-FFF2-40B4-BE49-F238E27FC236}">
                <a16:creationId xmlns:a16="http://schemas.microsoft.com/office/drawing/2014/main" id="{5DF756EC-8482-45B7-B278-49FE0C367349}"/>
              </a:ext>
            </a:extLst>
          </p:cNvPr>
          <p:cNvSpPr>
            <a:spLocks noGrp="1"/>
          </p:cNvSpPr>
          <p:nvPr/>
        </p:nvSpPr>
        <p:spPr>
          <a:xfrm>
            <a:off x="4851368" y="2374868"/>
            <a:ext cx="1866900" cy="6477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CONTENT</a:t>
            </a:r>
          </a:p>
        </p:txBody>
      </p:sp>
      <p:sp>
        <p:nvSpPr>
          <p:cNvPr id="5" name="Content-Placeholder-10-6">
            <a:extLst>
              <a:ext uri="{FF2B5EF4-FFF2-40B4-BE49-F238E27FC236}">
                <a16:creationId xmlns:a16="http://schemas.microsoft.com/office/drawing/2014/main" id="{24BF3A3E-582D-4FCB-A408-C3F6AE5F8163}"/>
              </a:ext>
            </a:extLst>
          </p:cNvPr>
          <p:cNvSpPr>
            <a:spLocks noGrp="1"/>
          </p:cNvSpPr>
          <p:nvPr/>
        </p:nvSpPr>
        <p:spPr>
          <a:xfrm>
            <a:off x="6972300" y="3365468"/>
            <a:ext cx="4826032" cy="6477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依頼・ランク</a:t>
            </a:r>
          </a:p>
        </p:txBody>
      </p:sp>
      <p:sp>
        <p:nvSpPr>
          <p:cNvPr id="6" name="Content-Placeholder-10-7">
            <a:extLst>
              <a:ext uri="{FF2B5EF4-FFF2-40B4-BE49-F238E27FC236}">
                <a16:creationId xmlns:a16="http://schemas.microsoft.com/office/drawing/2014/main" id="{4117512C-F3F3-47A6-90C1-3853B20B0F4E}"/>
              </a:ext>
            </a:extLst>
          </p:cNvPr>
          <p:cNvSpPr>
            <a:spLocks noGrp="1"/>
          </p:cNvSpPr>
          <p:nvPr/>
        </p:nvSpPr>
        <p:spPr>
          <a:xfrm>
            <a:off x="4851368" y="3365468"/>
            <a:ext cx="1866900" cy="6477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META</a:t>
            </a:r>
          </a:p>
        </p:txBody>
      </p:sp>
      <p:sp>
        <p:nvSpPr>
          <p:cNvPr id="7" name="Content-Placeholder-10-8">
            <a:extLst>
              <a:ext uri="{FF2B5EF4-FFF2-40B4-BE49-F238E27FC236}">
                <a16:creationId xmlns:a16="http://schemas.microsoft.com/office/drawing/2014/main" id="{1843C9E9-51C4-49C8-BC23-F4809E330DEB}"/>
              </a:ext>
            </a:extLst>
          </p:cNvPr>
          <p:cNvSpPr>
            <a:spLocks noGrp="1"/>
          </p:cNvSpPr>
          <p:nvPr/>
        </p:nvSpPr>
        <p:spPr>
          <a:xfrm>
            <a:off x="6972300" y="4356068"/>
            <a:ext cx="4826032" cy="6477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加工・強化</a:t>
            </a:r>
          </a:p>
        </p:txBody>
      </p:sp>
      <p:sp>
        <p:nvSpPr>
          <p:cNvPr id="8" name="Content-Placeholder-10-9">
            <a:extLst>
              <a:ext uri="{FF2B5EF4-FFF2-40B4-BE49-F238E27FC236}">
                <a16:creationId xmlns:a16="http://schemas.microsoft.com/office/drawing/2014/main" id="{C4B521DE-3283-4067-8F0C-95872BB444CB}"/>
              </a:ext>
            </a:extLst>
          </p:cNvPr>
          <p:cNvSpPr>
            <a:spLocks noGrp="1"/>
          </p:cNvSpPr>
          <p:nvPr/>
        </p:nvSpPr>
        <p:spPr>
          <a:xfrm>
            <a:off x="4851368" y="4356068"/>
            <a:ext cx="1866900" cy="6477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CRAFT</a:t>
            </a:r>
          </a:p>
        </p:txBody>
      </p:sp>
      <p:sp>
        <p:nvSpPr>
          <p:cNvPr id="9" name="Content-Placeholder-10-10">
            <a:extLst>
              <a:ext uri="{FF2B5EF4-FFF2-40B4-BE49-F238E27FC236}">
                <a16:creationId xmlns:a16="http://schemas.microsoft.com/office/drawing/2014/main" id="{3F8DD71C-CAD3-48EC-A0A4-F566356F0165}"/>
              </a:ext>
            </a:extLst>
          </p:cNvPr>
          <p:cNvSpPr>
            <a:spLocks noGrp="1"/>
          </p:cNvSpPr>
          <p:nvPr/>
        </p:nvSpPr>
        <p:spPr>
          <a:xfrm>
            <a:off x="6972300" y="5359432"/>
            <a:ext cx="4826032" cy="6477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複数ピン・市場</a:t>
            </a:r>
          </a:p>
        </p:txBody>
      </p:sp>
      <p:sp>
        <p:nvSpPr>
          <p:cNvPr id="10" name="Content-Placeholder-10-11">
            <a:extLst>
              <a:ext uri="{FF2B5EF4-FFF2-40B4-BE49-F238E27FC236}">
                <a16:creationId xmlns:a16="http://schemas.microsoft.com/office/drawing/2014/main" id="{D4B992EA-D0CF-4C81-8F90-D1FCF67D3199}"/>
              </a:ext>
            </a:extLst>
          </p:cNvPr>
          <p:cNvSpPr>
            <a:spLocks noGrp="1"/>
          </p:cNvSpPr>
          <p:nvPr/>
        </p:nvSpPr>
        <p:spPr>
          <a:xfrm>
            <a:off x="4851368" y="5359432"/>
            <a:ext cx="1866900" cy="6477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VARIETY</a:t>
            </a:r>
          </a:p>
        </p:txBody>
      </p:sp>
      <p:sp>
        <p:nvSpPr>
          <p:cNvPr id="11" name="Google-Shape-534-p58-12">
            <a:extLst>
              <a:ext uri="{FF2B5EF4-FFF2-40B4-BE49-F238E27FC236}">
                <a16:creationId xmlns:a16="http://schemas.microsoft.com/office/drawing/2014/main" id="{C1E7FDDA-83FF-46F0-BEEA-7EF55057D21F}"/>
              </a:ext>
            </a:extLst>
          </p:cNvPr>
          <p:cNvSpPr>
            <a:spLocks noGrp="1"/>
          </p:cNvSpPr>
          <p:nvPr/>
        </p:nvSpPr>
        <p:spPr>
          <a:xfrm>
            <a:off x="393668" y="2374868"/>
            <a:ext cx="3568732" cy="36195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判断基準</a:t>
            </a:r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中心判断と第一層の一周に必要か。</a:t>
            </a:r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将来性より今の検証価値を優先。</a:t>
            </a:r>
          </a:p>
        </p:txBody>
      </p:sp>
    </p:spTree>
    <p:extLst>
      <p:ext uri="{BB962C8B-B14F-4D97-AF65-F5344CB8AC3E}">
        <p14:creationId xmlns:p14="http://schemas.microsoft.com/office/powerpoint/2010/main" val="11035148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-Shape-532-p58-2">
            <a:extLst>
              <a:ext uri="{FF2B5EF4-FFF2-40B4-BE49-F238E27FC236}">
                <a16:creationId xmlns:a16="http://schemas.microsoft.com/office/drawing/2014/main" id="{C9BA04FB-62A6-42CD-A331-904C3142329E}"/>
              </a:ext>
            </a:extLst>
          </p:cNvPr>
          <p:cNvSpPr>
            <a:spLocks noGrp="1"/>
          </p:cNvSpPr>
          <p:nvPr/>
        </p:nvSpPr>
        <p:spPr>
          <a:xfrm>
            <a:off x="11279315" y="6279261"/>
            <a:ext cx="518922" cy="241268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/>
          <a:p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09</a:t>
            </a:r>
          </a:p>
        </p:txBody>
      </p:sp>
      <p:sp>
        <p:nvSpPr>
          <p:cNvPr id="2" name="Google-Shape-533-p58-3">
            <a:extLst>
              <a:ext uri="{FF2B5EF4-FFF2-40B4-BE49-F238E27FC236}">
                <a16:creationId xmlns:a16="http://schemas.microsoft.com/office/drawing/2014/main" id="{CD64ED48-B1B3-440A-98CE-7538D1B157D9}"/>
              </a:ext>
            </a:extLst>
          </p:cNvPr>
          <p:cNvSpPr>
            <a:spLocks noGrp="1"/>
          </p:cNvSpPr>
          <p:nvPr/>
        </p:nvSpPr>
        <p:spPr>
          <a:xfrm>
            <a:off x="393668" y="344043"/>
            <a:ext cx="11404568" cy="1047464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/>
              <a:t>制作ツールから本編まで、同じデータを通す</a:t>
            </a:r>
          </a:p>
        </p:txBody>
      </p:sp>
      <p:sp>
        <p:nvSpPr>
          <p:cNvPr id="3" name="Google-Shape-534-p58-4">
            <a:extLst>
              <a:ext uri="{FF2B5EF4-FFF2-40B4-BE49-F238E27FC236}">
                <a16:creationId xmlns:a16="http://schemas.microsoft.com/office/drawing/2014/main" id="{3E3107B0-BCA7-468B-A5CA-128DBED5E8D2}"/>
              </a:ext>
            </a:extLst>
          </p:cNvPr>
          <p:cNvSpPr>
            <a:spLocks noGrp="1"/>
          </p:cNvSpPr>
          <p:nvPr/>
        </p:nvSpPr>
        <p:spPr>
          <a:xfrm>
            <a:off x="393668" y="2356198"/>
            <a:ext cx="5537168" cy="3170841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200000"/>
              </a:lnSpc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00" dirty="0"/>
              <a:t>AUTHORING</a:t>
            </a:r>
          </a:p>
          <a:p>
            <a:pPr algn="l">
              <a:lnSpc>
                <a:spcPct val="200000"/>
              </a:lnSpc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dirty="0"/>
              <a:t>16×16小ステージをEditorで作成。
</a:t>
            </a:r>
            <a:r>
              <a:rPr dirty="0" err="1"/>
              <a:t>地形</a:t>
            </a:r>
            <a:r>
              <a:rPr dirty="0"/>
              <a:t>・</a:t>
            </a:r>
            <a:r>
              <a:rPr lang="ja-JP" altLang="en-US" dirty="0"/>
              <a:t>端</a:t>
            </a:r>
            <a:r>
              <a:rPr dirty="0" err="1"/>
              <a:t>属性・採掘点・ロープ・層間口をJSON保存</a:t>
            </a:r>
            <a:r>
              <a:rPr dirty="0"/>
              <a:t>。</a:t>
            </a:r>
          </a:p>
        </p:txBody>
      </p:sp>
      <p:sp>
        <p:nvSpPr>
          <p:cNvPr id="4" name="Content-Placeholder-3-5">
            <a:extLst>
              <a:ext uri="{FF2B5EF4-FFF2-40B4-BE49-F238E27FC236}">
                <a16:creationId xmlns:a16="http://schemas.microsoft.com/office/drawing/2014/main" id="{9CF7EC21-1383-4CB4-B9A0-DD082D4560CF}"/>
              </a:ext>
            </a:extLst>
          </p:cNvPr>
          <p:cNvSpPr>
            <a:spLocks noGrp="1"/>
          </p:cNvSpPr>
          <p:nvPr/>
        </p:nvSpPr>
        <p:spPr>
          <a:xfrm>
            <a:off x="6256592" y="2356198"/>
            <a:ext cx="5537168" cy="3170841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algn="l">
              <a:lnSpc>
                <a:spcPct val="200000"/>
              </a:lnSpc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00" dirty="0"/>
              <a:t>RUNTIME</a:t>
            </a:r>
          </a:p>
          <a:p>
            <a:pPr algn="l">
              <a:lnSpc>
                <a:spcPct val="200000"/>
              </a:lnSpc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dirty="0"/>
              <a:t>Completed群を4×4へ連結。
</a:t>
            </a:r>
            <a:r>
              <a:rPr dirty="0" err="1"/>
              <a:t>検証済みMapDataを本編が読み、移動・描画・判定へ反映</a:t>
            </a:r>
            <a:r>
              <a:rPr dirty="0"/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2890956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lide-Number-Placeholder-3-2">
            <a:extLst>
              <a:ext uri="{FF2B5EF4-FFF2-40B4-BE49-F238E27FC236}">
                <a16:creationId xmlns:a16="http://schemas.microsoft.com/office/drawing/2014/main" id="{671FCF8E-4A79-48A6-83B3-E90AECED5CE7}"/>
              </a:ext>
            </a:extLst>
          </p:cNvPr>
          <p:cNvSpPr>
            <a:spLocks noGrp="1"/>
          </p:cNvSpPr>
          <p:nvPr/>
        </p:nvSpPr>
        <p:spPr>
          <a:xfrm>
            <a:off x="11279315" y="6279261"/>
            <a:ext cx="518922" cy="241268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10</a:t>
            </a:r>
          </a:p>
        </p:txBody>
      </p:sp>
      <p:sp>
        <p:nvSpPr>
          <p:cNvPr id="2" name="Title-10-3">
            <a:extLst>
              <a:ext uri="{FF2B5EF4-FFF2-40B4-BE49-F238E27FC236}">
                <a16:creationId xmlns:a16="http://schemas.microsoft.com/office/drawing/2014/main" id="{1E802776-F14D-4300-A863-6AA122DA7CCA}"/>
              </a:ext>
            </a:extLst>
          </p:cNvPr>
          <p:cNvSpPr>
            <a:spLocks noGrp="1"/>
          </p:cNvSpPr>
          <p:nvPr/>
        </p:nvSpPr>
        <p:spPr>
          <a:xfrm>
            <a:off x="393668" y="344043"/>
            <a:ext cx="11404568" cy="104746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/>
              <a:t>自動生成は、選択・接続・検証の3段階</a:t>
            </a:r>
          </a:p>
        </p:txBody>
      </p:sp>
      <p:cxnSp>
        <p:nvCxnSpPr>
          <p:cNvPr id="18" name="Google-Shape-2259-p159-4"/>
          <p:cNvCxnSpPr/>
          <p:nvPr/>
        </p:nvCxnSpPr>
        <p:spPr>
          <a:xfrm>
            <a:off x="337757" y="4681216"/>
            <a:ext cx="12245435" cy="286"/>
          </a:xfrm>
          <a:prstGeom prst="straightConnector1">
            <a:avLst/>
          </a:prstGeom>
          <a:ln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>
              <a:ext uri="{FF2B5EF4-FFF2-40B4-BE49-F238E27FC236}">
                <a16:creationId xmlns:a16="http://schemas.microsoft.com/office/drawing/2014/main" id="{5B1F1ED1-C90C-4EF3-94CC-0A3DACC7364A}"/>
              </a:ext>
            </a:extLst>
          </p:cNvPr>
          <p:cNvSpPr>
            <a:spLocks noGrp="1"/>
          </p:cNvSpPr>
          <p:nvPr/>
        </p:nvSpPr>
        <p:spPr>
          <a:xfrm>
            <a:off x="337757" y="4627685"/>
            <a:ext cx="107061" cy="107061"/>
          </a:xfrm>
          <a:prstGeom prst="ellipse">
            <a:avLst/>
          </a:prstGeom>
          <a:solidFill>
            <a:srgbClr val="000000"/>
          </a:solidFill>
        </p:spPr>
        <p:txBody>
          <a:bodyPr/>
          <a:lstStyle/>
          <a:p>
            <a:endParaRPr lang="ja-JP" altLang="en-US"/>
          </a:p>
        </p:txBody>
      </p:sp>
      <p:sp>
        <p:nvSpPr>
          <p:cNvPr id="5" name="Google-Shape-2261-p159-6">
            <a:extLst>
              <a:ext uri="{FF2B5EF4-FFF2-40B4-BE49-F238E27FC236}">
                <a16:creationId xmlns:a16="http://schemas.microsoft.com/office/drawing/2014/main" id="{1AEDE43C-3020-47ED-AFB7-DAAA849BD823}"/>
              </a:ext>
            </a:extLst>
          </p:cNvPr>
          <p:cNvSpPr>
            <a:spLocks noGrp="1"/>
          </p:cNvSpPr>
          <p:nvPr/>
        </p:nvSpPr>
        <p:spPr>
          <a:xfrm>
            <a:off x="4251770" y="4627685"/>
            <a:ext cx="107061" cy="107061"/>
          </a:xfrm>
          <a:prstGeom prst="ellipse">
            <a:avLst/>
          </a:prstGeom>
          <a:solidFill>
            <a:srgbClr val="000000"/>
          </a:solidFill>
        </p:spPr>
        <p:txBody>
          <a:bodyPr/>
          <a:lstStyle/>
          <a:p>
            <a:endParaRPr lang="ja-JP" altLang="en-US"/>
          </a:p>
        </p:txBody>
      </p:sp>
      <p:sp>
        <p:nvSpPr>
          <p:cNvPr id="6" name="Google-Shape-2262-p159-7">
            <a:extLst>
              <a:ext uri="{FF2B5EF4-FFF2-40B4-BE49-F238E27FC236}">
                <a16:creationId xmlns:a16="http://schemas.microsoft.com/office/drawing/2014/main" id="{CF0F88E1-D820-406F-B7F2-48E4341DE637}"/>
              </a:ext>
            </a:extLst>
          </p:cNvPr>
          <p:cNvSpPr>
            <a:spLocks noGrp="1"/>
          </p:cNvSpPr>
          <p:nvPr/>
        </p:nvSpPr>
        <p:spPr>
          <a:xfrm>
            <a:off x="8176070" y="4627685"/>
            <a:ext cx="107061" cy="107061"/>
          </a:xfrm>
          <a:prstGeom prst="ellipse">
            <a:avLst/>
          </a:prstGeom>
          <a:solidFill>
            <a:srgbClr val="000000"/>
          </a:solidFill>
        </p:spPr>
        <p:txBody>
          <a:bodyPr/>
          <a:lstStyle/>
          <a:p>
            <a:endParaRPr lang="ja-JP" altLang="en-US"/>
          </a:p>
        </p:txBody>
      </p:sp>
      <p:sp>
        <p:nvSpPr>
          <p:cNvPr id="7" name="Rounded-Rectangle-19-8">
            <a:extLst>
              <a:ext uri="{FF2B5EF4-FFF2-40B4-BE49-F238E27FC236}">
                <a16:creationId xmlns:a16="http://schemas.microsoft.com/office/drawing/2014/main" id="{B6176CC1-B755-4F21-8D4F-98D04E1087E3}"/>
              </a:ext>
            </a:extLst>
          </p:cNvPr>
          <p:cNvSpPr>
            <a:spLocks noGrp="1"/>
          </p:cNvSpPr>
          <p:nvPr/>
        </p:nvSpPr>
        <p:spPr>
          <a:xfrm>
            <a:off x="390906" y="2365741"/>
            <a:ext cx="3568732" cy="2037354"/>
          </a:xfrm>
          <a:prstGeom prst="roundRect">
            <a:avLst>
              <a:gd name="adj" fmla="val 2135"/>
            </a:avLst>
          </a:prstGeom>
          <a:solidFill>
            <a:srgbClr val="F2F2F2"/>
          </a:solidFill>
        </p:spPr>
        <p:txBody>
          <a:bodyPr/>
          <a:lstStyle/>
          <a:p>
            <a:endParaRPr lang="ja-JP" altLang="en-US"/>
          </a:p>
        </p:txBody>
      </p:sp>
      <p:sp>
        <p:nvSpPr>
          <p:cNvPr id="8" name="Content-Placeholder-8-9">
            <a:extLst>
              <a:ext uri="{FF2B5EF4-FFF2-40B4-BE49-F238E27FC236}">
                <a16:creationId xmlns:a16="http://schemas.microsoft.com/office/drawing/2014/main" id="{34FFE272-540E-4F75-8BA6-704D18517465}"/>
              </a:ext>
            </a:extLst>
          </p:cNvPr>
          <p:cNvSpPr>
            <a:spLocks noGrp="1"/>
          </p:cNvSpPr>
          <p:nvPr/>
        </p:nvSpPr>
        <p:spPr>
          <a:xfrm>
            <a:off x="703421" y="2734903"/>
            <a:ext cx="2949321" cy="1286656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dirty="0" err="1"/>
              <a:t>候補収集</a:t>
            </a:r>
            <a:endParaRPr sz="2400" dirty="0"/>
          </a:p>
          <a:p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 dirty="0" err="1"/>
              <a:t>Completedから読込</a:t>
            </a:r>
            <a:r>
              <a:rPr sz="2000" dirty="0"/>
              <a:t>。</a:t>
            </a:r>
            <a:endParaRPr lang="en-US" sz="2000" dirty="0"/>
          </a:p>
          <a:p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 dirty="0" err="1"/>
              <a:t>役割と外周カテゴリで</a:t>
            </a:r>
            <a:endParaRPr lang="en-US" sz="2000" dirty="0"/>
          </a:p>
          <a:p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 dirty="0" err="1"/>
              <a:t>候補を分類</a:t>
            </a:r>
            <a:r>
              <a:rPr sz="2000" dirty="0"/>
              <a:t>。</a:t>
            </a:r>
          </a:p>
        </p:txBody>
      </p:sp>
      <p:sp>
        <p:nvSpPr>
          <p:cNvPr id="9" name="Rounded-Rectangle-21-10">
            <a:extLst>
              <a:ext uri="{FF2B5EF4-FFF2-40B4-BE49-F238E27FC236}">
                <a16:creationId xmlns:a16="http://schemas.microsoft.com/office/drawing/2014/main" id="{F4F6A12D-9CFF-4BA5-92C7-516276CEE07B}"/>
              </a:ext>
            </a:extLst>
          </p:cNvPr>
          <p:cNvSpPr>
            <a:spLocks noGrp="1"/>
          </p:cNvSpPr>
          <p:nvPr/>
        </p:nvSpPr>
        <p:spPr>
          <a:xfrm>
            <a:off x="4305681" y="2365741"/>
            <a:ext cx="3568732" cy="2037354"/>
          </a:xfrm>
          <a:prstGeom prst="roundRect">
            <a:avLst>
              <a:gd name="adj" fmla="val 2135"/>
            </a:avLst>
          </a:prstGeom>
          <a:solidFill>
            <a:srgbClr val="F2F2F2"/>
          </a:solidFill>
        </p:spPr>
        <p:txBody>
          <a:bodyPr/>
          <a:lstStyle/>
          <a:p>
            <a:endParaRPr lang="ja-JP" altLang="en-US"/>
          </a:p>
        </p:txBody>
      </p:sp>
      <p:sp>
        <p:nvSpPr>
          <p:cNvPr id="10" name="Content-Placeholder-8-11">
            <a:extLst>
              <a:ext uri="{FF2B5EF4-FFF2-40B4-BE49-F238E27FC236}">
                <a16:creationId xmlns:a16="http://schemas.microsoft.com/office/drawing/2014/main" id="{658EEA6F-2D18-4F55-B592-5A4AAD1F8C84}"/>
              </a:ext>
            </a:extLst>
          </p:cNvPr>
          <p:cNvSpPr>
            <a:spLocks noGrp="1"/>
          </p:cNvSpPr>
          <p:nvPr/>
        </p:nvSpPr>
        <p:spPr>
          <a:xfrm>
            <a:off x="4618196" y="2734903"/>
            <a:ext cx="2949321" cy="1286656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dirty="0" err="1"/>
              <a:t>制約配置</a:t>
            </a:r>
            <a:endParaRPr sz="2400" dirty="0"/>
          </a:p>
          <a:p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 dirty="0"/>
              <a:t>隣接辺・開始役割・層間口を照合し、4×4へ配置</a:t>
            </a:r>
            <a:r>
              <a:rPr dirty="0"/>
              <a:t>。</a:t>
            </a:r>
          </a:p>
        </p:txBody>
      </p:sp>
      <p:sp>
        <p:nvSpPr>
          <p:cNvPr id="11" name="Rounded-Rectangle-23-12">
            <a:extLst>
              <a:ext uri="{FF2B5EF4-FFF2-40B4-BE49-F238E27FC236}">
                <a16:creationId xmlns:a16="http://schemas.microsoft.com/office/drawing/2014/main" id="{8FEE8AFA-E6B9-4745-A687-339AB62D44D3}"/>
              </a:ext>
            </a:extLst>
          </p:cNvPr>
          <p:cNvSpPr>
            <a:spLocks noGrp="1"/>
          </p:cNvSpPr>
          <p:nvPr/>
        </p:nvSpPr>
        <p:spPr>
          <a:xfrm>
            <a:off x="8234744" y="2365741"/>
            <a:ext cx="3568732" cy="2037354"/>
          </a:xfrm>
          <a:prstGeom prst="roundRect">
            <a:avLst>
              <a:gd name="adj" fmla="val 2135"/>
            </a:avLst>
          </a:prstGeom>
          <a:solidFill>
            <a:srgbClr val="F2F2F2"/>
          </a:solidFill>
        </p:spPr>
        <p:txBody>
          <a:bodyPr/>
          <a:lstStyle/>
          <a:p>
            <a:endParaRPr lang="ja-JP" altLang="en-US"/>
          </a:p>
        </p:txBody>
      </p:sp>
      <p:sp>
        <p:nvSpPr>
          <p:cNvPr id="12" name="Content-Placeholder-8-13">
            <a:extLst>
              <a:ext uri="{FF2B5EF4-FFF2-40B4-BE49-F238E27FC236}">
                <a16:creationId xmlns:a16="http://schemas.microsoft.com/office/drawing/2014/main" id="{3343A3ED-DB72-4BE2-9428-4B843088AE07}"/>
              </a:ext>
            </a:extLst>
          </p:cNvPr>
          <p:cNvSpPr>
            <a:spLocks noGrp="1"/>
          </p:cNvSpPr>
          <p:nvPr/>
        </p:nvSpPr>
        <p:spPr>
          <a:xfrm>
            <a:off x="8547259" y="2734903"/>
            <a:ext cx="2949321" cy="1286656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dirty="0" err="1"/>
              <a:t>生成後検証</a:t>
            </a:r>
            <a:endParaRPr sz="2400" dirty="0"/>
          </a:p>
          <a:p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 dirty="0" err="1"/>
              <a:t>開始・帰還・採掘点への到達性と不正参照を確認</a:t>
            </a:r>
            <a:endParaRPr sz="2000" dirty="0"/>
          </a:p>
        </p:txBody>
      </p:sp>
      <p:sp>
        <p:nvSpPr>
          <p:cNvPr id="13" name="Text-Placeholder-16-14">
            <a:extLst>
              <a:ext uri="{FF2B5EF4-FFF2-40B4-BE49-F238E27FC236}">
                <a16:creationId xmlns:a16="http://schemas.microsoft.com/office/drawing/2014/main" id="{97D87E74-E008-4DC0-938F-8572F4FF8213}"/>
              </a:ext>
            </a:extLst>
          </p:cNvPr>
          <p:cNvSpPr>
            <a:spLocks noGrp="1"/>
          </p:cNvSpPr>
          <p:nvPr/>
        </p:nvSpPr>
        <p:spPr>
          <a:xfrm>
            <a:off x="4251770" y="4942010"/>
            <a:ext cx="2595944" cy="39195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CONNECT</a:t>
            </a:r>
          </a:p>
        </p:txBody>
      </p:sp>
      <p:sp>
        <p:nvSpPr>
          <p:cNvPr id="14" name="Text-Placeholder-16-15">
            <a:extLst>
              <a:ext uri="{FF2B5EF4-FFF2-40B4-BE49-F238E27FC236}">
                <a16:creationId xmlns:a16="http://schemas.microsoft.com/office/drawing/2014/main" id="{F26BB762-24B0-46CF-8470-886F59E5DC4D}"/>
              </a:ext>
            </a:extLst>
          </p:cNvPr>
          <p:cNvSpPr>
            <a:spLocks noGrp="1"/>
          </p:cNvSpPr>
          <p:nvPr/>
        </p:nvSpPr>
        <p:spPr>
          <a:xfrm>
            <a:off x="390906" y="4942010"/>
            <a:ext cx="2595944" cy="39195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COLLECT</a:t>
            </a:r>
          </a:p>
        </p:txBody>
      </p:sp>
      <p:sp>
        <p:nvSpPr>
          <p:cNvPr id="15" name="Text-Placeholder-16-16">
            <a:extLst>
              <a:ext uri="{FF2B5EF4-FFF2-40B4-BE49-F238E27FC236}">
                <a16:creationId xmlns:a16="http://schemas.microsoft.com/office/drawing/2014/main" id="{0FB5EF33-8975-45DF-ABF9-90AC6A1499B3}"/>
              </a:ext>
            </a:extLst>
          </p:cNvPr>
          <p:cNvSpPr>
            <a:spLocks noGrp="1"/>
          </p:cNvSpPr>
          <p:nvPr/>
        </p:nvSpPr>
        <p:spPr>
          <a:xfrm>
            <a:off x="8225409" y="4942010"/>
            <a:ext cx="2595944" cy="39195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VALIDATE</a:t>
            </a:r>
          </a:p>
        </p:txBody>
      </p:sp>
    </p:spTree>
    <p:extLst>
      <p:ext uri="{BB962C8B-B14F-4D97-AF65-F5344CB8AC3E}">
        <p14:creationId xmlns:p14="http://schemas.microsoft.com/office/powerpoint/2010/main" val="10258583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ounded-Rectangle-5-1">
            <a:extLst>
              <a:ext uri="{FF2B5EF4-FFF2-40B4-BE49-F238E27FC236}">
                <a16:creationId xmlns:a16="http://schemas.microsoft.com/office/drawing/2014/main" id="{5EB887CE-7F00-4998-90A0-5A3B90CEBF1D}"/>
              </a:ext>
            </a:extLst>
          </p:cNvPr>
          <p:cNvSpPr>
            <a:spLocks noGrp="1"/>
          </p:cNvSpPr>
          <p:nvPr/>
        </p:nvSpPr>
        <p:spPr>
          <a:xfrm>
            <a:off x="485108" y="3022568"/>
            <a:ext cx="3568732" cy="2697099"/>
          </a:xfrm>
          <a:prstGeom prst="roundRect">
            <a:avLst>
              <a:gd name="adj" fmla="val 2564"/>
            </a:avLst>
          </a:prstGeom>
          <a:solidFill>
            <a:srgbClr val="F2F2F2"/>
          </a:solidFill>
        </p:spPr>
        <p:txBody>
          <a:bodyPr/>
          <a:lstStyle/>
          <a:p>
            <a:endParaRPr lang="ja-JP" altLang="en-US"/>
          </a:p>
        </p:txBody>
      </p:sp>
      <p:sp>
        <p:nvSpPr>
          <p:cNvPr id="2" name="Rounded-Rectangle-6-2">
            <a:extLst>
              <a:ext uri="{FF2B5EF4-FFF2-40B4-BE49-F238E27FC236}">
                <a16:creationId xmlns:a16="http://schemas.microsoft.com/office/drawing/2014/main" id="{2627FED0-ED07-4CCC-86DF-08C58AE218EB}"/>
              </a:ext>
            </a:extLst>
          </p:cNvPr>
          <p:cNvSpPr>
            <a:spLocks noGrp="1"/>
          </p:cNvSpPr>
          <p:nvPr/>
        </p:nvSpPr>
        <p:spPr>
          <a:xfrm>
            <a:off x="4311586" y="3019996"/>
            <a:ext cx="3568732" cy="2697099"/>
          </a:xfrm>
          <a:prstGeom prst="roundRect">
            <a:avLst>
              <a:gd name="adj" fmla="val 2564"/>
            </a:avLst>
          </a:prstGeom>
          <a:solidFill>
            <a:srgbClr val="F2F2F2"/>
          </a:solidFill>
        </p:spPr>
        <p:txBody>
          <a:bodyPr/>
          <a:lstStyle/>
          <a:p>
            <a:endParaRPr lang="ja-JP" altLang="en-US"/>
          </a:p>
        </p:txBody>
      </p:sp>
      <p:sp>
        <p:nvSpPr>
          <p:cNvPr id="3" name="Rounded-Rectangle-7-3">
            <a:extLst>
              <a:ext uri="{FF2B5EF4-FFF2-40B4-BE49-F238E27FC236}">
                <a16:creationId xmlns:a16="http://schemas.microsoft.com/office/drawing/2014/main" id="{CD307F7A-FB97-415A-ADA4-EF66492838BA}"/>
              </a:ext>
            </a:extLst>
          </p:cNvPr>
          <p:cNvSpPr>
            <a:spLocks noGrp="1"/>
          </p:cNvSpPr>
          <p:nvPr/>
        </p:nvSpPr>
        <p:spPr>
          <a:xfrm>
            <a:off x="8232267" y="3022568"/>
            <a:ext cx="3568732" cy="2697099"/>
          </a:xfrm>
          <a:prstGeom prst="roundRect">
            <a:avLst>
              <a:gd name="adj" fmla="val 2564"/>
            </a:avLst>
          </a:prstGeom>
          <a:solidFill>
            <a:srgbClr val="F2F2F2"/>
          </a:solidFill>
        </p:spPr>
        <p:txBody>
          <a:bodyPr/>
          <a:lstStyle/>
          <a:p>
            <a:endParaRPr lang="ja-JP" altLang="en-US"/>
          </a:p>
        </p:txBody>
      </p:sp>
      <p:sp>
        <p:nvSpPr>
          <p:cNvPr id="4" name="Slide-Number-Placeholder-1-4">
            <a:extLst>
              <a:ext uri="{FF2B5EF4-FFF2-40B4-BE49-F238E27FC236}">
                <a16:creationId xmlns:a16="http://schemas.microsoft.com/office/drawing/2014/main" id="{14793BCF-9B98-4037-A4CC-17D666FD4078}"/>
              </a:ext>
            </a:extLst>
          </p:cNvPr>
          <p:cNvSpPr>
            <a:spLocks noGrp="1"/>
          </p:cNvSpPr>
          <p:nvPr/>
        </p:nvSpPr>
        <p:spPr>
          <a:xfrm>
            <a:off x="11279315" y="6279261"/>
            <a:ext cx="518922" cy="241268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11</a:t>
            </a:r>
          </a:p>
        </p:txBody>
      </p:sp>
      <p:sp>
        <p:nvSpPr>
          <p:cNvPr id="5" name="Title-2-5">
            <a:extLst>
              <a:ext uri="{FF2B5EF4-FFF2-40B4-BE49-F238E27FC236}">
                <a16:creationId xmlns:a16="http://schemas.microsoft.com/office/drawing/2014/main" id="{4402C042-101F-45BD-866B-FAA7CAD01DD6}"/>
              </a:ext>
            </a:extLst>
          </p:cNvPr>
          <p:cNvSpPr>
            <a:spLocks noGrp="1"/>
          </p:cNvSpPr>
          <p:nvPr/>
        </p:nvSpPr>
        <p:spPr>
          <a:xfrm>
            <a:off x="393668" y="344043"/>
            <a:ext cx="11404568" cy="104746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400" dirty="0" err="1"/>
              <a:t>生成条件</a:t>
            </a:r>
            <a:endParaRPr sz="4400" dirty="0"/>
          </a:p>
        </p:txBody>
      </p:sp>
      <p:sp>
        <p:nvSpPr>
          <p:cNvPr id="6" name="Content-Placeholder-9-6">
            <a:extLst>
              <a:ext uri="{FF2B5EF4-FFF2-40B4-BE49-F238E27FC236}">
                <a16:creationId xmlns:a16="http://schemas.microsoft.com/office/drawing/2014/main" id="{DDBE0770-1C39-42C6-A744-B324EF8C37D4}"/>
              </a:ext>
            </a:extLst>
          </p:cNvPr>
          <p:cNvSpPr>
            <a:spLocks noGrp="1"/>
          </p:cNvSpPr>
          <p:nvPr/>
        </p:nvSpPr>
        <p:spPr>
          <a:xfrm>
            <a:off x="700563" y="4013288"/>
            <a:ext cx="2949607" cy="744682"/>
          </a:xfrm>
          <a:prstGeom prst="rect">
            <a:avLst/>
          </a:prstGeom>
        </p:spPr>
        <p:txBody>
          <a:bodyPr lIns="91440" tIns="45720" rIns="91440" bIns="45720">
            <a:norm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ja-JP" altLang="en-US" dirty="0"/>
              <a:t>現状</a:t>
            </a:r>
            <a:r>
              <a:rPr dirty="0"/>
              <a:t>完成ピース</a:t>
            </a:r>
            <a:r>
              <a:rPr lang="en-US" dirty="0"/>
              <a:t>:19</a:t>
            </a:r>
            <a:endParaRPr dirty="0"/>
          </a:p>
        </p:txBody>
      </p:sp>
      <p:sp>
        <p:nvSpPr>
          <p:cNvPr id="7" name="Content-Placeholder-10-7">
            <a:extLst>
              <a:ext uri="{FF2B5EF4-FFF2-40B4-BE49-F238E27FC236}">
                <a16:creationId xmlns:a16="http://schemas.microsoft.com/office/drawing/2014/main" id="{57C0371C-E234-4398-B316-CC48D5BF1FB3}"/>
              </a:ext>
            </a:extLst>
          </p:cNvPr>
          <p:cNvSpPr>
            <a:spLocks noGrp="1"/>
          </p:cNvSpPr>
          <p:nvPr/>
        </p:nvSpPr>
        <p:spPr>
          <a:xfrm>
            <a:off x="8541830" y="4013288"/>
            <a:ext cx="2949607" cy="744682"/>
          </a:xfrm>
          <a:prstGeom prst="rect">
            <a:avLst/>
          </a:prstGeom>
        </p:spPr>
        <p:txBody>
          <a:bodyPr lIns="91440" tIns="45720" rIns="91440" bIns="45720">
            <a:norm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dirty="0"/>
              <a:t>通常試行上限</a:t>
            </a:r>
            <a:r>
              <a:rPr lang="en-US" dirty="0"/>
              <a:t>:100</a:t>
            </a:r>
            <a:endParaRPr dirty="0"/>
          </a:p>
        </p:txBody>
      </p:sp>
      <p:sp>
        <p:nvSpPr>
          <p:cNvPr id="8" name="Content-Placeholder-11-8">
            <a:extLst>
              <a:ext uri="{FF2B5EF4-FFF2-40B4-BE49-F238E27FC236}">
                <a16:creationId xmlns:a16="http://schemas.microsoft.com/office/drawing/2014/main" id="{52B58B53-54D5-4CA8-B52D-144F6EC0F921}"/>
              </a:ext>
            </a:extLst>
          </p:cNvPr>
          <p:cNvSpPr>
            <a:spLocks noGrp="1"/>
          </p:cNvSpPr>
          <p:nvPr/>
        </p:nvSpPr>
        <p:spPr>
          <a:xfrm>
            <a:off x="4621148" y="4013288"/>
            <a:ext cx="2949607" cy="744682"/>
          </a:xfrm>
          <a:prstGeom prst="rect">
            <a:avLst/>
          </a:prstGeom>
        </p:spPr>
        <p:txBody>
          <a:bodyPr lIns="91440" tIns="45720" rIns="91440" bIns="45720">
            <a:norm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dirty="0"/>
              <a:t>4×4配置数</a:t>
            </a:r>
          </a:p>
        </p:txBody>
      </p:sp>
      <p:sp>
        <p:nvSpPr>
          <p:cNvPr id="12" name="Content-Placeholder-15-12">
            <a:extLst>
              <a:ext uri="{FF2B5EF4-FFF2-40B4-BE49-F238E27FC236}">
                <a16:creationId xmlns:a16="http://schemas.microsoft.com/office/drawing/2014/main" id="{1DEA8DC5-B2E1-4EC0-BC2B-BE8717D1F260}"/>
              </a:ext>
            </a:extLst>
          </p:cNvPr>
          <p:cNvSpPr>
            <a:spLocks noGrp="1"/>
          </p:cNvSpPr>
          <p:nvPr/>
        </p:nvSpPr>
        <p:spPr>
          <a:xfrm>
            <a:off x="393668" y="1138333"/>
            <a:ext cx="11404568" cy="1599438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00" dirty="0" err="1"/>
              <a:t>現在の生成構成</a:t>
            </a:r>
            <a:endParaRPr sz="2800" dirty="0"/>
          </a:p>
          <a:p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00" dirty="0" err="1"/>
              <a:t>少数の手作りピースから、接続可能な第一層エリアを構築</a:t>
            </a:r>
            <a:r>
              <a:rPr sz="2800" dirty="0"/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6410027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-Number-Placeholder-1-2">
            <a:extLst>
              <a:ext uri="{FF2B5EF4-FFF2-40B4-BE49-F238E27FC236}">
                <a16:creationId xmlns:a16="http://schemas.microsoft.com/office/drawing/2014/main" id="{25C5105C-22F8-49B8-B5D4-785572880853}"/>
              </a:ext>
            </a:extLst>
          </p:cNvPr>
          <p:cNvSpPr>
            <a:spLocks noGrp="1"/>
          </p:cNvSpPr>
          <p:nvPr/>
        </p:nvSpPr>
        <p:spPr>
          <a:xfrm>
            <a:off x="11279219" y="6278594"/>
            <a:ext cx="519113" cy="241268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12</a:t>
            </a:r>
          </a:p>
        </p:txBody>
      </p:sp>
      <p:sp>
        <p:nvSpPr>
          <p:cNvPr id="2" name="Title-2-3">
            <a:extLst>
              <a:ext uri="{FF2B5EF4-FFF2-40B4-BE49-F238E27FC236}">
                <a16:creationId xmlns:a16="http://schemas.microsoft.com/office/drawing/2014/main" id="{909A76F3-275A-44B2-BD78-4F1026A3AAF3}"/>
              </a:ext>
            </a:extLst>
          </p:cNvPr>
          <p:cNvSpPr>
            <a:spLocks noGrp="1"/>
          </p:cNvSpPr>
          <p:nvPr/>
        </p:nvSpPr>
        <p:spPr>
          <a:xfrm>
            <a:off x="393668" y="344043"/>
            <a:ext cx="11404568" cy="104746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/>
              <a:t>Editorで、制作・検証・本編確認をつなぐ</a:t>
            </a:r>
          </a:p>
        </p:txBody>
      </p:sp>
      <p:sp>
        <p:nvSpPr>
          <p:cNvPr id="3" name="Content-Placeholder-9-4">
            <a:extLst>
              <a:ext uri="{FF2B5EF4-FFF2-40B4-BE49-F238E27FC236}">
                <a16:creationId xmlns:a16="http://schemas.microsoft.com/office/drawing/2014/main" id="{972CCA40-D18A-4D33-82F9-29EF4E22AAA3}"/>
              </a:ext>
            </a:extLst>
          </p:cNvPr>
          <p:cNvSpPr>
            <a:spLocks noGrp="1"/>
          </p:cNvSpPr>
          <p:nvPr/>
        </p:nvSpPr>
        <p:spPr>
          <a:xfrm>
            <a:off x="393668" y="2031968"/>
            <a:ext cx="5537168" cy="1643063"/>
          </a:xfrm>
          <a:prstGeom prst="rect">
            <a:avLst/>
          </a:prstGeom>
        </p:spPr>
        <p:txBody>
          <a:bodyPr lIns="91440" tIns="45720" rIns="91440" bIns="45720"/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地形編集</a:t>
            </a:r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頂点・面・高さ・セル属性・削除と復元。</a:t>
            </a:r>
          </a:p>
        </p:txBody>
      </p:sp>
      <p:sp>
        <p:nvSpPr>
          <p:cNvPr id="4" name="Content-Placeholder-10-5">
            <a:extLst>
              <a:ext uri="{FF2B5EF4-FFF2-40B4-BE49-F238E27FC236}">
                <a16:creationId xmlns:a16="http://schemas.microsoft.com/office/drawing/2014/main" id="{97338A8B-DD96-4BE5-846A-E4E3713E1A77}"/>
              </a:ext>
            </a:extLst>
          </p:cNvPr>
          <p:cNvSpPr>
            <a:spLocks noGrp="1"/>
          </p:cNvSpPr>
          <p:nvPr/>
        </p:nvSpPr>
        <p:spPr>
          <a:xfrm>
            <a:off x="6256592" y="2031968"/>
            <a:ext cx="5537168" cy="1643063"/>
          </a:xfrm>
          <a:prstGeom prst="rect">
            <a:avLst/>
          </a:prstGeom>
        </p:spPr>
        <p:txBody>
          <a:bodyPr lIns="91440" tIns="45720" rIns="91440" bIns="45720"/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配置編集</a:t>
            </a:r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採掘点・ロープ・開始帰還・環境モデル。</a:t>
            </a:r>
          </a:p>
        </p:txBody>
      </p:sp>
      <p:sp>
        <p:nvSpPr>
          <p:cNvPr id="5" name="Content-Placeholder-9-6">
            <a:extLst>
              <a:ext uri="{FF2B5EF4-FFF2-40B4-BE49-F238E27FC236}">
                <a16:creationId xmlns:a16="http://schemas.microsoft.com/office/drawing/2014/main" id="{A97E3518-4803-462F-A98C-843943227A51}"/>
              </a:ext>
            </a:extLst>
          </p:cNvPr>
          <p:cNvSpPr>
            <a:spLocks noGrp="1"/>
          </p:cNvSpPr>
          <p:nvPr/>
        </p:nvSpPr>
        <p:spPr>
          <a:xfrm>
            <a:off x="393668" y="4016978"/>
            <a:ext cx="5537168" cy="1643158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制作管理</a:t>
            </a:r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Drafts / Completed、Hierarchy、保存と読込。</a:t>
            </a:r>
          </a:p>
        </p:txBody>
      </p:sp>
      <p:sp>
        <p:nvSpPr>
          <p:cNvPr id="6" name="Content-Placeholder-10-7">
            <a:extLst>
              <a:ext uri="{FF2B5EF4-FFF2-40B4-BE49-F238E27FC236}">
                <a16:creationId xmlns:a16="http://schemas.microsoft.com/office/drawing/2014/main" id="{8FBAFAD9-2E2F-4C79-9B33-0BCAAD99B52D}"/>
              </a:ext>
            </a:extLst>
          </p:cNvPr>
          <p:cNvSpPr>
            <a:spLocks noGrp="1"/>
          </p:cNvSpPr>
          <p:nvPr/>
        </p:nvSpPr>
        <p:spPr>
          <a:xfrm>
            <a:off x="6256592" y="4016978"/>
            <a:ext cx="5537168" cy="1643158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検証</a:t>
            </a:r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不正参照・重複・範囲・到達性を表示。</a:t>
            </a:r>
          </a:p>
        </p:txBody>
      </p:sp>
    </p:spTree>
    <p:extLst>
      <p:ext uri="{BB962C8B-B14F-4D97-AF65-F5344CB8AC3E}">
        <p14:creationId xmlns:p14="http://schemas.microsoft.com/office/powerpoint/2010/main" val="12382029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-Shape-532-p58-2">
            <a:extLst>
              <a:ext uri="{FF2B5EF4-FFF2-40B4-BE49-F238E27FC236}">
                <a16:creationId xmlns:a16="http://schemas.microsoft.com/office/drawing/2014/main" id="{1AE0BBC2-5014-4981-859C-41E3BAB30091}"/>
              </a:ext>
            </a:extLst>
          </p:cNvPr>
          <p:cNvSpPr>
            <a:spLocks noGrp="1"/>
          </p:cNvSpPr>
          <p:nvPr/>
        </p:nvSpPr>
        <p:spPr>
          <a:xfrm>
            <a:off x="11279315" y="6279261"/>
            <a:ext cx="518922" cy="241268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/>
          <a:p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13</a:t>
            </a:r>
          </a:p>
        </p:txBody>
      </p:sp>
      <p:sp>
        <p:nvSpPr>
          <p:cNvPr id="2" name="Google-Shape-533-p58-3">
            <a:extLst>
              <a:ext uri="{FF2B5EF4-FFF2-40B4-BE49-F238E27FC236}">
                <a16:creationId xmlns:a16="http://schemas.microsoft.com/office/drawing/2014/main" id="{C4765E49-455C-4994-996D-C5F46073EDE4}"/>
              </a:ext>
            </a:extLst>
          </p:cNvPr>
          <p:cNvSpPr>
            <a:spLocks noGrp="1"/>
          </p:cNvSpPr>
          <p:nvPr/>
        </p:nvSpPr>
        <p:spPr>
          <a:xfrm>
            <a:off x="393668" y="344043"/>
            <a:ext cx="11404568" cy="1047464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/>
              <a:t>データ駆動化で、制作とゲーム処理を分離した</a:t>
            </a:r>
          </a:p>
        </p:txBody>
      </p:sp>
      <p:sp>
        <p:nvSpPr>
          <p:cNvPr id="3" name="Rounded-Rectangle-6-4">
            <a:extLst>
              <a:ext uri="{FF2B5EF4-FFF2-40B4-BE49-F238E27FC236}">
                <a16:creationId xmlns:a16="http://schemas.microsoft.com/office/drawing/2014/main" id="{2C8F21BF-544C-4DC3-B34C-1A3079A7187C}"/>
              </a:ext>
            </a:extLst>
          </p:cNvPr>
          <p:cNvSpPr>
            <a:spLocks noGrp="1"/>
          </p:cNvSpPr>
          <p:nvPr/>
        </p:nvSpPr>
        <p:spPr>
          <a:xfrm>
            <a:off x="6264402" y="2369820"/>
            <a:ext cx="5533930" cy="1638300"/>
          </a:xfrm>
          <a:prstGeom prst="roundRect">
            <a:avLst>
              <a:gd name="adj" fmla="val 4651"/>
            </a:avLst>
          </a:prstGeom>
          <a:solidFill>
            <a:srgbClr val="F2F2F2"/>
          </a:solidFill>
        </p:spPr>
        <p:txBody>
          <a:bodyPr/>
          <a:lstStyle/>
          <a:p>
            <a:endParaRPr lang="ja-JP" altLang="en-US"/>
          </a:p>
        </p:txBody>
      </p:sp>
      <p:sp>
        <p:nvSpPr>
          <p:cNvPr id="4" name="Content-Placeholder-10-5">
            <a:extLst>
              <a:ext uri="{FF2B5EF4-FFF2-40B4-BE49-F238E27FC236}">
                <a16:creationId xmlns:a16="http://schemas.microsoft.com/office/drawing/2014/main" id="{AD011411-823B-4F99-864E-E2E00DE29484}"/>
              </a:ext>
            </a:extLst>
          </p:cNvPr>
          <p:cNvSpPr>
            <a:spLocks noGrp="1"/>
          </p:cNvSpPr>
          <p:nvPr/>
        </p:nvSpPr>
        <p:spPr>
          <a:xfrm>
            <a:off x="6561677" y="2664809"/>
            <a:ext cx="4986909" cy="1048417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MapData</a:t>
            </a:r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連結地形・参照・開始帰還 / v2</a:t>
            </a:r>
          </a:p>
        </p:txBody>
      </p:sp>
      <p:sp>
        <p:nvSpPr>
          <p:cNvPr id="5" name="Rounded-Rectangle-8-6">
            <a:extLst>
              <a:ext uri="{FF2B5EF4-FFF2-40B4-BE49-F238E27FC236}">
                <a16:creationId xmlns:a16="http://schemas.microsoft.com/office/drawing/2014/main" id="{FA697E75-16DC-4D22-AB54-94053C778090}"/>
              </a:ext>
            </a:extLst>
          </p:cNvPr>
          <p:cNvSpPr>
            <a:spLocks noGrp="1"/>
          </p:cNvSpPr>
          <p:nvPr/>
        </p:nvSpPr>
        <p:spPr>
          <a:xfrm>
            <a:off x="409004" y="2369820"/>
            <a:ext cx="5533930" cy="1638300"/>
          </a:xfrm>
          <a:prstGeom prst="roundRect">
            <a:avLst>
              <a:gd name="adj" fmla="val 4651"/>
            </a:avLst>
          </a:prstGeom>
          <a:solidFill>
            <a:srgbClr val="F2F2F2"/>
          </a:solidFill>
        </p:spPr>
        <p:txBody>
          <a:bodyPr/>
          <a:lstStyle/>
          <a:p>
            <a:endParaRPr lang="ja-JP" altLang="en-US"/>
          </a:p>
        </p:txBody>
      </p:sp>
      <p:sp>
        <p:nvSpPr>
          <p:cNvPr id="6" name="Content-Placeholder-10-7">
            <a:extLst>
              <a:ext uri="{FF2B5EF4-FFF2-40B4-BE49-F238E27FC236}">
                <a16:creationId xmlns:a16="http://schemas.microsoft.com/office/drawing/2014/main" id="{0DB64D61-5482-4992-8C5C-0CD7196B5AEE}"/>
              </a:ext>
            </a:extLst>
          </p:cNvPr>
          <p:cNvSpPr>
            <a:spLocks noGrp="1"/>
          </p:cNvSpPr>
          <p:nvPr/>
        </p:nvSpPr>
        <p:spPr>
          <a:xfrm>
            <a:off x="706279" y="2664809"/>
            <a:ext cx="4986909" cy="1048417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PieceData</a:t>
            </a:r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16×16地形・局所配置 / v1</a:t>
            </a:r>
          </a:p>
        </p:txBody>
      </p:sp>
      <p:sp>
        <p:nvSpPr>
          <p:cNvPr id="7" name="Rounded-Rectangle-1-8">
            <a:extLst>
              <a:ext uri="{FF2B5EF4-FFF2-40B4-BE49-F238E27FC236}">
                <a16:creationId xmlns:a16="http://schemas.microsoft.com/office/drawing/2014/main" id="{66CEBDB2-4466-4313-8DE4-C0B2FB93D48F}"/>
              </a:ext>
            </a:extLst>
          </p:cNvPr>
          <p:cNvSpPr>
            <a:spLocks noGrp="1"/>
          </p:cNvSpPr>
          <p:nvPr/>
        </p:nvSpPr>
        <p:spPr>
          <a:xfrm>
            <a:off x="6264402" y="4370070"/>
            <a:ext cx="5533930" cy="1638300"/>
          </a:xfrm>
          <a:prstGeom prst="roundRect">
            <a:avLst>
              <a:gd name="adj" fmla="val 4651"/>
            </a:avLst>
          </a:prstGeom>
          <a:solidFill>
            <a:srgbClr val="F2F2F2"/>
          </a:solidFill>
        </p:spPr>
        <p:txBody>
          <a:bodyPr/>
          <a:lstStyle/>
          <a:p>
            <a:endParaRPr lang="ja-JP" altLang="en-US"/>
          </a:p>
        </p:txBody>
      </p:sp>
      <p:sp>
        <p:nvSpPr>
          <p:cNvPr id="8" name="Content-Placeholder-10-9">
            <a:extLst>
              <a:ext uri="{FF2B5EF4-FFF2-40B4-BE49-F238E27FC236}">
                <a16:creationId xmlns:a16="http://schemas.microsoft.com/office/drawing/2014/main" id="{5004CB81-A00C-41DC-B3F7-E7AB90BC0C0F}"/>
              </a:ext>
            </a:extLst>
          </p:cNvPr>
          <p:cNvSpPr>
            <a:spLocks noGrp="1"/>
          </p:cNvSpPr>
          <p:nvPr/>
        </p:nvSpPr>
        <p:spPr>
          <a:xfrm>
            <a:off x="6561677" y="4665059"/>
            <a:ext cx="4986909" cy="1048417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残課題</a:t>
            </a:r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version移行と不正JSONの自動テスト</a:t>
            </a:r>
          </a:p>
        </p:txBody>
      </p:sp>
      <p:sp>
        <p:nvSpPr>
          <p:cNvPr id="9" name="Rounded-Rectangle-3-10">
            <a:extLst>
              <a:ext uri="{FF2B5EF4-FFF2-40B4-BE49-F238E27FC236}">
                <a16:creationId xmlns:a16="http://schemas.microsoft.com/office/drawing/2014/main" id="{5CF2327E-D92A-441B-B07D-EBB1C80ED06F}"/>
              </a:ext>
            </a:extLst>
          </p:cNvPr>
          <p:cNvSpPr>
            <a:spLocks noGrp="1"/>
          </p:cNvSpPr>
          <p:nvPr/>
        </p:nvSpPr>
        <p:spPr>
          <a:xfrm>
            <a:off x="409004" y="4370070"/>
            <a:ext cx="5533930" cy="1638300"/>
          </a:xfrm>
          <a:prstGeom prst="roundRect">
            <a:avLst>
              <a:gd name="adj" fmla="val 4651"/>
            </a:avLst>
          </a:prstGeom>
          <a:solidFill>
            <a:srgbClr val="F2F2F2"/>
          </a:solidFill>
        </p:spPr>
        <p:txBody>
          <a:bodyPr/>
          <a:lstStyle/>
          <a:p>
            <a:endParaRPr lang="ja-JP" altLang="en-US"/>
          </a:p>
        </p:txBody>
      </p:sp>
      <p:sp>
        <p:nvSpPr>
          <p:cNvPr id="10" name="Content-Placeholder-10-11">
            <a:extLst>
              <a:ext uri="{FF2B5EF4-FFF2-40B4-BE49-F238E27FC236}">
                <a16:creationId xmlns:a16="http://schemas.microsoft.com/office/drawing/2014/main" id="{063875A1-B768-4126-9EAD-3ECE4C099CE5}"/>
              </a:ext>
            </a:extLst>
          </p:cNvPr>
          <p:cNvSpPr>
            <a:spLocks noGrp="1"/>
          </p:cNvSpPr>
          <p:nvPr/>
        </p:nvSpPr>
        <p:spPr>
          <a:xfrm>
            <a:off x="706279" y="4665059"/>
            <a:ext cx="4986909" cy="1048417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Validation</a:t>
            </a:r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範囲・重複・属性・到達性</a:t>
            </a:r>
          </a:p>
        </p:txBody>
      </p:sp>
      <p:sp>
        <p:nvSpPr>
          <p:cNvPr id="11" name="Content-Placeholder-15-12">
            <a:extLst>
              <a:ext uri="{FF2B5EF4-FFF2-40B4-BE49-F238E27FC236}">
                <a16:creationId xmlns:a16="http://schemas.microsoft.com/office/drawing/2014/main" id="{1A6C61C6-3399-4A5B-8B9C-3753163C3E03}"/>
              </a:ext>
            </a:extLst>
          </p:cNvPr>
          <p:cNvSpPr>
            <a:spLocks noGrp="1"/>
          </p:cNvSpPr>
          <p:nvPr/>
        </p:nvSpPr>
        <p:spPr>
          <a:xfrm>
            <a:off x="400907" y="1057466"/>
            <a:ext cx="11404568" cy="1012222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dirty="0" err="1"/>
              <a:t>JSONを境界にする</a:t>
            </a:r>
            <a:endParaRPr sz="2400" dirty="0"/>
          </a:p>
          <a:p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dirty="0" err="1"/>
              <a:t>Editor・Generator・Runtimeが同じデータ形式を共有する</a:t>
            </a:r>
            <a:r>
              <a:rPr sz="2400" dirty="0"/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4769519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-Number-Placeholder-1-2">
            <a:extLst>
              <a:ext uri="{FF2B5EF4-FFF2-40B4-BE49-F238E27FC236}">
                <a16:creationId xmlns:a16="http://schemas.microsoft.com/office/drawing/2014/main" id="{BC9406FB-4BC5-4D46-8ADF-4EA0EED43530}"/>
              </a:ext>
            </a:extLst>
          </p:cNvPr>
          <p:cNvSpPr>
            <a:spLocks noGrp="1"/>
          </p:cNvSpPr>
          <p:nvPr/>
        </p:nvSpPr>
        <p:spPr>
          <a:xfrm>
            <a:off x="11279219" y="6278594"/>
            <a:ext cx="519113" cy="241268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14</a:t>
            </a:r>
          </a:p>
        </p:txBody>
      </p:sp>
      <p:sp>
        <p:nvSpPr>
          <p:cNvPr id="2" name="Title-2-3">
            <a:extLst>
              <a:ext uri="{FF2B5EF4-FFF2-40B4-BE49-F238E27FC236}">
                <a16:creationId xmlns:a16="http://schemas.microsoft.com/office/drawing/2014/main" id="{FCD6D7C0-B41E-4940-A582-52CADEF29F81}"/>
              </a:ext>
            </a:extLst>
          </p:cNvPr>
          <p:cNvSpPr>
            <a:spLocks noGrp="1"/>
          </p:cNvSpPr>
          <p:nvPr/>
        </p:nvSpPr>
        <p:spPr>
          <a:xfrm>
            <a:off x="393668" y="344043"/>
            <a:ext cx="11404568" cy="104746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/>
              <a:t>本編では、探索から再潜行まで一周できる</a:t>
            </a:r>
          </a:p>
        </p:txBody>
      </p:sp>
      <p:sp>
        <p:nvSpPr>
          <p:cNvPr id="3" name="Content-Placeholder-9-4">
            <a:extLst>
              <a:ext uri="{FF2B5EF4-FFF2-40B4-BE49-F238E27FC236}">
                <a16:creationId xmlns:a16="http://schemas.microsoft.com/office/drawing/2014/main" id="{C394A53C-DD58-41A0-9471-5CC07BD0F099}"/>
              </a:ext>
            </a:extLst>
          </p:cNvPr>
          <p:cNvSpPr>
            <a:spLocks noGrp="1"/>
          </p:cNvSpPr>
          <p:nvPr/>
        </p:nvSpPr>
        <p:spPr>
          <a:xfrm>
            <a:off x="393668" y="2031968"/>
            <a:ext cx="5537168" cy="1643063"/>
          </a:xfrm>
          <a:prstGeom prst="rect">
            <a:avLst/>
          </a:prstGeom>
        </p:spPr>
        <p:txBody>
          <a:bodyPr lIns="91440" tIns="45720" rIns="91440" bIns="45720"/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移動・地形</a:t>
            </a:r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歩行、走り、ジャンプ、斜面、落下、ロープ。</a:t>
            </a:r>
          </a:p>
        </p:txBody>
      </p:sp>
      <p:sp>
        <p:nvSpPr>
          <p:cNvPr id="4" name="Content-Placeholder-10-5">
            <a:extLst>
              <a:ext uri="{FF2B5EF4-FFF2-40B4-BE49-F238E27FC236}">
                <a16:creationId xmlns:a16="http://schemas.microsoft.com/office/drawing/2014/main" id="{0806E20D-9D51-46B8-844A-B11316A2BA53}"/>
              </a:ext>
            </a:extLst>
          </p:cNvPr>
          <p:cNvSpPr>
            <a:spLocks noGrp="1"/>
          </p:cNvSpPr>
          <p:nvPr/>
        </p:nvSpPr>
        <p:spPr>
          <a:xfrm>
            <a:off x="6256592" y="2031968"/>
            <a:ext cx="5537168" cy="1643063"/>
          </a:xfrm>
          <a:prstGeom prst="rect">
            <a:avLst/>
          </a:prstGeom>
        </p:spPr>
        <p:txBody>
          <a:bodyPr lIns="91440" tIns="45720" rIns="91440" bIns="45720"/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探索・採掘</a:t>
            </a:r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地図、ピン、発見、採掘、重量、鑑定。</a:t>
            </a:r>
          </a:p>
        </p:txBody>
      </p:sp>
      <p:sp>
        <p:nvSpPr>
          <p:cNvPr id="5" name="Content-Placeholder-9-6">
            <a:extLst>
              <a:ext uri="{FF2B5EF4-FFF2-40B4-BE49-F238E27FC236}">
                <a16:creationId xmlns:a16="http://schemas.microsoft.com/office/drawing/2014/main" id="{5EC081D2-307B-402D-846C-3D6FCD71264A}"/>
              </a:ext>
            </a:extLst>
          </p:cNvPr>
          <p:cNvSpPr>
            <a:spLocks noGrp="1"/>
          </p:cNvSpPr>
          <p:nvPr/>
        </p:nvSpPr>
        <p:spPr>
          <a:xfrm>
            <a:off x="393668" y="4016978"/>
            <a:ext cx="5537168" cy="1643158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戦闘・生存</a:t>
            </a:r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敵接近、予備動作、体当たり、食料、死亡。</a:t>
            </a:r>
          </a:p>
        </p:txBody>
      </p:sp>
      <p:sp>
        <p:nvSpPr>
          <p:cNvPr id="6" name="Content-Placeholder-10-7">
            <a:extLst>
              <a:ext uri="{FF2B5EF4-FFF2-40B4-BE49-F238E27FC236}">
                <a16:creationId xmlns:a16="http://schemas.microsoft.com/office/drawing/2014/main" id="{5A25291D-A34D-454F-8BE8-85A0756DAEDF}"/>
              </a:ext>
            </a:extLst>
          </p:cNvPr>
          <p:cNvSpPr>
            <a:spLocks noGrp="1"/>
          </p:cNvSpPr>
          <p:nvPr/>
        </p:nvSpPr>
        <p:spPr>
          <a:xfrm>
            <a:off x="6256592" y="4016978"/>
            <a:ext cx="5537168" cy="1643158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帰還後</a:t>
            </a:r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売却、商店、武具屋、自宅、再潜行。</a:t>
            </a:r>
          </a:p>
        </p:txBody>
      </p:sp>
    </p:spTree>
    <p:extLst>
      <p:ext uri="{BB962C8B-B14F-4D97-AF65-F5344CB8AC3E}">
        <p14:creationId xmlns:p14="http://schemas.microsoft.com/office/powerpoint/2010/main" val="13010212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ounded-Rectangle-5-1">
            <a:extLst>
              <a:ext uri="{FF2B5EF4-FFF2-40B4-BE49-F238E27FC236}">
                <a16:creationId xmlns:a16="http://schemas.microsoft.com/office/drawing/2014/main" id="{B014F905-D305-44D8-87AC-B17F351A4048}"/>
              </a:ext>
            </a:extLst>
          </p:cNvPr>
          <p:cNvSpPr>
            <a:spLocks noGrp="1"/>
          </p:cNvSpPr>
          <p:nvPr/>
        </p:nvSpPr>
        <p:spPr>
          <a:xfrm>
            <a:off x="390905" y="3263836"/>
            <a:ext cx="3568732" cy="2392712"/>
          </a:xfrm>
          <a:prstGeom prst="roundRect">
            <a:avLst>
              <a:gd name="adj" fmla="val 2564"/>
            </a:avLst>
          </a:prstGeom>
          <a:solidFill>
            <a:srgbClr val="F2F2F2"/>
          </a:solidFill>
        </p:spPr>
        <p:txBody>
          <a:bodyPr/>
          <a:lstStyle/>
          <a:p>
            <a:endParaRPr lang="ja-JP" altLang="en-US"/>
          </a:p>
        </p:txBody>
      </p:sp>
      <p:sp>
        <p:nvSpPr>
          <p:cNvPr id="2" name="Rounded-Rectangle-6-2">
            <a:extLst>
              <a:ext uri="{FF2B5EF4-FFF2-40B4-BE49-F238E27FC236}">
                <a16:creationId xmlns:a16="http://schemas.microsoft.com/office/drawing/2014/main" id="{11A36648-96DD-44C5-ABC2-741B9799DB28}"/>
              </a:ext>
            </a:extLst>
          </p:cNvPr>
          <p:cNvSpPr>
            <a:spLocks noGrp="1"/>
          </p:cNvSpPr>
          <p:nvPr/>
        </p:nvSpPr>
        <p:spPr>
          <a:xfrm>
            <a:off x="4308919" y="3263836"/>
            <a:ext cx="3568732" cy="2392712"/>
          </a:xfrm>
          <a:prstGeom prst="roundRect">
            <a:avLst>
              <a:gd name="adj" fmla="val 2564"/>
            </a:avLst>
          </a:prstGeom>
          <a:solidFill>
            <a:srgbClr val="F2F2F2"/>
          </a:solidFill>
        </p:spPr>
        <p:txBody>
          <a:bodyPr/>
          <a:lstStyle/>
          <a:p>
            <a:endParaRPr lang="ja-JP" altLang="en-US"/>
          </a:p>
        </p:txBody>
      </p:sp>
      <p:sp>
        <p:nvSpPr>
          <p:cNvPr id="3" name="Rounded-Rectangle-7-3">
            <a:extLst>
              <a:ext uri="{FF2B5EF4-FFF2-40B4-BE49-F238E27FC236}">
                <a16:creationId xmlns:a16="http://schemas.microsoft.com/office/drawing/2014/main" id="{4B854909-050D-4DB4-A4FB-7BCEAA677912}"/>
              </a:ext>
            </a:extLst>
          </p:cNvPr>
          <p:cNvSpPr>
            <a:spLocks noGrp="1"/>
          </p:cNvSpPr>
          <p:nvPr/>
        </p:nvSpPr>
        <p:spPr>
          <a:xfrm>
            <a:off x="8229504" y="3263836"/>
            <a:ext cx="3568732" cy="2392712"/>
          </a:xfrm>
          <a:prstGeom prst="roundRect">
            <a:avLst>
              <a:gd name="adj" fmla="val 2564"/>
            </a:avLst>
          </a:prstGeom>
          <a:solidFill>
            <a:srgbClr val="F2F2F2"/>
          </a:solidFill>
        </p:spPr>
        <p:txBody>
          <a:bodyPr/>
          <a:lstStyle/>
          <a:p>
            <a:endParaRPr lang="ja-JP" altLang="en-US"/>
          </a:p>
        </p:txBody>
      </p:sp>
      <p:sp>
        <p:nvSpPr>
          <p:cNvPr id="4" name="Slide-Number-Placeholder-1-4">
            <a:extLst>
              <a:ext uri="{FF2B5EF4-FFF2-40B4-BE49-F238E27FC236}">
                <a16:creationId xmlns:a16="http://schemas.microsoft.com/office/drawing/2014/main" id="{EF703F7E-6BCA-4B31-A171-9FED245F1C1F}"/>
              </a:ext>
            </a:extLst>
          </p:cNvPr>
          <p:cNvSpPr>
            <a:spLocks noGrp="1"/>
          </p:cNvSpPr>
          <p:nvPr/>
        </p:nvSpPr>
        <p:spPr>
          <a:xfrm>
            <a:off x="11279315" y="6279261"/>
            <a:ext cx="518922" cy="241268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15</a:t>
            </a:r>
          </a:p>
        </p:txBody>
      </p:sp>
      <p:sp>
        <p:nvSpPr>
          <p:cNvPr id="5" name="Title-2-5">
            <a:extLst>
              <a:ext uri="{FF2B5EF4-FFF2-40B4-BE49-F238E27FC236}">
                <a16:creationId xmlns:a16="http://schemas.microsoft.com/office/drawing/2014/main" id="{AAC4C418-F232-427E-87A8-5245418D266A}"/>
              </a:ext>
            </a:extLst>
          </p:cNvPr>
          <p:cNvSpPr>
            <a:spLocks noGrp="1"/>
          </p:cNvSpPr>
          <p:nvPr/>
        </p:nvSpPr>
        <p:spPr>
          <a:xfrm>
            <a:off x="393668" y="344043"/>
            <a:ext cx="11404568" cy="104746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/>
              <a:t>描画最適化は、呼び出し構造から見直した</a:t>
            </a:r>
          </a:p>
        </p:txBody>
      </p:sp>
      <p:sp>
        <p:nvSpPr>
          <p:cNvPr id="6" name="Content-Placeholder-9-6">
            <a:extLst>
              <a:ext uri="{FF2B5EF4-FFF2-40B4-BE49-F238E27FC236}">
                <a16:creationId xmlns:a16="http://schemas.microsoft.com/office/drawing/2014/main" id="{A0E36422-2467-4F70-B498-92D7076CCE6E}"/>
              </a:ext>
            </a:extLst>
          </p:cNvPr>
          <p:cNvSpPr>
            <a:spLocks noGrp="1"/>
          </p:cNvSpPr>
          <p:nvPr/>
        </p:nvSpPr>
        <p:spPr>
          <a:xfrm>
            <a:off x="699611" y="4344622"/>
            <a:ext cx="2949607" cy="819150"/>
          </a:xfrm>
          <a:prstGeom prst="rect">
            <a:avLst/>
          </a:prstGeom>
        </p:spPr>
        <p:txBody>
          <a:bodyPr lIns="91440" tIns="45720" rIns="91440" bIns="45720">
            <a:norm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dirty="0" err="1"/>
              <a:t>床ドロ</a:t>
            </a:r>
            <a:r>
              <a:rPr dirty="0"/>
              <a:t>ー</a:t>
            </a:r>
          </a:p>
        </p:txBody>
      </p:sp>
      <p:sp>
        <p:nvSpPr>
          <p:cNvPr id="7" name="Content-Placeholder-10-7">
            <a:extLst>
              <a:ext uri="{FF2B5EF4-FFF2-40B4-BE49-F238E27FC236}">
                <a16:creationId xmlns:a16="http://schemas.microsoft.com/office/drawing/2014/main" id="{BF7D158C-94EE-4C38-8571-A5E6C5B1D7DA}"/>
              </a:ext>
            </a:extLst>
          </p:cNvPr>
          <p:cNvSpPr>
            <a:spLocks noGrp="1"/>
          </p:cNvSpPr>
          <p:nvPr/>
        </p:nvSpPr>
        <p:spPr>
          <a:xfrm>
            <a:off x="8539067" y="4344622"/>
            <a:ext cx="2949607" cy="819150"/>
          </a:xfrm>
          <a:prstGeom prst="rect">
            <a:avLst/>
          </a:prstGeom>
        </p:spPr>
        <p:txBody>
          <a:bodyPr lIns="91440" tIns="45720" rIns="91440" bIns="45720">
            <a:norm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線転送 / frame</a:t>
            </a:r>
          </a:p>
        </p:txBody>
      </p:sp>
      <p:sp>
        <p:nvSpPr>
          <p:cNvPr id="8" name="Content-Placeholder-11-8">
            <a:extLst>
              <a:ext uri="{FF2B5EF4-FFF2-40B4-BE49-F238E27FC236}">
                <a16:creationId xmlns:a16="http://schemas.microsoft.com/office/drawing/2014/main" id="{E6242599-2AEF-47AC-8FCF-B692686A4BD9}"/>
              </a:ext>
            </a:extLst>
          </p:cNvPr>
          <p:cNvSpPr>
            <a:spLocks noGrp="1"/>
          </p:cNvSpPr>
          <p:nvPr/>
        </p:nvSpPr>
        <p:spPr>
          <a:xfrm>
            <a:off x="4618481" y="4344622"/>
            <a:ext cx="2949607" cy="819150"/>
          </a:xfrm>
          <a:prstGeom prst="rect">
            <a:avLst/>
          </a:prstGeom>
        </p:spPr>
        <p:txBody>
          <a:bodyPr lIns="91440" tIns="45720" rIns="91440" bIns="45720">
            <a:norm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定数更新</a:t>
            </a:r>
          </a:p>
        </p:txBody>
      </p:sp>
      <p:sp>
        <p:nvSpPr>
          <p:cNvPr id="9" name="Content-Placeholder-9-9">
            <a:extLst>
              <a:ext uri="{FF2B5EF4-FFF2-40B4-BE49-F238E27FC236}">
                <a16:creationId xmlns:a16="http://schemas.microsoft.com/office/drawing/2014/main" id="{61EDCA16-CC21-4197-BBC0-D0B4ED803F24}"/>
              </a:ext>
            </a:extLst>
          </p:cNvPr>
          <p:cNvSpPr>
            <a:spLocks noGrp="1"/>
          </p:cNvSpPr>
          <p:nvPr/>
        </p:nvSpPr>
        <p:spPr>
          <a:xfrm>
            <a:off x="699611" y="3670269"/>
            <a:ext cx="2940082" cy="42164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dirty="0"/>
              <a:t>3600 → 1</a:t>
            </a:r>
          </a:p>
        </p:txBody>
      </p:sp>
      <p:sp>
        <p:nvSpPr>
          <p:cNvPr id="10" name="Content-Placeholder-9-10">
            <a:extLst>
              <a:ext uri="{FF2B5EF4-FFF2-40B4-BE49-F238E27FC236}">
                <a16:creationId xmlns:a16="http://schemas.microsoft.com/office/drawing/2014/main" id="{AC926309-722A-4163-876D-72C1C2BC2E47}"/>
              </a:ext>
            </a:extLst>
          </p:cNvPr>
          <p:cNvSpPr>
            <a:spLocks noGrp="1"/>
          </p:cNvSpPr>
          <p:nvPr/>
        </p:nvSpPr>
        <p:spPr>
          <a:xfrm>
            <a:off x="4610195" y="3670269"/>
            <a:ext cx="2940082" cy="42164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dirty="0"/>
              <a:t>7200 → 1</a:t>
            </a:r>
          </a:p>
        </p:txBody>
      </p:sp>
      <p:sp>
        <p:nvSpPr>
          <p:cNvPr id="11" name="Content-Placeholder-9-11">
            <a:extLst>
              <a:ext uri="{FF2B5EF4-FFF2-40B4-BE49-F238E27FC236}">
                <a16:creationId xmlns:a16="http://schemas.microsoft.com/office/drawing/2014/main" id="{C9F6B992-AE0B-4A52-A428-193A2254CB2C}"/>
              </a:ext>
            </a:extLst>
          </p:cNvPr>
          <p:cNvSpPr>
            <a:spLocks noGrp="1"/>
          </p:cNvSpPr>
          <p:nvPr/>
        </p:nvSpPr>
        <p:spPr>
          <a:xfrm>
            <a:off x="8559641" y="3670269"/>
            <a:ext cx="2940082" cy="42164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2.8MB → 0</a:t>
            </a:r>
          </a:p>
        </p:txBody>
      </p:sp>
      <p:sp>
        <p:nvSpPr>
          <p:cNvPr id="12" name="Content-Placeholder-15-12">
            <a:extLst>
              <a:ext uri="{FF2B5EF4-FFF2-40B4-BE49-F238E27FC236}">
                <a16:creationId xmlns:a16="http://schemas.microsoft.com/office/drawing/2014/main" id="{3E63454A-A1A5-45C4-B11C-BE6CD8784B6D}"/>
              </a:ext>
            </a:extLst>
          </p:cNvPr>
          <p:cNvSpPr>
            <a:spLocks noGrp="1"/>
          </p:cNvSpPr>
          <p:nvPr/>
        </p:nvSpPr>
        <p:spPr>
          <a:xfrm>
            <a:off x="393668" y="1138333"/>
            <a:ext cx="11404568" cy="1599438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lnSpc>
                <a:spcPct val="150000"/>
              </a:lnSpc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dirty="0"/>
              <a:t>4×4生成マップの理論上限</a:t>
            </a:r>
          </a:p>
          <a:p>
            <a:pPr algn="l">
              <a:lnSpc>
                <a:spcPct val="150000"/>
              </a:lnSpc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dirty="0" err="1"/>
              <a:t>床セルを個別描画せず、動的頂点バッファへ集約</a:t>
            </a:r>
            <a:r>
              <a:rPr sz="2400" dirty="0"/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5392125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-Shape-532-p58-2">
            <a:extLst>
              <a:ext uri="{FF2B5EF4-FFF2-40B4-BE49-F238E27FC236}">
                <a16:creationId xmlns:a16="http://schemas.microsoft.com/office/drawing/2014/main" id="{D80BE6F6-774F-418C-975D-B6F782A8BF88}"/>
              </a:ext>
            </a:extLst>
          </p:cNvPr>
          <p:cNvSpPr>
            <a:spLocks noGrp="1"/>
          </p:cNvSpPr>
          <p:nvPr/>
        </p:nvSpPr>
        <p:spPr>
          <a:xfrm>
            <a:off x="11279315" y="6279261"/>
            <a:ext cx="518922" cy="241268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/>
          <a:p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16</a:t>
            </a:r>
          </a:p>
        </p:txBody>
      </p:sp>
      <p:sp>
        <p:nvSpPr>
          <p:cNvPr id="2" name="Google-Shape-533-p58-3">
            <a:extLst>
              <a:ext uri="{FF2B5EF4-FFF2-40B4-BE49-F238E27FC236}">
                <a16:creationId xmlns:a16="http://schemas.microsoft.com/office/drawing/2014/main" id="{5E4153BB-FA85-4D24-A373-66A47479BFCB}"/>
              </a:ext>
            </a:extLst>
          </p:cNvPr>
          <p:cNvSpPr>
            <a:spLocks noGrp="1"/>
          </p:cNvSpPr>
          <p:nvPr/>
        </p:nvSpPr>
        <p:spPr>
          <a:xfrm>
            <a:off x="393668" y="344043"/>
            <a:ext cx="11404568" cy="1047464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dirty="0" err="1"/>
              <a:t>設計思想は、検証速度と説明可能性を両立すること</a:t>
            </a:r>
            <a:endParaRPr sz="3600" dirty="0"/>
          </a:p>
        </p:txBody>
      </p:sp>
      <p:sp>
        <p:nvSpPr>
          <p:cNvPr id="3" name="Google-Shape-534-p58-4">
            <a:extLst>
              <a:ext uri="{FF2B5EF4-FFF2-40B4-BE49-F238E27FC236}">
                <a16:creationId xmlns:a16="http://schemas.microsoft.com/office/drawing/2014/main" id="{7A1C5A9B-A437-45E2-BCBA-A18AF7A5ED64}"/>
              </a:ext>
            </a:extLst>
          </p:cNvPr>
          <p:cNvSpPr>
            <a:spLocks noGrp="1"/>
          </p:cNvSpPr>
          <p:nvPr/>
        </p:nvSpPr>
        <p:spPr>
          <a:xfrm>
            <a:off x="393668" y="2031968"/>
            <a:ext cx="5537168" cy="3534823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200000"/>
              </a:lnSpc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200" dirty="0" err="1"/>
              <a:t>意図した選択</a:t>
            </a:r>
            <a:endParaRPr sz="3200" dirty="0"/>
          </a:p>
          <a:p>
            <a:pPr algn="l">
              <a:lnSpc>
                <a:spcPct val="200000"/>
              </a:lnSpc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dirty="0" err="1"/>
              <a:t>既存DirectX基盤を流用</a:t>
            </a:r>
            <a:r>
              <a:rPr dirty="0"/>
              <a:t>。
</a:t>
            </a:r>
            <a:r>
              <a:rPr dirty="0" err="1"/>
              <a:t>奈落機能を独立画面へ集約</a:t>
            </a:r>
            <a:r>
              <a:rPr dirty="0"/>
              <a:t>。
</a:t>
            </a:r>
            <a:r>
              <a:rPr dirty="0" err="1"/>
              <a:t>数値調整と地形制作をデータ化</a:t>
            </a:r>
            <a:r>
              <a:rPr dirty="0"/>
              <a:t>。</a:t>
            </a:r>
          </a:p>
        </p:txBody>
      </p:sp>
      <p:sp>
        <p:nvSpPr>
          <p:cNvPr id="4" name="Content-Placeholder-3-5">
            <a:extLst>
              <a:ext uri="{FF2B5EF4-FFF2-40B4-BE49-F238E27FC236}">
                <a16:creationId xmlns:a16="http://schemas.microsoft.com/office/drawing/2014/main" id="{0E86627A-3FAC-40C1-B814-F4A5C6EF3AD6}"/>
              </a:ext>
            </a:extLst>
          </p:cNvPr>
          <p:cNvSpPr>
            <a:spLocks noGrp="1"/>
          </p:cNvSpPr>
          <p:nvPr/>
        </p:nvSpPr>
        <p:spPr>
          <a:xfrm>
            <a:off x="6256592" y="2031968"/>
            <a:ext cx="5537168" cy="3534823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algn="l">
              <a:lnSpc>
                <a:spcPct val="200000"/>
              </a:lnSpc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200" dirty="0" err="1"/>
              <a:t>受け入れた負債</a:t>
            </a:r>
            <a:endParaRPr sz="3200" dirty="0"/>
          </a:p>
          <a:p>
            <a:pPr algn="l">
              <a:lnSpc>
                <a:spcPct val="200000"/>
              </a:lnSpc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dirty="0" err="1"/>
              <a:t>本編Sceneに責務が集中</a:t>
            </a:r>
            <a:r>
              <a:rPr dirty="0"/>
              <a:t>。
</a:t>
            </a:r>
            <a:r>
              <a:rPr dirty="0" err="1"/>
              <a:t>自動テスト・配布・保存互換性・実測性能は未整備</a:t>
            </a:r>
            <a:r>
              <a:rPr dirty="0"/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5410441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-Shape-532-p58-2">
            <a:extLst>
              <a:ext uri="{FF2B5EF4-FFF2-40B4-BE49-F238E27FC236}">
                <a16:creationId xmlns:a16="http://schemas.microsoft.com/office/drawing/2014/main" id="{DBDF0D25-D3ED-47B2-ABFB-0E1A14C95BAB}"/>
              </a:ext>
            </a:extLst>
          </p:cNvPr>
          <p:cNvSpPr>
            <a:spLocks noGrp="1"/>
          </p:cNvSpPr>
          <p:nvPr/>
        </p:nvSpPr>
        <p:spPr>
          <a:xfrm>
            <a:off x="11279315" y="6279261"/>
            <a:ext cx="518922" cy="241268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/>
          <a:p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17</a:t>
            </a:r>
          </a:p>
        </p:txBody>
      </p:sp>
      <p:sp>
        <p:nvSpPr>
          <p:cNvPr id="2" name="Google-Shape-533-p58-3">
            <a:extLst>
              <a:ext uri="{FF2B5EF4-FFF2-40B4-BE49-F238E27FC236}">
                <a16:creationId xmlns:a16="http://schemas.microsoft.com/office/drawing/2014/main" id="{ED4B0796-4952-4A4F-B36B-2067EF037F55}"/>
              </a:ext>
            </a:extLst>
          </p:cNvPr>
          <p:cNvSpPr>
            <a:spLocks noGrp="1"/>
          </p:cNvSpPr>
          <p:nvPr/>
        </p:nvSpPr>
        <p:spPr>
          <a:xfrm>
            <a:off x="393668" y="344519"/>
            <a:ext cx="11404568" cy="644271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/>
              <a:t>流用基盤と自作領域を、明確に区別する</a:t>
            </a:r>
          </a:p>
        </p:txBody>
      </p:sp>
      <p:sp>
        <p:nvSpPr>
          <p:cNvPr id="3" name="Rounded-Rectangle-1-4">
            <a:extLst>
              <a:ext uri="{FF2B5EF4-FFF2-40B4-BE49-F238E27FC236}">
                <a16:creationId xmlns:a16="http://schemas.microsoft.com/office/drawing/2014/main" id="{3640CFB5-37BE-4921-BAC2-6E52F6C40B69}"/>
              </a:ext>
            </a:extLst>
          </p:cNvPr>
          <p:cNvSpPr>
            <a:spLocks noGrp="1"/>
          </p:cNvSpPr>
          <p:nvPr/>
        </p:nvSpPr>
        <p:spPr>
          <a:xfrm>
            <a:off x="397002" y="3339084"/>
            <a:ext cx="5533930" cy="2797556"/>
          </a:xfrm>
          <a:prstGeom prst="roundRect">
            <a:avLst>
              <a:gd name="adj" fmla="val 5769"/>
            </a:avLst>
          </a:prstGeom>
          <a:solidFill>
            <a:srgbClr val="F2F2F2"/>
          </a:solidFill>
        </p:spPr>
        <p:txBody>
          <a:bodyPr/>
          <a:lstStyle/>
          <a:p>
            <a:endParaRPr lang="ja-JP" altLang="en-US"/>
          </a:p>
        </p:txBody>
      </p:sp>
      <p:sp>
        <p:nvSpPr>
          <p:cNvPr id="4" name="Content-Placeholder-10-5">
            <a:extLst>
              <a:ext uri="{FF2B5EF4-FFF2-40B4-BE49-F238E27FC236}">
                <a16:creationId xmlns:a16="http://schemas.microsoft.com/office/drawing/2014/main" id="{4F700FF7-E03E-4659-83FD-A46BEFEB5558}"/>
              </a:ext>
            </a:extLst>
          </p:cNvPr>
          <p:cNvSpPr>
            <a:spLocks noGrp="1"/>
          </p:cNvSpPr>
          <p:nvPr/>
        </p:nvSpPr>
        <p:spPr>
          <a:xfrm>
            <a:off x="694277" y="3587972"/>
            <a:ext cx="4986909" cy="877824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200" dirty="0"/>
              <a:t>AUTHORED</a:t>
            </a:r>
          </a:p>
        </p:txBody>
      </p:sp>
      <p:sp>
        <p:nvSpPr>
          <p:cNvPr id="5" name="Content-Placeholder-15-6">
            <a:extLst>
              <a:ext uri="{FF2B5EF4-FFF2-40B4-BE49-F238E27FC236}">
                <a16:creationId xmlns:a16="http://schemas.microsoft.com/office/drawing/2014/main" id="{28821004-0063-4E85-8705-3F5DA0A3DB10}"/>
              </a:ext>
            </a:extLst>
          </p:cNvPr>
          <p:cNvSpPr>
            <a:spLocks noGrp="1"/>
          </p:cNvSpPr>
          <p:nvPr/>
        </p:nvSpPr>
        <p:spPr>
          <a:xfrm>
            <a:off x="694277" y="4159090"/>
            <a:ext cx="5236655" cy="1662589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lnSpc>
                <a:spcPct val="150000"/>
              </a:lnSpc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 dirty="0" err="1"/>
              <a:t>奈落塔の企画</a:t>
            </a:r>
            <a:endParaRPr sz="2000" dirty="0"/>
          </a:p>
          <a:p>
            <a:pPr algn="l">
              <a:lnSpc>
                <a:spcPct val="150000"/>
              </a:lnSpc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 dirty="0"/>
              <a:t>Piece / Map / Generator</a:t>
            </a:r>
          </a:p>
          <a:p>
            <a:pPr algn="l">
              <a:lnSpc>
                <a:spcPct val="150000"/>
              </a:lnSpc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 dirty="0" err="1"/>
              <a:t>Editor・Runtime・最適化</a:t>
            </a:r>
            <a:endParaRPr sz="2000" dirty="0"/>
          </a:p>
        </p:txBody>
      </p:sp>
      <p:sp>
        <p:nvSpPr>
          <p:cNvPr id="6" name="Rounded-Rectangle-7-7">
            <a:extLst>
              <a:ext uri="{FF2B5EF4-FFF2-40B4-BE49-F238E27FC236}">
                <a16:creationId xmlns:a16="http://schemas.microsoft.com/office/drawing/2014/main" id="{CA04CEC4-41BE-44B4-B1F1-023FEEDCD17A}"/>
              </a:ext>
            </a:extLst>
          </p:cNvPr>
          <p:cNvSpPr>
            <a:spLocks noGrp="1"/>
          </p:cNvSpPr>
          <p:nvPr/>
        </p:nvSpPr>
        <p:spPr>
          <a:xfrm>
            <a:off x="6260783" y="3339084"/>
            <a:ext cx="5533930" cy="2797556"/>
          </a:xfrm>
          <a:prstGeom prst="roundRect">
            <a:avLst>
              <a:gd name="adj" fmla="val 5769"/>
            </a:avLst>
          </a:prstGeom>
          <a:solidFill>
            <a:srgbClr val="F2F2F2"/>
          </a:solidFill>
        </p:spPr>
        <p:txBody>
          <a:bodyPr/>
          <a:lstStyle/>
          <a:p>
            <a:endParaRPr lang="ja-JP" altLang="en-US"/>
          </a:p>
        </p:txBody>
      </p:sp>
      <p:sp>
        <p:nvSpPr>
          <p:cNvPr id="7" name="Content-Placeholder-10-8">
            <a:extLst>
              <a:ext uri="{FF2B5EF4-FFF2-40B4-BE49-F238E27FC236}">
                <a16:creationId xmlns:a16="http://schemas.microsoft.com/office/drawing/2014/main" id="{CF337D07-33AA-4BCE-A999-884CD371D9E7}"/>
              </a:ext>
            </a:extLst>
          </p:cNvPr>
          <p:cNvSpPr>
            <a:spLocks noGrp="1"/>
          </p:cNvSpPr>
          <p:nvPr/>
        </p:nvSpPr>
        <p:spPr>
          <a:xfrm>
            <a:off x="6558058" y="3587972"/>
            <a:ext cx="4986909" cy="877824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200" dirty="0"/>
              <a:t>REUSED</a:t>
            </a:r>
          </a:p>
        </p:txBody>
      </p:sp>
      <p:sp>
        <p:nvSpPr>
          <p:cNvPr id="8" name="Content-Placeholder-15-9">
            <a:extLst>
              <a:ext uri="{FF2B5EF4-FFF2-40B4-BE49-F238E27FC236}">
                <a16:creationId xmlns:a16="http://schemas.microsoft.com/office/drawing/2014/main" id="{FC8F69C8-87C4-4CC7-8472-826593095DC4}"/>
              </a:ext>
            </a:extLst>
          </p:cNvPr>
          <p:cNvSpPr>
            <a:spLocks noGrp="1"/>
          </p:cNvSpPr>
          <p:nvPr/>
        </p:nvSpPr>
        <p:spPr>
          <a:xfrm>
            <a:off x="6558058" y="4159090"/>
            <a:ext cx="5236655" cy="1662589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lnSpc>
                <a:spcPct val="150000"/>
              </a:lnSpc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/>
              <a:t>DirectX初期化</a:t>
            </a:r>
          </a:p>
          <a:p>
            <a:pPr algn="l">
              <a:lnSpc>
                <a:spcPct val="150000"/>
              </a:lnSpc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/>
              <a:t>Input・Texture・Model</a:t>
            </a:r>
          </a:p>
          <a:p>
            <a:pPr algn="l">
              <a:lnSpc>
                <a:spcPct val="150000"/>
              </a:lnSpc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/>
              <a:t>ImGui・Assimp・DirectXTex</a:t>
            </a:r>
          </a:p>
        </p:txBody>
      </p:sp>
      <p:sp>
        <p:nvSpPr>
          <p:cNvPr id="9" name="Content-Placeholder-15-10">
            <a:extLst>
              <a:ext uri="{FF2B5EF4-FFF2-40B4-BE49-F238E27FC236}">
                <a16:creationId xmlns:a16="http://schemas.microsoft.com/office/drawing/2014/main" id="{E84CC860-AA88-4F69-80EF-FE6DE5EC6DBC}"/>
              </a:ext>
            </a:extLst>
          </p:cNvPr>
          <p:cNvSpPr>
            <a:spLocks noGrp="1"/>
          </p:cNvSpPr>
          <p:nvPr/>
        </p:nvSpPr>
        <p:spPr>
          <a:xfrm>
            <a:off x="400907" y="1157478"/>
            <a:ext cx="11404568" cy="1629251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dirty="0" err="1"/>
              <a:t>担当範囲</a:t>
            </a:r>
            <a:endParaRPr sz="2400" dirty="0"/>
          </a:p>
          <a:p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dirty="0" err="1"/>
              <a:t>既存の学校プロジェクトを土台にし</a:t>
            </a:r>
            <a:r>
              <a:rPr sz="2400" dirty="0"/>
              <a:t>、</a:t>
            </a:r>
            <a:endParaRPr lang="en-US" sz="2400" dirty="0"/>
          </a:p>
          <a:p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dirty="0" err="1"/>
              <a:t>奈落塔固有の企画・データ・Editor・生成・本編を追加</a:t>
            </a:r>
            <a:r>
              <a:rPr sz="2400" dirty="0"/>
              <a:t>。</a:t>
            </a:r>
          </a:p>
          <a:p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dirty="0" err="1"/>
              <a:t>流用を隠さず、どこで設計判断を行ったかを説明する</a:t>
            </a:r>
            <a:r>
              <a:rPr sz="2400" dirty="0"/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3854785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-Shape-532-p58-2">
            <a:extLst>
              <a:ext uri="{FF2B5EF4-FFF2-40B4-BE49-F238E27FC236}">
                <a16:creationId xmlns:a16="http://schemas.microsoft.com/office/drawing/2014/main" id="{7BFB5B16-10B8-4E2B-8F30-6A2FACF5E7C4}"/>
              </a:ext>
            </a:extLst>
          </p:cNvPr>
          <p:cNvSpPr>
            <a:spLocks noGrp="1"/>
          </p:cNvSpPr>
          <p:nvPr/>
        </p:nvSpPr>
        <p:spPr>
          <a:xfrm>
            <a:off x="11279315" y="6279261"/>
            <a:ext cx="518922" cy="241268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/>
          <a:p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18</a:t>
            </a:r>
          </a:p>
        </p:txBody>
      </p:sp>
      <p:sp>
        <p:nvSpPr>
          <p:cNvPr id="2" name="Google-Shape-533-p58-3">
            <a:extLst>
              <a:ext uri="{FF2B5EF4-FFF2-40B4-BE49-F238E27FC236}">
                <a16:creationId xmlns:a16="http://schemas.microsoft.com/office/drawing/2014/main" id="{808036E6-3FF6-4036-ADBA-6A7E9FE30864}"/>
              </a:ext>
            </a:extLst>
          </p:cNvPr>
          <p:cNvSpPr>
            <a:spLocks noGrp="1"/>
          </p:cNvSpPr>
          <p:nvPr/>
        </p:nvSpPr>
        <p:spPr>
          <a:xfrm>
            <a:off x="393668" y="344043"/>
            <a:ext cx="11404568" cy="1047464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dirty="0" err="1"/>
              <a:t>現在の完成度は、プロト成立・品質整備前</a:t>
            </a:r>
            <a:endParaRPr sz="3600" dirty="0"/>
          </a:p>
        </p:txBody>
      </p:sp>
      <p:sp>
        <p:nvSpPr>
          <p:cNvPr id="3" name="Rounded-Rectangle-6-4">
            <a:extLst>
              <a:ext uri="{FF2B5EF4-FFF2-40B4-BE49-F238E27FC236}">
                <a16:creationId xmlns:a16="http://schemas.microsoft.com/office/drawing/2014/main" id="{2AF070A3-163C-45EC-802F-5243EB713DDB}"/>
              </a:ext>
            </a:extLst>
          </p:cNvPr>
          <p:cNvSpPr>
            <a:spLocks noGrp="1"/>
          </p:cNvSpPr>
          <p:nvPr/>
        </p:nvSpPr>
        <p:spPr>
          <a:xfrm>
            <a:off x="6264402" y="2369820"/>
            <a:ext cx="5533930" cy="1638300"/>
          </a:xfrm>
          <a:prstGeom prst="roundRect">
            <a:avLst>
              <a:gd name="adj" fmla="val 4651"/>
            </a:avLst>
          </a:prstGeom>
          <a:solidFill>
            <a:srgbClr val="F2F2F2"/>
          </a:solidFill>
        </p:spPr>
        <p:txBody>
          <a:bodyPr/>
          <a:lstStyle/>
          <a:p>
            <a:endParaRPr lang="ja-JP" altLang="en-US"/>
          </a:p>
        </p:txBody>
      </p:sp>
      <p:sp>
        <p:nvSpPr>
          <p:cNvPr id="4" name="Content-Placeholder-10-5">
            <a:extLst>
              <a:ext uri="{FF2B5EF4-FFF2-40B4-BE49-F238E27FC236}">
                <a16:creationId xmlns:a16="http://schemas.microsoft.com/office/drawing/2014/main" id="{6F577E6E-2D68-47E6-90DD-398FA9A37898}"/>
              </a:ext>
            </a:extLst>
          </p:cNvPr>
          <p:cNvSpPr>
            <a:spLocks noGrp="1"/>
          </p:cNvSpPr>
          <p:nvPr/>
        </p:nvSpPr>
        <p:spPr>
          <a:xfrm>
            <a:off x="6561677" y="2664809"/>
            <a:ext cx="4986909" cy="1048417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継続性</a:t>
            </a:r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進行状況の永続保存は未実装</a:t>
            </a:r>
          </a:p>
        </p:txBody>
      </p:sp>
      <p:sp>
        <p:nvSpPr>
          <p:cNvPr id="5" name="Rounded-Rectangle-8-6">
            <a:extLst>
              <a:ext uri="{FF2B5EF4-FFF2-40B4-BE49-F238E27FC236}">
                <a16:creationId xmlns:a16="http://schemas.microsoft.com/office/drawing/2014/main" id="{AAB3EA8B-0B69-415F-AEE5-E7C23D478509}"/>
              </a:ext>
            </a:extLst>
          </p:cNvPr>
          <p:cNvSpPr>
            <a:spLocks noGrp="1"/>
          </p:cNvSpPr>
          <p:nvPr/>
        </p:nvSpPr>
        <p:spPr>
          <a:xfrm>
            <a:off x="409004" y="2369820"/>
            <a:ext cx="5533930" cy="1638300"/>
          </a:xfrm>
          <a:prstGeom prst="roundRect">
            <a:avLst>
              <a:gd name="adj" fmla="val 4651"/>
            </a:avLst>
          </a:prstGeom>
          <a:solidFill>
            <a:srgbClr val="F2F2F2"/>
          </a:solidFill>
        </p:spPr>
        <p:txBody>
          <a:bodyPr/>
          <a:lstStyle/>
          <a:p>
            <a:endParaRPr lang="ja-JP" altLang="en-US"/>
          </a:p>
        </p:txBody>
      </p:sp>
      <p:sp>
        <p:nvSpPr>
          <p:cNvPr id="6" name="Content-Placeholder-10-7">
            <a:extLst>
              <a:ext uri="{FF2B5EF4-FFF2-40B4-BE49-F238E27FC236}">
                <a16:creationId xmlns:a16="http://schemas.microsoft.com/office/drawing/2014/main" id="{F8F0E50C-BBED-4234-90E8-3E2296032717}"/>
              </a:ext>
            </a:extLst>
          </p:cNvPr>
          <p:cNvSpPr>
            <a:spLocks noGrp="1"/>
          </p:cNvSpPr>
          <p:nvPr/>
        </p:nvSpPr>
        <p:spPr>
          <a:xfrm>
            <a:off x="706279" y="2664809"/>
            <a:ext cx="4986909" cy="1048417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操作感</a:t>
            </a:r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ロープ、落下、着地、斜面の調整が残る。</a:t>
            </a:r>
          </a:p>
        </p:txBody>
      </p:sp>
      <p:sp>
        <p:nvSpPr>
          <p:cNvPr id="7" name="Rounded-Rectangle-1-8">
            <a:extLst>
              <a:ext uri="{FF2B5EF4-FFF2-40B4-BE49-F238E27FC236}">
                <a16:creationId xmlns:a16="http://schemas.microsoft.com/office/drawing/2014/main" id="{C1F5CA70-D457-4728-AD79-3044A2B885C0}"/>
              </a:ext>
            </a:extLst>
          </p:cNvPr>
          <p:cNvSpPr>
            <a:spLocks noGrp="1"/>
          </p:cNvSpPr>
          <p:nvPr/>
        </p:nvSpPr>
        <p:spPr>
          <a:xfrm>
            <a:off x="6264402" y="4370070"/>
            <a:ext cx="5533930" cy="1638300"/>
          </a:xfrm>
          <a:prstGeom prst="roundRect">
            <a:avLst>
              <a:gd name="adj" fmla="val 4651"/>
            </a:avLst>
          </a:prstGeom>
          <a:solidFill>
            <a:srgbClr val="F2F2F2"/>
          </a:solidFill>
        </p:spPr>
        <p:txBody>
          <a:bodyPr/>
          <a:lstStyle/>
          <a:p>
            <a:endParaRPr lang="ja-JP" altLang="en-US"/>
          </a:p>
        </p:txBody>
      </p:sp>
      <p:sp>
        <p:nvSpPr>
          <p:cNvPr id="8" name="Content-Placeholder-10-9">
            <a:extLst>
              <a:ext uri="{FF2B5EF4-FFF2-40B4-BE49-F238E27FC236}">
                <a16:creationId xmlns:a16="http://schemas.microsoft.com/office/drawing/2014/main" id="{F9697C84-FEA1-4A6A-8BEA-93305FE35605}"/>
              </a:ext>
            </a:extLst>
          </p:cNvPr>
          <p:cNvSpPr>
            <a:spLocks noGrp="1"/>
          </p:cNvSpPr>
          <p:nvPr/>
        </p:nvSpPr>
        <p:spPr>
          <a:xfrm>
            <a:off x="6561677" y="4665059"/>
            <a:ext cx="4986909" cy="1048417"/>
          </a:xfrm>
          <a:prstGeom prst="rect">
            <a:avLst/>
          </a:prstGeom>
        </p:spPr>
        <p:txBody>
          <a:bodyPr lIns="0" tIns="0" rIns="0" bIns="0">
            <a:normAutofit fontScale="95547"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提示</a:t>
            </a:r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README、素材出典、配布パッケージ、最新commitが必要。</a:t>
            </a:r>
          </a:p>
        </p:txBody>
      </p:sp>
      <p:sp>
        <p:nvSpPr>
          <p:cNvPr id="9" name="Rounded-Rectangle-3-10">
            <a:extLst>
              <a:ext uri="{FF2B5EF4-FFF2-40B4-BE49-F238E27FC236}">
                <a16:creationId xmlns:a16="http://schemas.microsoft.com/office/drawing/2014/main" id="{C5FBDC43-9FAA-41EA-A33F-475F1542D3E7}"/>
              </a:ext>
            </a:extLst>
          </p:cNvPr>
          <p:cNvSpPr>
            <a:spLocks noGrp="1"/>
          </p:cNvSpPr>
          <p:nvPr/>
        </p:nvSpPr>
        <p:spPr>
          <a:xfrm>
            <a:off x="409004" y="4370070"/>
            <a:ext cx="5533930" cy="1638300"/>
          </a:xfrm>
          <a:prstGeom prst="roundRect">
            <a:avLst>
              <a:gd name="adj" fmla="val 4651"/>
            </a:avLst>
          </a:prstGeom>
          <a:solidFill>
            <a:srgbClr val="F2F2F2"/>
          </a:solidFill>
        </p:spPr>
        <p:txBody>
          <a:bodyPr/>
          <a:lstStyle/>
          <a:p>
            <a:endParaRPr lang="ja-JP" altLang="en-US"/>
          </a:p>
        </p:txBody>
      </p:sp>
      <p:sp>
        <p:nvSpPr>
          <p:cNvPr id="10" name="Content-Placeholder-10-11">
            <a:extLst>
              <a:ext uri="{FF2B5EF4-FFF2-40B4-BE49-F238E27FC236}">
                <a16:creationId xmlns:a16="http://schemas.microsoft.com/office/drawing/2014/main" id="{61307811-656E-4C8E-BC8B-4A12C5C16C8C}"/>
              </a:ext>
            </a:extLst>
          </p:cNvPr>
          <p:cNvSpPr>
            <a:spLocks noGrp="1"/>
          </p:cNvSpPr>
          <p:nvPr/>
        </p:nvSpPr>
        <p:spPr>
          <a:xfrm>
            <a:off x="706279" y="4665059"/>
            <a:ext cx="4986909" cy="1048417"/>
          </a:xfrm>
          <a:prstGeom prst="rect">
            <a:avLst/>
          </a:prstGeom>
        </p:spPr>
        <p:txBody>
          <a:bodyPr lIns="0" tIns="0" rIns="0" bIns="0">
            <a:normAutofit fontScale="95547"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品質</a:t>
            </a:r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自動テスト、CI、seed再現、Release警告が未整備。</a:t>
            </a:r>
          </a:p>
        </p:txBody>
      </p:sp>
      <p:sp>
        <p:nvSpPr>
          <p:cNvPr id="11" name="Content-Placeholder-15-12">
            <a:extLst>
              <a:ext uri="{FF2B5EF4-FFF2-40B4-BE49-F238E27FC236}">
                <a16:creationId xmlns:a16="http://schemas.microsoft.com/office/drawing/2014/main" id="{87F1CB4A-4340-4B90-B96A-268F3C4F7234}"/>
              </a:ext>
            </a:extLst>
          </p:cNvPr>
          <p:cNvSpPr>
            <a:spLocks noGrp="1"/>
          </p:cNvSpPr>
          <p:nvPr/>
        </p:nvSpPr>
        <p:spPr>
          <a:xfrm>
            <a:off x="400907" y="1057466"/>
            <a:ext cx="11404568" cy="1012222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dirty="0" err="1"/>
              <a:t>到達点</a:t>
            </a:r>
            <a:endParaRPr sz="2400" dirty="0"/>
          </a:p>
          <a:p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dirty="0" err="1"/>
              <a:t>第一層の探索・採掘・帰還・売却・再潜行を確認できる</a:t>
            </a:r>
            <a:r>
              <a:rPr sz="2400" dirty="0"/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20111123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lide-Number-Placeholder-3-2">
            <a:extLst>
              <a:ext uri="{FF2B5EF4-FFF2-40B4-BE49-F238E27FC236}">
                <a16:creationId xmlns:a16="http://schemas.microsoft.com/office/drawing/2014/main" id="{502688A0-3AF2-4EE9-AAC2-9DC37A90317E}"/>
              </a:ext>
            </a:extLst>
          </p:cNvPr>
          <p:cNvSpPr>
            <a:spLocks noGrp="1"/>
          </p:cNvSpPr>
          <p:nvPr/>
        </p:nvSpPr>
        <p:spPr>
          <a:xfrm>
            <a:off x="11279315" y="6279261"/>
            <a:ext cx="518922" cy="241268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19</a:t>
            </a:r>
          </a:p>
        </p:txBody>
      </p:sp>
      <p:sp>
        <p:nvSpPr>
          <p:cNvPr id="2" name="Title-10-3">
            <a:extLst>
              <a:ext uri="{FF2B5EF4-FFF2-40B4-BE49-F238E27FC236}">
                <a16:creationId xmlns:a16="http://schemas.microsoft.com/office/drawing/2014/main" id="{35230D80-CB5B-4B21-8207-50B36B0007A3}"/>
              </a:ext>
            </a:extLst>
          </p:cNvPr>
          <p:cNvSpPr>
            <a:spLocks noGrp="1"/>
          </p:cNvSpPr>
          <p:nvPr/>
        </p:nvSpPr>
        <p:spPr>
          <a:xfrm>
            <a:off x="393668" y="344043"/>
            <a:ext cx="11404568" cy="104746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次の改善は、見せられる・確かめられる・直せるの順</a:t>
            </a:r>
          </a:p>
        </p:txBody>
      </p:sp>
      <p:cxnSp>
        <p:nvCxnSpPr>
          <p:cNvPr id="18" name="Google-Shape-2259-p159-4"/>
          <p:cNvCxnSpPr/>
          <p:nvPr/>
        </p:nvCxnSpPr>
        <p:spPr>
          <a:xfrm>
            <a:off x="337757" y="5341620"/>
            <a:ext cx="12245435" cy="286"/>
          </a:xfrm>
          <a:prstGeom prst="straightConnector1">
            <a:avLst/>
          </a:prstGeom>
          <a:ln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>
              <a:ext uri="{FF2B5EF4-FFF2-40B4-BE49-F238E27FC236}">
                <a16:creationId xmlns:a16="http://schemas.microsoft.com/office/drawing/2014/main" id="{955F36AA-B57A-42B7-805F-DC25B8F08F66}"/>
              </a:ext>
            </a:extLst>
          </p:cNvPr>
          <p:cNvSpPr>
            <a:spLocks noGrp="1"/>
          </p:cNvSpPr>
          <p:nvPr/>
        </p:nvSpPr>
        <p:spPr>
          <a:xfrm>
            <a:off x="337757" y="5288089"/>
            <a:ext cx="107061" cy="107061"/>
          </a:xfrm>
          <a:prstGeom prst="ellipse">
            <a:avLst/>
          </a:prstGeom>
          <a:solidFill>
            <a:srgbClr val="000000"/>
          </a:solidFill>
        </p:spPr>
        <p:txBody>
          <a:bodyPr/>
          <a:lstStyle/>
          <a:p>
            <a:endParaRPr lang="ja-JP" altLang="en-US"/>
          </a:p>
        </p:txBody>
      </p:sp>
      <p:sp>
        <p:nvSpPr>
          <p:cNvPr id="5" name="Google-Shape-2261-p159-6">
            <a:extLst>
              <a:ext uri="{FF2B5EF4-FFF2-40B4-BE49-F238E27FC236}">
                <a16:creationId xmlns:a16="http://schemas.microsoft.com/office/drawing/2014/main" id="{2D96CBF3-580A-48AF-8712-BC550A373C63}"/>
              </a:ext>
            </a:extLst>
          </p:cNvPr>
          <p:cNvSpPr>
            <a:spLocks noGrp="1"/>
          </p:cNvSpPr>
          <p:nvPr/>
        </p:nvSpPr>
        <p:spPr>
          <a:xfrm>
            <a:off x="4251770" y="5288089"/>
            <a:ext cx="107061" cy="107061"/>
          </a:xfrm>
          <a:prstGeom prst="ellipse">
            <a:avLst/>
          </a:prstGeom>
          <a:solidFill>
            <a:srgbClr val="000000"/>
          </a:solidFill>
        </p:spPr>
        <p:txBody>
          <a:bodyPr/>
          <a:lstStyle/>
          <a:p>
            <a:endParaRPr lang="ja-JP" altLang="en-US"/>
          </a:p>
        </p:txBody>
      </p:sp>
      <p:sp>
        <p:nvSpPr>
          <p:cNvPr id="6" name="Google-Shape-2262-p159-7">
            <a:extLst>
              <a:ext uri="{FF2B5EF4-FFF2-40B4-BE49-F238E27FC236}">
                <a16:creationId xmlns:a16="http://schemas.microsoft.com/office/drawing/2014/main" id="{5CE05B26-4917-4DA4-8D82-A0FF6ECF4743}"/>
              </a:ext>
            </a:extLst>
          </p:cNvPr>
          <p:cNvSpPr>
            <a:spLocks noGrp="1"/>
          </p:cNvSpPr>
          <p:nvPr/>
        </p:nvSpPr>
        <p:spPr>
          <a:xfrm>
            <a:off x="8176070" y="5288089"/>
            <a:ext cx="107061" cy="107061"/>
          </a:xfrm>
          <a:prstGeom prst="ellipse">
            <a:avLst/>
          </a:prstGeom>
          <a:solidFill>
            <a:srgbClr val="000000"/>
          </a:solidFill>
        </p:spPr>
        <p:txBody>
          <a:bodyPr/>
          <a:lstStyle/>
          <a:p>
            <a:endParaRPr lang="ja-JP" altLang="en-US"/>
          </a:p>
        </p:txBody>
      </p:sp>
      <p:sp>
        <p:nvSpPr>
          <p:cNvPr id="7" name="Rounded-Rectangle-19-8">
            <a:extLst>
              <a:ext uri="{FF2B5EF4-FFF2-40B4-BE49-F238E27FC236}">
                <a16:creationId xmlns:a16="http://schemas.microsoft.com/office/drawing/2014/main" id="{C8FF9BFE-36B5-4B0E-AEC1-B6D6B9D5EB53}"/>
              </a:ext>
            </a:extLst>
          </p:cNvPr>
          <p:cNvSpPr>
            <a:spLocks noGrp="1"/>
          </p:cNvSpPr>
          <p:nvPr/>
        </p:nvSpPr>
        <p:spPr>
          <a:xfrm>
            <a:off x="393668" y="1401794"/>
            <a:ext cx="3568732" cy="3619500"/>
          </a:xfrm>
          <a:prstGeom prst="roundRect">
            <a:avLst>
              <a:gd name="adj" fmla="val 2135"/>
            </a:avLst>
          </a:prstGeom>
          <a:solidFill>
            <a:srgbClr val="F2F2F2"/>
          </a:solidFill>
        </p:spPr>
        <p:txBody>
          <a:bodyPr/>
          <a:lstStyle/>
          <a:p>
            <a:endParaRPr lang="ja-JP" altLang="en-US"/>
          </a:p>
        </p:txBody>
      </p:sp>
      <p:sp>
        <p:nvSpPr>
          <p:cNvPr id="8" name="Content-Placeholder-8-9">
            <a:extLst>
              <a:ext uri="{FF2B5EF4-FFF2-40B4-BE49-F238E27FC236}">
                <a16:creationId xmlns:a16="http://schemas.microsoft.com/office/drawing/2014/main" id="{A50B2E8E-DC63-4F49-BF20-32D207617753}"/>
              </a:ext>
            </a:extLst>
          </p:cNvPr>
          <p:cNvSpPr>
            <a:spLocks noGrp="1"/>
          </p:cNvSpPr>
          <p:nvPr/>
        </p:nvSpPr>
        <p:spPr>
          <a:xfrm>
            <a:off x="703421" y="1806797"/>
            <a:ext cx="2949321" cy="2566797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見せられる</a:t>
            </a:r>
          </a:p>
          <a:p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README、自作範囲、素材出典、再現可能なcommitを整える。</a:t>
            </a:r>
          </a:p>
        </p:txBody>
      </p:sp>
      <p:sp>
        <p:nvSpPr>
          <p:cNvPr id="9" name="Rounded-Rectangle-21-10">
            <a:extLst>
              <a:ext uri="{FF2B5EF4-FFF2-40B4-BE49-F238E27FC236}">
                <a16:creationId xmlns:a16="http://schemas.microsoft.com/office/drawing/2014/main" id="{B3EC8233-E8A3-47F5-83E5-97D10090FC15}"/>
              </a:ext>
            </a:extLst>
          </p:cNvPr>
          <p:cNvSpPr>
            <a:spLocks noGrp="1"/>
          </p:cNvSpPr>
          <p:nvPr/>
        </p:nvSpPr>
        <p:spPr>
          <a:xfrm>
            <a:off x="4308443" y="1401794"/>
            <a:ext cx="3568732" cy="3619500"/>
          </a:xfrm>
          <a:prstGeom prst="roundRect">
            <a:avLst>
              <a:gd name="adj" fmla="val 2135"/>
            </a:avLst>
          </a:prstGeom>
          <a:solidFill>
            <a:srgbClr val="F2F2F2"/>
          </a:solidFill>
        </p:spPr>
        <p:txBody>
          <a:bodyPr/>
          <a:lstStyle/>
          <a:p>
            <a:endParaRPr lang="ja-JP" altLang="en-US"/>
          </a:p>
        </p:txBody>
      </p:sp>
      <p:sp>
        <p:nvSpPr>
          <p:cNvPr id="10" name="Content-Placeholder-8-11">
            <a:extLst>
              <a:ext uri="{FF2B5EF4-FFF2-40B4-BE49-F238E27FC236}">
                <a16:creationId xmlns:a16="http://schemas.microsoft.com/office/drawing/2014/main" id="{661075DF-5AE0-4C28-B835-ADC02AE6DFCF}"/>
              </a:ext>
            </a:extLst>
          </p:cNvPr>
          <p:cNvSpPr>
            <a:spLocks noGrp="1"/>
          </p:cNvSpPr>
          <p:nvPr/>
        </p:nvSpPr>
        <p:spPr>
          <a:xfrm>
            <a:off x="4618196" y="1806797"/>
            <a:ext cx="2949321" cy="2566797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確かめられる</a:t>
            </a:r>
          </a:p>
          <a:p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seed固定、生成試験、JSON往復、実測性能を追加。</a:t>
            </a:r>
          </a:p>
        </p:txBody>
      </p:sp>
      <p:sp>
        <p:nvSpPr>
          <p:cNvPr id="11" name="Rounded-Rectangle-23-12">
            <a:extLst>
              <a:ext uri="{FF2B5EF4-FFF2-40B4-BE49-F238E27FC236}">
                <a16:creationId xmlns:a16="http://schemas.microsoft.com/office/drawing/2014/main" id="{A6342F93-0BBD-44CE-9CDC-8A92C7E9B60F}"/>
              </a:ext>
            </a:extLst>
          </p:cNvPr>
          <p:cNvSpPr>
            <a:spLocks noGrp="1"/>
          </p:cNvSpPr>
          <p:nvPr/>
        </p:nvSpPr>
        <p:spPr>
          <a:xfrm>
            <a:off x="8237506" y="1401794"/>
            <a:ext cx="3568732" cy="3619500"/>
          </a:xfrm>
          <a:prstGeom prst="roundRect">
            <a:avLst>
              <a:gd name="adj" fmla="val 2135"/>
            </a:avLst>
          </a:prstGeom>
          <a:solidFill>
            <a:srgbClr val="F2F2F2"/>
          </a:solidFill>
        </p:spPr>
        <p:txBody>
          <a:bodyPr/>
          <a:lstStyle/>
          <a:p>
            <a:endParaRPr lang="ja-JP" altLang="en-US"/>
          </a:p>
        </p:txBody>
      </p:sp>
      <p:sp>
        <p:nvSpPr>
          <p:cNvPr id="12" name="Content-Placeholder-8-13">
            <a:extLst>
              <a:ext uri="{FF2B5EF4-FFF2-40B4-BE49-F238E27FC236}">
                <a16:creationId xmlns:a16="http://schemas.microsoft.com/office/drawing/2014/main" id="{E99D9695-163D-4155-A11A-32735A21A4AB}"/>
              </a:ext>
            </a:extLst>
          </p:cNvPr>
          <p:cNvSpPr>
            <a:spLocks noGrp="1"/>
          </p:cNvSpPr>
          <p:nvPr/>
        </p:nvSpPr>
        <p:spPr>
          <a:xfrm>
            <a:off x="8547259" y="1806797"/>
            <a:ext cx="2949321" cy="2566797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直せる</a:t>
            </a:r>
          </a:p>
          <a:p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Runtime・UI・描画・エリア状態の責務を段階分離。</a:t>
            </a:r>
          </a:p>
        </p:txBody>
      </p:sp>
      <p:sp>
        <p:nvSpPr>
          <p:cNvPr id="13" name="Text-Placeholder-16-14">
            <a:extLst>
              <a:ext uri="{FF2B5EF4-FFF2-40B4-BE49-F238E27FC236}">
                <a16:creationId xmlns:a16="http://schemas.microsoft.com/office/drawing/2014/main" id="{E60DF266-8027-4907-ABEC-B705120044CE}"/>
              </a:ext>
            </a:extLst>
          </p:cNvPr>
          <p:cNvSpPr>
            <a:spLocks noGrp="1"/>
          </p:cNvSpPr>
          <p:nvPr/>
        </p:nvSpPr>
        <p:spPr>
          <a:xfrm>
            <a:off x="4251770" y="5602414"/>
            <a:ext cx="2595944" cy="39195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02  VERIFY</a:t>
            </a:r>
          </a:p>
        </p:txBody>
      </p:sp>
      <p:sp>
        <p:nvSpPr>
          <p:cNvPr id="14" name="Text-Placeholder-16-15">
            <a:extLst>
              <a:ext uri="{FF2B5EF4-FFF2-40B4-BE49-F238E27FC236}">
                <a16:creationId xmlns:a16="http://schemas.microsoft.com/office/drawing/2014/main" id="{D35577F1-5E23-4EFF-8BC4-29B3E22B7F6B}"/>
              </a:ext>
            </a:extLst>
          </p:cNvPr>
          <p:cNvSpPr>
            <a:spLocks noGrp="1"/>
          </p:cNvSpPr>
          <p:nvPr/>
        </p:nvSpPr>
        <p:spPr>
          <a:xfrm>
            <a:off x="390906" y="5602414"/>
            <a:ext cx="2595944" cy="39195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01  REVIEW</a:t>
            </a:r>
          </a:p>
        </p:txBody>
      </p:sp>
      <p:sp>
        <p:nvSpPr>
          <p:cNvPr id="15" name="Text-Placeholder-16-16">
            <a:extLst>
              <a:ext uri="{FF2B5EF4-FFF2-40B4-BE49-F238E27FC236}">
                <a16:creationId xmlns:a16="http://schemas.microsoft.com/office/drawing/2014/main" id="{8B329612-ECB0-42A8-A56F-72120DE53731}"/>
              </a:ext>
            </a:extLst>
          </p:cNvPr>
          <p:cNvSpPr>
            <a:spLocks noGrp="1"/>
          </p:cNvSpPr>
          <p:nvPr/>
        </p:nvSpPr>
        <p:spPr>
          <a:xfrm>
            <a:off x="8225409" y="5602414"/>
            <a:ext cx="2595944" cy="39195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03  REFACTOR</a:t>
            </a:r>
          </a:p>
        </p:txBody>
      </p:sp>
    </p:spTree>
    <p:extLst>
      <p:ext uri="{BB962C8B-B14F-4D97-AF65-F5344CB8AC3E}">
        <p14:creationId xmlns:p14="http://schemas.microsoft.com/office/powerpoint/2010/main" val="4151917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-Number-Placeholder-1-2">
            <a:extLst>
              <a:ext uri="{FF2B5EF4-FFF2-40B4-BE49-F238E27FC236}">
                <a16:creationId xmlns:a16="http://schemas.microsoft.com/office/drawing/2014/main" id="{7AB2C904-99BB-472B-ACF4-7B0E7A08C481}"/>
              </a:ext>
            </a:extLst>
          </p:cNvPr>
          <p:cNvSpPr>
            <a:spLocks noGrp="1"/>
          </p:cNvSpPr>
          <p:nvPr/>
        </p:nvSpPr>
        <p:spPr>
          <a:xfrm>
            <a:off x="11279219" y="6278594"/>
            <a:ext cx="519113" cy="241268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20</a:t>
            </a:r>
          </a:p>
        </p:txBody>
      </p:sp>
      <p:sp>
        <p:nvSpPr>
          <p:cNvPr id="2" name="Title-2-3">
            <a:extLst>
              <a:ext uri="{FF2B5EF4-FFF2-40B4-BE49-F238E27FC236}">
                <a16:creationId xmlns:a16="http://schemas.microsoft.com/office/drawing/2014/main" id="{7DC08928-43E4-46EE-84E2-300C1760277F}"/>
              </a:ext>
            </a:extLst>
          </p:cNvPr>
          <p:cNvSpPr>
            <a:spLocks noGrp="1"/>
          </p:cNvSpPr>
          <p:nvPr/>
        </p:nvSpPr>
        <p:spPr>
          <a:xfrm>
            <a:off x="393668" y="344043"/>
            <a:ext cx="11404568" cy="104746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想定質問｜企画・ゲームデザイン</a:t>
            </a:r>
          </a:p>
        </p:txBody>
      </p:sp>
      <p:sp>
        <p:nvSpPr>
          <p:cNvPr id="3" name="Content-Placeholder-9-4">
            <a:extLst>
              <a:ext uri="{FF2B5EF4-FFF2-40B4-BE49-F238E27FC236}">
                <a16:creationId xmlns:a16="http://schemas.microsoft.com/office/drawing/2014/main" id="{D4786C5D-A1FE-499E-9470-35D4CA4C3E8C}"/>
              </a:ext>
            </a:extLst>
          </p:cNvPr>
          <p:cNvSpPr>
            <a:spLocks noGrp="1"/>
          </p:cNvSpPr>
          <p:nvPr/>
        </p:nvSpPr>
        <p:spPr>
          <a:xfrm>
            <a:off x="393668" y="2031968"/>
            <a:ext cx="5537168" cy="1643063"/>
          </a:xfrm>
          <a:prstGeom prst="rect">
            <a:avLst/>
          </a:prstGeom>
        </p:spPr>
        <p:txBody>
          <a:bodyPr lIns="91440" tIns="45720" rIns="91440" bIns="45720"/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企画の起点</a:t>
            </a:r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なぜこの題材？
誰に遊んでほしい？</a:t>
            </a:r>
          </a:p>
        </p:txBody>
      </p:sp>
      <p:sp>
        <p:nvSpPr>
          <p:cNvPr id="4" name="Content-Placeholder-10-5">
            <a:extLst>
              <a:ext uri="{FF2B5EF4-FFF2-40B4-BE49-F238E27FC236}">
                <a16:creationId xmlns:a16="http://schemas.microsoft.com/office/drawing/2014/main" id="{5FCD2ED0-1F8E-401D-86D3-7CBF72ACD8C1}"/>
              </a:ext>
            </a:extLst>
          </p:cNvPr>
          <p:cNvSpPr>
            <a:spLocks noGrp="1"/>
          </p:cNvSpPr>
          <p:nvPr/>
        </p:nvSpPr>
        <p:spPr>
          <a:xfrm>
            <a:off x="6256592" y="2031968"/>
            <a:ext cx="5537168" cy="1643063"/>
          </a:xfrm>
          <a:prstGeom prst="rect">
            <a:avLst/>
          </a:prstGeom>
        </p:spPr>
        <p:txBody>
          <a:bodyPr lIns="91440" tIns="45720" rIns="91440" bIns="45720"/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中心体験</a:t>
            </a:r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このゲームの面白さは？
既存作との差は？</a:t>
            </a:r>
          </a:p>
        </p:txBody>
      </p:sp>
      <p:sp>
        <p:nvSpPr>
          <p:cNvPr id="5" name="Content-Placeholder-9-6">
            <a:extLst>
              <a:ext uri="{FF2B5EF4-FFF2-40B4-BE49-F238E27FC236}">
                <a16:creationId xmlns:a16="http://schemas.microsoft.com/office/drawing/2014/main" id="{78263B72-94BE-485B-8FCF-FC0E949991E5}"/>
              </a:ext>
            </a:extLst>
          </p:cNvPr>
          <p:cNvSpPr>
            <a:spLocks noGrp="1"/>
          </p:cNvSpPr>
          <p:nvPr/>
        </p:nvSpPr>
        <p:spPr>
          <a:xfrm>
            <a:off x="393668" y="4016978"/>
            <a:ext cx="5537168" cy="1643158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ルール設計</a:t>
            </a:r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なぜ重量と上昇負荷？
死亡損失は重すぎない？</a:t>
            </a:r>
          </a:p>
        </p:txBody>
      </p:sp>
      <p:sp>
        <p:nvSpPr>
          <p:cNvPr id="6" name="Content-Placeholder-10-7">
            <a:extLst>
              <a:ext uri="{FF2B5EF4-FFF2-40B4-BE49-F238E27FC236}">
                <a16:creationId xmlns:a16="http://schemas.microsoft.com/office/drawing/2014/main" id="{72FFF49B-3C8F-4566-B216-DCEA6B6A1CEB}"/>
              </a:ext>
            </a:extLst>
          </p:cNvPr>
          <p:cNvSpPr>
            <a:spLocks noGrp="1"/>
          </p:cNvSpPr>
          <p:nvPr/>
        </p:nvSpPr>
        <p:spPr>
          <a:xfrm>
            <a:off x="6256592" y="4016978"/>
            <a:ext cx="5537168" cy="1643158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検証</a:t>
            </a:r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面白さを何で判断する？
プレイテスト結果は？</a:t>
            </a:r>
          </a:p>
        </p:txBody>
      </p:sp>
    </p:spTree>
    <p:extLst>
      <p:ext uri="{BB962C8B-B14F-4D97-AF65-F5344CB8AC3E}">
        <p14:creationId xmlns:p14="http://schemas.microsoft.com/office/powerpoint/2010/main" val="18956091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-Number-Placeholder-1-2">
            <a:extLst>
              <a:ext uri="{FF2B5EF4-FFF2-40B4-BE49-F238E27FC236}">
                <a16:creationId xmlns:a16="http://schemas.microsoft.com/office/drawing/2014/main" id="{9D2FCB8F-74A2-43D6-AA29-8F5159B084BB}"/>
              </a:ext>
            </a:extLst>
          </p:cNvPr>
          <p:cNvSpPr>
            <a:spLocks noGrp="1"/>
          </p:cNvSpPr>
          <p:nvPr/>
        </p:nvSpPr>
        <p:spPr>
          <a:xfrm>
            <a:off x="11279219" y="6278594"/>
            <a:ext cx="519113" cy="241268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21</a:t>
            </a:r>
          </a:p>
        </p:txBody>
      </p:sp>
      <p:sp>
        <p:nvSpPr>
          <p:cNvPr id="2" name="Title-2-3">
            <a:extLst>
              <a:ext uri="{FF2B5EF4-FFF2-40B4-BE49-F238E27FC236}">
                <a16:creationId xmlns:a16="http://schemas.microsoft.com/office/drawing/2014/main" id="{202B3DF4-39A6-4ABB-86C8-55F89686E7C4}"/>
              </a:ext>
            </a:extLst>
          </p:cNvPr>
          <p:cNvSpPr>
            <a:spLocks noGrp="1"/>
          </p:cNvSpPr>
          <p:nvPr/>
        </p:nvSpPr>
        <p:spPr>
          <a:xfrm>
            <a:off x="393668" y="344043"/>
            <a:ext cx="11404568" cy="104746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想定質問｜自動生成・データ設計</a:t>
            </a:r>
          </a:p>
        </p:txBody>
      </p:sp>
      <p:sp>
        <p:nvSpPr>
          <p:cNvPr id="3" name="Content-Placeholder-9-4">
            <a:extLst>
              <a:ext uri="{FF2B5EF4-FFF2-40B4-BE49-F238E27FC236}">
                <a16:creationId xmlns:a16="http://schemas.microsoft.com/office/drawing/2014/main" id="{84A2464F-CB62-4997-AF1A-1D60329A9683}"/>
              </a:ext>
            </a:extLst>
          </p:cNvPr>
          <p:cNvSpPr>
            <a:spLocks noGrp="1"/>
          </p:cNvSpPr>
          <p:nvPr/>
        </p:nvSpPr>
        <p:spPr>
          <a:xfrm>
            <a:off x="393668" y="2031968"/>
            <a:ext cx="5537168" cy="1643063"/>
          </a:xfrm>
          <a:prstGeom prst="rect">
            <a:avLst/>
          </a:prstGeom>
        </p:spPr>
        <p:txBody>
          <a:bodyPr lIns="91440" tIns="45720" rIns="91440" bIns="45720"/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生成方式</a:t>
            </a:r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なぜ完全ランダムでない？
なぜ16×16ピース？</a:t>
            </a:r>
          </a:p>
        </p:txBody>
      </p:sp>
      <p:sp>
        <p:nvSpPr>
          <p:cNvPr id="4" name="Content-Placeholder-10-5">
            <a:extLst>
              <a:ext uri="{FF2B5EF4-FFF2-40B4-BE49-F238E27FC236}">
                <a16:creationId xmlns:a16="http://schemas.microsoft.com/office/drawing/2014/main" id="{3E600964-351E-493D-825C-C5DFCFCA944C}"/>
              </a:ext>
            </a:extLst>
          </p:cNvPr>
          <p:cNvSpPr>
            <a:spLocks noGrp="1"/>
          </p:cNvSpPr>
          <p:nvPr/>
        </p:nvSpPr>
        <p:spPr>
          <a:xfrm>
            <a:off x="6256592" y="2031968"/>
            <a:ext cx="5537168" cy="1643063"/>
          </a:xfrm>
          <a:prstGeom prst="rect">
            <a:avLst/>
          </a:prstGeom>
        </p:spPr>
        <p:txBody>
          <a:bodyPr lIns="91440" tIns="45720" rIns="91440" bIns="45720"/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成立保証</a:t>
            </a:r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必ず通れるのか？
生成失敗時は？</a:t>
            </a:r>
          </a:p>
        </p:txBody>
      </p:sp>
      <p:sp>
        <p:nvSpPr>
          <p:cNvPr id="5" name="Content-Placeholder-9-6">
            <a:extLst>
              <a:ext uri="{FF2B5EF4-FFF2-40B4-BE49-F238E27FC236}">
                <a16:creationId xmlns:a16="http://schemas.microsoft.com/office/drawing/2014/main" id="{ACBCA820-CAD1-481A-BC2B-F1840566127D}"/>
              </a:ext>
            </a:extLst>
          </p:cNvPr>
          <p:cNvSpPr>
            <a:spLocks noGrp="1"/>
          </p:cNvSpPr>
          <p:nvPr/>
        </p:nvSpPr>
        <p:spPr>
          <a:xfrm>
            <a:off x="393668" y="4016978"/>
            <a:ext cx="5537168" cy="1643158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再現・多様性</a:t>
            </a:r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同じ生成を再現できる？
19ピースで十分？</a:t>
            </a:r>
          </a:p>
        </p:txBody>
      </p:sp>
      <p:sp>
        <p:nvSpPr>
          <p:cNvPr id="6" name="Content-Placeholder-10-7">
            <a:extLst>
              <a:ext uri="{FF2B5EF4-FFF2-40B4-BE49-F238E27FC236}">
                <a16:creationId xmlns:a16="http://schemas.microsoft.com/office/drawing/2014/main" id="{012BAC6C-8575-43CF-AF26-145E2EE4C0D3}"/>
              </a:ext>
            </a:extLst>
          </p:cNvPr>
          <p:cNvSpPr>
            <a:spLocks noGrp="1"/>
          </p:cNvSpPr>
          <p:nvPr/>
        </p:nvSpPr>
        <p:spPr>
          <a:xfrm>
            <a:off x="6256592" y="4016978"/>
            <a:ext cx="5537168" cy="1643158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保存形式</a:t>
            </a:r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version互換は？
壊れたJSONへの対応は？</a:t>
            </a:r>
          </a:p>
        </p:txBody>
      </p:sp>
    </p:spTree>
    <p:extLst>
      <p:ext uri="{BB962C8B-B14F-4D97-AF65-F5344CB8AC3E}">
        <p14:creationId xmlns:p14="http://schemas.microsoft.com/office/powerpoint/2010/main" val="13471099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-Number-Placeholder-1-2">
            <a:extLst>
              <a:ext uri="{FF2B5EF4-FFF2-40B4-BE49-F238E27FC236}">
                <a16:creationId xmlns:a16="http://schemas.microsoft.com/office/drawing/2014/main" id="{1616091C-042E-47AD-B2E7-C165E4A8575F}"/>
              </a:ext>
            </a:extLst>
          </p:cNvPr>
          <p:cNvSpPr>
            <a:spLocks noGrp="1"/>
          </p:cNvSpPr>
          <p:nvPr/>
        </p:nvSpPr>
        <p:spPr>
          <a:xfrm>
            <a:off x="11279219" y="6278594"/>
            <a:ext cx="519113" cy="241268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22</a:t>
            </a:r>
          </a:p>
        </p:txBody>
      </p:sp>
      <p:sp>
        <p:nvSpPr>
          <p:cNvPr id="2" name="Title-2-3">
            <a:extLst>
              <a:ext uri="{FF2B5EF4-FFF2-40B4-BE49-F238E27FC236}">
                <a16:creationId xmlns:a16="http://schemas.microsoft.com/office/drawing/2014/main" id="{E9EDB7EE-D0E6-458A-AB51-EE57A597F238}"/>
              </a:ext>
            </a:extLst>
          </p:cNvPr>
          <p:cNvSpPr>
            <a:spLocks noGrp="1"/>
          </p:cNvSpPr>
          <p:nvPr/>
        </p:nvSpPr>
        <p:spPr>
          <a:xfrm>
            <a:off x="393668" y="344043"/>
            <a:ext cx="11404568" cy="104746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想定質問｜アーキテクチャ・性能</a:t>
            </a:r>
          </a:p>
        </p:txBody>
      </p:sp>
      <p:sp>
        <p:nvSpPr>
          <p:cNvPr id="3" name="Content-Placeholder-9-4">
            <a:extLst>
              <a:ext uri="{FF2B5EF4-FFF2-40B4-BE49-F238E27FC236}">
                <a16:creationId xmlns:a16="http://schemas.microsoft.com/office/drawing/2014/main" id="{277CAE22-0E48-4158-8E95-D23B94E55370}"/>
              </a:ext>
            </a:extLst>
          </p:cNvPr>
          <p:cNvSpPr>
            <a:spLocks noGrp="1"/>
          </p:cNvSpPr>
          <p:nvPr/>
        </p:nvSpPr>
        <p:spPr>
          <a:xfrm>
            <a:off x="393668" y="2031968"/>
            <a:ext cx="5537168" cy="1643063"/>
          </a:xfrm>
          <a:prstGeom prst="rect">
            <a:avLst/>
          </a:prstGeom>
        </p:spPr>
        <p:txBody>
          <a:bodyPr lIns="91440" tIns="45720" rIns="91440" bIns="45720"/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技術選択</a:t>
            </a:r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なぜDirectX 11？
なぜUnityではない？</a:t>
            </a:r>
          </a:p>
        </p:txBody>
      </p:sp>
      <p:sp>
        <p:nvSpPr>
          <p:cNvPr id="4" name="Content-Placeholder-10-5">
            <a:extLst>
              <a:ext uri="{FF2B5EF4-FFF2-40B4-BE49-F238E27FC236}">
                <a16:creationId xmlns:a16="http://schemas.microsoft.com/office/drawing/2014/main" id="{DD59D4BC-8EE4-4D94-B405-0D2EEB958ACA}"/>
              </a:ext>
            </a:extLst>
          </p:cNvPr>
          <p:cNvSpPr>
            <a:spLocks noGrp="1"/>
          </p:cNvSpPr>
          <p:nvPr/>
        </p:nvSpPr>
        <p:spPr>
          <a:xfrm>
            <a:off x="6256592" y="2031968"/>
            <a:ext cx="5537168" cy="1643063"/>
          </a:xfrm>
          <a:prstGeom prst="rect">
            <a:avLst/>
          </a:prstGeom>
        </p:spPr>
        <p:txBody>
          <a:bodyPr lIns="91440" tIns="45720" rIns="91440" bIns="45720"/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責務分割</a:t>
            </a:r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Sceneが大きすぎない？
次にどう分ける？</a:t>
            </a:r>
          </a:p>
        </p:txBody>
      </p:sp>
      <p:sp>
        <p:nvSpPr>
          <p:cNvPr id="5" name="Content-Placeholder-9-6">
            <a:extLst>
              <a:ext uri="{FF2B5EF4-FFF2-40B4-BE49-F238E27FC236}">
                <a16:creationId xmlns:a16="http://schemas.microsoft.com/office/drawing/2014/main" id="{2D0D95DC-DD3E-49C1-9413-19DEC31B2CCB}"/>
              </a:ext>
            </a:extLst>
          </p:cNvPr>
          <p:cNvSpPr>
            <a:spLocks noGrp="1"/>
          </p:cNvSpPr>
          <p:nvPr/>
        </p:nvSpPr>
        <p:spPr>
          <a:xfrm>
            <a:off x="393668" y="4016978"/>
            <a:ext cx="5537168" cy="1643158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データ境界</a:t>
            </a:r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Editorと本編の共有方法は？
なぜ独自JSON parser？</a:t>
            </a:r>
          </a:p>
        </p:txBody>
      </p:sp>
      <p:sp>
        <p:nvSpPr>
          <p:cNvPr id="6" name="Content-Placeholder-10-7">
            <a:extLst>
              <a:ext uri="{FF2B5EF4-FFF2-40B4-BE49-F238E27FC236}">
                <a16:creationId xmlns:a16="http://schemas.microsoft.com/office/drawing/2014/main" id="{315516AE-DF11-4099-BAAB-E978FB14B297}"/>
              </a:ext>
            </a:extLst>
          </p:cNvPr>
          <p:cNvSpPr>
            <a:spLocks noGrp="1"/>
          </p:cNvSpPr>
          <p:nvPr/>
        </p:nvSpPr>
        <p:spPr>
          <a:xfrm>
            <a:off x="6256592" y="4016978"/>
            <a:ext cx="5537168" cy="1643158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性能</a:t>
            </a:r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ボトルネックは？
改善を実測した？</a:t>
            </a:r>
          </a:p>
        </p:txBody>
      </p:sp>
    </p:spTree>
    <p:extLst>
      <p:ext uri="{BB962C8B-B14F-4D97-AF65-F5344CB8AC3E}">
        <p14:creationId xmlns:p14="http://schemas.microsoft.com/office/powerpoint/2010/main" val="9726636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-Number-Placeholder-1-2">
            <a:extLst>
              <a:ext uri="{FF2B5EF4-FFF2-40B4-BE49-F238E27FC236}">
                <a16:creationId xmlns:a16="http://schemas.microsoft.com/office/drawing/2014/main" id="{C328C5B5-9076-45AF-8C27-CD6AE57C1B80}"/>
              </a:ext>
            </a:extLst>
          </p:cNvPr>
          <p:cNvSpPr>
            <a:spLocks noGrp="1"/>
          </p:cNvSpPr>
          <p:nvPr/>
        </p:nvSpPr>
        <p:spPr>
          <a:xfrm>
            <a:off x="11279219" y="6278594"/>
            <a:ext cx="519113" cy="241268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23</a:t>
            </a:r>
          </a:p>
        </p:txBody>
      </p:sp>
      <p:sp>
        <p:nvSpPr>
          <p:cNvPr id="2" name="Title-2-3">
            <a:extLst>
              <a:ext uri="{FF2B5EF4-FFF2-40B4-BE49-F238E27FC236}">
                <a16:creationId xmlns:a16="http://schemas.microsoft.com/office/drawing/2014/main" id="{0BC66950-9906-406C-B1DC-C4D238CFB23B}"/>
              </a:ext>
            </a:extLst>
          </p:cNvPr>
          <p:cNvSpPr>
            <a:spLocks noGrp="1"/>
          </p:cNvSpPr>
          <p:nvPr/>
        </p:nvSpPr>
        <p:spPr>
          <a:xfrm>
            <a:off x="393668" y="344043"/>
            <a:ext cx="11404568" cy="104746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想定質問｜品質・ビルド・配布</a:t>
            </a:r>
          </a:p>
        </p:txBody>
      </p:sp>
      <p:sp>
        <p:nvSpPr>
          <p:cNvPr id="3" name="Content-Placeholder-9-4">
            <a:extLst>
              <a:ext uri="{FF2B5EF4-FFF2-40B4-BE49-F238E27FC236}">
                <a16:creationId xmlns:a16="http://schemas.microsoft.com/office/drawing/2014/main" id="{0608B4CB-545C-48E9-9FC5-C17593707245}"/>
              </a:ext>
            </a:extLst>
          </p:cNvPr>
          <p:cNvSpPr>
            <a:spLocks noGrp="1"/>
          </p:cNvSpPr>
          <p:nvPr/>
        </p:nvSpPr>
        <p:spPr>
          <a:xfrm>
            <a:off x="393668" y="2031968"/>
            <a:ext cx="5537168" cy="1643063"/>
          </a:xfrm>
          <a:prstGeom prst="rect">
            <a:avLst/>
          </a:prstGeom>
        </p:spPr>
        <p:txBody>
          <a:bodyPr lIns="91440" tIns="45720" rIns="91440" bIns="45720"/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品質保証</a:t>
            </a:r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どんなテストがある？
CIはある？</a:t>
            </a:r>
          </a:p>
        </p:txBody>
      </p:sp>
      <p:sp>
        <p:nvSpPr>
          <p:cNvPr id="4" name="Content-Placeholder-10-5">
            <a:extLst>
              <a:ext uri="{FF2B5EF4-FFF2-40B4-BE49-F238E27FC236}">
                <a16:creationId xmlns:a16="http://schemas.microsoft.com/office/drawing/2014/main" id="{130B681D-1B0A-4A1F-AB1F-6933335C4ACC}"/>
              </a:ext>
            </a:extLst>
          </p:cNvPr>
          <p:cNvSpPr>
            <a:spLocks noGrp="1"/>
          </p:cNvSpPr>
          <p:nvPr/>
        </p:nvSpPr>
        <p:spPr>
          <a:xfrm>
            <a:off x="6256592" y="2031968"/>
            <a:ext cx="5537168" cy="1643063"/>
          </a:xfrm>
          <a:prstGeom prst="rect">
            <a:avLst/>
          </a:prstGeom>
        </p:spPr>
        <p:txBody>
          <a:bodyPr lIns="91440" tIns="45720" rIns="91440" bIns="45720"/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ビルド</a:t>
            </a:r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DebugとReleaseは通る？
警告は残っている？</a:t>
            </a:r>
          </a:p>
        </p:txBody>
      </p:sp>
      <p:sp>
        <p:nvSpPr>
          <p:cNvPr id="5" name="Content-Placeholder-9-6">
            <a:extLst>
              <a:ext uri="{FF2B5EF4-FFF2-40B4-BE49-F238E27FC236}">
                <a16:creationId xmlns:a16="http://schemas.microsoft.com/office/drawing/2014/main" id="{A180B38A-0887-42E3-B0EA-96E10513DD1A}"/>
              </a:ext>
            </a:extLst>
          </p:cNvPr>
          <p:cNvSpPr>
            <a:spLocks noGrp="1"/>
          </p:cNvSpPr>
          <p:nvPr/>
        </p:nvSpPr>
        <p:spPr>
          <a:xfrm>
            <a:off x="393668" y="4016978"/>
            <a:ext cx="5537168" cy="1643158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再現性</a:t>
            </a:r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別PCで動く？
絶対パスはなぜ残る？</a:t>
            </a:r>
          </a:p>
        </p:txBody>
      </p:sp>
      <p:sp>
        <p:nvSpPr>
          <p:cNvPr id="6" name="Content-Placeholder-10-7">
            <a:extLst>
              <a:ext uri="{FF2B5EF4-FFF2-40B4-BE49-F238E27FC236}">
                <a16:creationId xmlns:a16="http://schemas.microsoft.com/office/drawing/2014/main" id="{1BCCADBA-468C-482C-BE03-96492756B29C}"/>
              </a:ext>
            </a:extLst>
          </p:cNvPr>
          <p:cNvSpPr>
            <a:spLocks noGrp="1"/>
          </p:cNvSpPr>
          <p:nvPr/>
        </p:nvSpPr>
        <p:spPr>
          <a:xfrm>
            <a:off x="6256592" y="4016978"/>
            <a:ext cx="5537168" cy="1643158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配布・権利</a:t>
            </a:r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exeだけで動く？
素材の権利は説明できる？</a:t>
            </a:r>
          </a:p>
        </p:txBody>
      </p:sp>
    </p:spTree>
    <p:extLst>
      <p:ext uri="{BB962C8B-B14F-4D97-AF65-F5344CB8AC3E}">
        <p14:creationId xmlns:p14="http://schemas.microsoft.com/office/powerpoint/2010/main" val="20527734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-Number-Placeholder-1-2">
            <a:extLst>
              <a:ext uri="{FF2B5EF4-FFF2-40B4-BE49-F238E27FC236}">
                <a16:creationId xmlns:a16="http://schemas.microsoft.com/office/drawing/2014/main" id="{DDE48D69-2F1D-4943-B662-DC9520EB6A01}"/>
              </a:ext>
            </a:extLst>
          </p:cNvPr>
          <p:cNvSpPr>
            <a:spLocks noGrp="1"/>
          </p:cNvSpPr>
          <p:nvPr/>
        </p:nvSpPr>
        <p:spPr>
          <a:xfrm>
            <a:off x="11279219" y="6278594"/>
            <a:ext cx="519113" cy="241268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24</a:t>
            </a:r>
          </a:p>
        </p:txBody>
      </p:sp>
      <p:sp>
        <p:nvSpPr>
          <p:cNvPr id="2" name="Title-2-3">
            <a:extLst>
              <a:ext uri="{FF2B5EF4-FFF2-40B4-BE49-F238E27FC236}">
                <a16:creationId xmlns:a16="http://schemas.microsoft.com/office/drawing/2014/main" id="{6784F7EC-576D-4B88-85E5-F82710CDB971}"/>
              </a:ext>
            </a:extLst>
          </p:cNvPr>
          <p:cNvSpPr>
            <a:spLocks noGrp="1"/>
          </p:cNvSpPr>
          <p:nvPr/>
        </p:nvSpPr>
        <p:spPr>
          <a:xfrm>
            <a:off x="393668" y="344043"/>
            <a:ext cx="11404568" cy="104746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/>
          <a:p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想定質問｜担当範囲・開発プロセス</a:t>
            </a:r>
          </a:p>
        </p:txBody>
      </p:sp>
      <p:sp>
        <p:nvSpPr>
          <p:cNvPr id="3" name="Content-Placeholder-9-4">
            <a:extLst>
              <a:ext uri="{FF2B5EF4-FFF2-40B4-BE49-F238E27FC236}">
                <a16:creationId xmlns:a16="http://schemas.microsoft.com/office/drawing/2014/main" id="{92744B1F-59E3-4C9C-A764-15BC7716623A}"/>
              </a:ext>
            </a:extLst>
          </p:cNvPr>
          <p:cNvSpPr>
            <a:spLocks noGrp="1"/>
          </p:cNvSpPr>
          <p:nvPr/>
        </p:nvSpPr>
        <p:spPr>
          <a:xfrm>
            <a:off x="393668" y="2031968"/>
            <a:ext cx="5537168" cy="1643063"/>
          </a:xfrm>
          <a:prstGeom prst="rect">
            <a:avLst/>
          </a:prstGeom>
        </p:spPr>
        <p:txBody>
          <a:bodyPr lIns="91440" tIns="45720" rIns="91440" bIns="45720"/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担当</a:t>
            </a:r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どこまで自作？
流用基盤は何？</a:t>
            </a:r>
          </a:p>
        </p:txBody>
      </p:sp>
      <p:sp>
        <p:nvSpPr>
          <p:cNvPr id="4" name="Content-Placeholder-10-5">
            <a:extLst>
              <a:ext uri="{FF2B5EF4-FFF2-40B4-BE49-F238E27FC236}">
                <a16:creationId xmlns:a16="http://schemas.microsoft.com/office/drawing/2014/main" id="{35E483B0-0B21-4CE5-AD19-B9D6F4B8BA22}"/>
              </a:ext>
            </a:extLst>
          </p:cNvPr>
          <p:cNvSpPr>
            <a:spLocks noGrp="1"/>
          </p:cNvSpPr>
          <p:nvPr/>
        </p:nvSpPr>
        <p:spPr>
          <a:xfrm>
            <a:off x="6256592" y="2031968"/>
            <a:ext cx="5537168" cy="1643063"/>
          </a:xfrm>
          <a:prstGeom prst="rect">
            <a:avLst/>
          </a:prstGeom>
        </p:spPr>
        <p:txBody>
          <a:bodyPr lIns="91440" tIns="45720" rIns="91440" bIns="45720"/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判断</a:t>
            </a:r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一番難しかった点は？
何を優先した？</a:t>
            </a:r>
          </a:p>
        </p:txBody>
      </p:sp>
      <p:sp>
        <p:nvSpPr>
          <p:cNvPr id="5" name="Content-Placeholder-9-6">
            <a:extLst>
              <a:ext uri="{FF2B5EF4-FFF2-40B4-BE49-F238E27FC236}">
                <a16:creationId xmlns:a16="http://schemas.microsoft.com/office/drawing/2014/main" id="{B3F0878F-1A40-4603-8F3A-00B65D155F22}"/>
              </a:ext>
            </a:extLst>
          </p:cNvPr>
          <p:cNvSpPr>
            <a:spLocks noGrp="1"/>
          </p:cNvSpPr>
          <p:nvPr/>
        </p:nvSpPr>
        <p:spPr>
          <a:xfrm>
            <a:off x="393668" y="4016978"/>
            <a:ext cx="5537168" cy="1643158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反省</a:t>
            </a:r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最大の失敗は？
今なら何を変える？</a:t>
            </a:r>
          </a:p>
        </p:txBody>
      </p:sp>
      <p:sp>
        <p:nvSpPr>
          <p:cNvPr id="6" name="Content-Placeholder-10-7">
            <a:extLst>
              <a:ext uri="{FF2B5EF4-FFF2-40B4-BE49-F238E27FC236}">
                <a16:creationId xmlns:a16="http://schemas.microsoft.com/office/drawing/2014/main" id="{BF611775-AD11-4439-96D7-29809C72BA0F}"/>
              </a:ext>
            </a:extLst>
          </p:cNvPr>
          <p:cNvSpPr>
            <a:spLocks noGrp="1"/>
          </p:cNvSpPr>
          <p:nvPr/>
        </p:nvSpPr>
        <p:spPr>
          <a:xfrm>
            <a:off x="6256592" y="4016978"/>
            <a:ext cx="5537168" cy="1643158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成長</a:t>
            </a:r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チームならどう進める？
AI・支援ツールの使い方は？</a:t>
            </a:r>
          </a:p>
        </p:txBody>
      </p:sp>
    </p:spTree>
    <p:extLst>
      <p:ext uri="{BB962C8B-B14F-4D97-AF65-F5344CB8AC3E}">
        <p14:creationId xmlns:p14="http://schemas.microsoft.com/office/powerpoint/2010/main" val="111375590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-3-1">
            <a:extLst>
              <a:ext uri="{FF2B5EF4-FFF2-40B4-BE49-F238E27FC236}">
                <a16:creationId xmlns:a16="http://schemas.microsoft.com/office/drawing/2014/main" id="{13E51F5F-889E-4435-890A-0F132BFA11EA}"/>
              </a:ext>
            </a:extLst>
          </p:cNvPr>
          <p:cNvSpPr>
            <a:spLocks noGrp="1"/>
          </p:cNvSpPr>
          <p:nvPr/>
        </p:nvSpPr>
        <p:spPr>
          <a:xfrm>
            <a:off x="393668" y="1738789"/>
            <a:ext cx="9448800" cy="2491454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/>
          <a:p>
            <a:pPr algn="l"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示せるのは、
作る力だけではない</a:t>
            </a:r>
          </a:p>
        </p:txBody>
      </p:sp>
      <p:sp>
        <p:nvSpPr>
          <p:cNvPr id="2" name="Subtitle-4-2">
            <a:extLst>
              <a:ext uri="{FF2B5EF4-FFF2-40B4-BE49-F238E27FC236}">
                <a16:creationId xmlns:a16="http://schemas.microsoft.com/office/drawing/2014/main" id="{E1EDA698-32BF-4039-879F-47043C9DF34F}"/>
              </a:ext>
            </a:extLst>
          </p:cNvPr>
          <p:cNvSpPr>
            <a:spLocks noGrp="1"/>
          </p:cNvSpPr>
          <p:nvPr/>
        </p:nvSpPr>
        <p:spPr>
          <a:xfrm>
            <a:off x="393668" y="4973288"/>
            <a:ext cx="3568732" cy="108023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企画を構造へ</a:t>
            </a:r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構造をツールへ</a:t>
            </a:r>
          </a:p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ツールを検証へ</a:t>
            </a:r>
          </a:p>
        </p:txBody>
      </p:sp>
      <p:sp>
        <p:nvSpPr>
          <p:cNvPr id="3" name="Subtitle-4-3">
            <a:extLst>
              <a:ext uri="{FF2B5EF4-FFF2-40B4-BE49-F238E27FC236}">
                <a16:creationId xmlns:a16="http://schemas.microsoft.com/office/drawing/2014/main" id="{84A6B600-CFF0-48D0-A403-A48AD7E56C2E}"/>
              </a:ext>
            </a:extLst>
          </p:cNvPr>
          <p:cNvSpPr>
            <a:spLocks noGrp="1"/>
          </p:cNvSpPr>
          <p:nvPr/>
        </p:nvSpPr>
        <p:spPr>
          <a:xfrm>
            <a:off x="393668" y="392240"/>
            <a:ext cx="1612868" cy="649129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NARAKU</a:t>
            </a:r>
          </a:p>
        </p:txBody>
      </p:sp>
    </p:spTree>
    <p:extLst>
      <p:ext uri="{BB962C8B-B14F-4D97-AF65-F5344CB8AC3E}">
        <p14:creationId xmlns:p14="http://schemas.microsoft.com/office/powerpoint/2010/main" val="36030140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2814</Words>
  <Application>Microsoft Office PowerPoint</Application>
  <DocSecurity>0</DocSecurity>
  <PresentationFormat>ワイド画面</PresentationFormat>
  <Paragraphs>493</Paragraphs>
  <Slides>25</Slides>
  <Notes>25</Notes>
  <HiddenSlides>6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25</vt:i4>
      </vt:variant>
    </vt:vector>
  </HeadingPairs>
  <TitlesOfParts>
    <vt:vector size="27" baseType="lpstr">
      <vt:lpstr>Calibri</vt:lpstr>
      <vt:lpstr>ChatGPT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NHAT13A19239 山本郁也</cp:lastModifiedBy>
  <cp:revision>1</cp:revision>
  <dcterms:created xsi:type="dcterms:W3CDTF">2026-07-29T10:18:13Z</dcterms:created>
  <dcterms:modified xsi:type="dcterms:W3CDTF">2026-07-29T19:06:26Z</dcterms:modified>
</cp:coreProperties>
</file>